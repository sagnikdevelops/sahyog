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AF2"/>
    <a:srgbClr val="F9FAF7"/>
    <a:srgbClr val="142D52"/>
    <a:srgbClr val="9BE9CD"/>
    <a:srgbClr val="1F2937"/>
    <a:srgbClr val="047857"/>
    <a:srgbClr val="34D399"/>
    <a:srgbClr val="C2D5F0"/>
    <a:srgbClr val="6B98DB"/>
    <a:srgbClr val="DD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 snapToObjects="1">
      <p:cViewPr varScale="1">
        <p:scale>
          <a:sx n="48" d="100"/>
          <a:sy n="48" d="100"/>
        </p:scale>
        <p:origin x="67" y="7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B31A03-C6FC-4EE5-B1AB-A417CF301CD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887E0D-4A9A-4C9F-9491-AFD295B7F7B5}">
      <dgm:prSet custT="1"/>
      <dgm:spPr>
        <a:solidFill>
          <a:srgbClr val="142D52"/>
        </a:solidFill>
      </dgm:spPr>
      <dgm:t>
        <a:bodyPr/>
        <a:lstStyle/>
        <a:p>
          <a:r>
            <a:rPr lang="en-US" sz="1400" dirty="0"/>
            <a:t>Service Discovery (Trade &amp; Urgency selection) </a:t>
          </a:r>
        </a:p>
      </dgm:t>
    </dgm:pt>
    <dgm:pt modelId="{4B087585-74BE-41B7-B50C-788BD495E90F}" type="parTrans" cxnId="{49339652-40D5-4587-A73B-702E6B0BC2F5}">
      <dgm:prSet/>
      <dgm:spPr/>
      <dgm:t>
        <a:bodyPr/>
        <a:lstStyle/>
        <a:p>
          <a:endParaRPr lang="en-US" sz="1400"/>
        </a:p>
      </dgm:t>
    </dgm:pt>
    <dgm:pt modelId="{7A15F9EB-6884-41A4-B4DF-EADC8BBDB6BF}" type="sibTrans" cxnId="{49339652-40D5-4587-A73B-702E6B0BC2F5}">
      <dgm:prSet custT="1"/>
      <dgm:spPr/>
      <dgm:t>
        <a:bodyPr/>
        <a:lstStyle/>
        <a:p>
          <a:endParaRPr lang="en-US" sz="1400"/>
        </a:p>
      </dgm:t>
    </dgm:pt>
    <dgm:pt modelId="{0AED7062-9B6C-41F2-8630-87EAAB675167}">
      <dgm:prSet custT="1"/>
      <dgm:spPr>
        <a:solidFill>
          <a:srgbClr val="142D52"/>
        </a:solidFill>
      </dgm:spPr>
      <dgm:t>
        <a:bodyPr/>
        <a:lstStyle/>
        <a:p>
          <a:r>
            <a:rPr lang="en-US" sz="1400" dirty="0" err="1"/>
            <a:t>PostGIS</a:t>
          </a:r>
          <a:r>
            <a:rPr lang="en-US" sz="1400" dirty="0"/>
            <a:t> Geo-Match (Top 3 workers alerted) </a:t>
          </a:r>
        </a:p>
      </dgm:t>
    </dgm:pt>
    <dgm:pt modelId="{3AEA34C9-DB7E-4A8E-B0B0-144B659C8D24}" type="parTrans" cxnId="{B3BA1167-6D58-4F5C-9AEB-A589CCD7A60C}">
      <dgm:prSet/>
      <dgm:spPr/>
      <dgm:t>
        <a:bodyPr/>
        <a:lstStyle/>
        <a:p>
          <a:endParaRPr lang="en-US" sz="1400"/>
        </a:p>
      </dgm:t>
    </dgm:pt>
    <dgm:pt modelId="{0FA93F06-65D5-4292-BB0A-23DB4FAB5BC3}" type="sibTrans" cxnId="{B3BA1167-6D58-4F5C-9AEB-A589CCD7A60C}">
      <dgm:prSet custT="1"/>
      <dgm:spPr/>
      <dgm:t>
        <a:bodyPr/>
        <a:lstStyle/>
        <a:p>
          <a:endParaRPr lang="en-US" sz="1400"/>
        </a:p>
      </dgm:t>
    </dgm:pt>
    <dgm:pt modelId="{94562773-F942-4875-B7BF-EC56D689FE80}">
      <dgm:prSet custT="1"/>
      <dgm:spPr>
        <a:solidFill>
          <a:srgbClr val="142D52"/>
        </a:solidFill>
      </dgm:spPr>
      <dgm:t>
        <a:bodyPr/>
        <a:lstStyle/>
        <a:p>
          <a:r>
            <a:rPr lang="en-US" sz="1400"/>
            <a:t>Worker Accept (Live ETA &amp; profile shared) </a:t>
          </a:r>
        </a:p>
      </dgm:t>
    </dgm:pt>
    <dgm:pt modelId="{8F703C5B-1EDE-451E-B05B-37CB4A2B0347}" type="parTrans" cxnId="{313EAE88-B7E7-49BD-A09B-42B386D78DB0}">
      <dgm:prSet/>
      <dgm:spPr/>
      <dgm:t>
        <a:bodyPr/>
        <a:lstStyle/>
        <a:p>
          <a:endParaRPr lang="en-US" sz="1400"/>
        </a:p>
      </dgm:t>
    </dgm:pt>
    <dgm:pt modelId="{FD3A2FAB-913B-4B8F-9117-2A1441E69ECA}" type="sibTrans" cxnId="{313EAE88-B7E7-49BD-A09B-42B386D78DB0}">
      <dgm:prSet custT="1"/>
      <dgm:spPr/>
      <dgm:t>
        <a:bodyPr/>
        <a:lstStyle/>
        <a:p>
          <a:endParaRPr lang="en-US" sz="1400"/>
        </a:p>
      </dgm:t>
    </dgm:pt>
    <dgm:pt modelId="{7A2692A0-C1AD-4286-B238-C3A1EF5B7B44}">
      <dgm:prSet custT="1"/>
      <dgm:spPr>
        <a:solidFill>
          <a:srgbClr val="142D52"/>
        </a:solidFill>
      </dgm:spPr>
      <dgm:t>
        <a:bodyPr/>
        <a:lstStyle/>
        <a:p>
          <a:r>
            <a:rPr lang="en-US" sz="1400"/>
            <a:t>OTP Job Start (Secure site verification)</a:t>
          </a:r>
        </a:p>
      </dgm:t>
    </dgm:pt>
    <dgm:pt modelId="{B499CC80-E138-4308-B24C-18A9197BE9A5}" type="parTrans" cxnId="{E647845A-DA27-48F7-A866-89DF81D9C7B1}">
      <dgm:prSet/>
      <dgm:spPr/>
      <dgm:t>
        <a:bodyPr/>
        <a:lstStyle/>
        <a:p>
          <a:endParaRPr lang="en-US" sz="1400"/>
        </a:p>
      </dgm:t>
    </dgm:pt>
    <dgm:pt modelId="{EB06D09B-2A83-4055-983B-AEF4D90883CF}" type="sibTrans" cxnId="{E647845A-DA27-48F7-A866-89DF81D9C7B1}">
      <dgm:prSet custT="1"/>
      <dgm:spPr/>
      <dgm:t>
        <a:bodyPr/>
        <a:lstStyle/>
        <a:p>
          <a:endParaRPr lang="en-US" sz="1400"/>
        </a:p>
      </dgm:t>
    </dgm:pt>
    <dgm:pt modelId="{ECD47029-A88A-4350-843D-F2E7F13B6CAB}">
      <dgm:prSet custT="1"/>
      <dgm:spPr>
        <a:solidFill>
          <a:srgbClr val="142D52"/>
        </a:solidFill>
      </dgm:spPr>
      <dgm:t>
        <a:bodyPr/>
        <a:lstStyle/>
        <a:p>
          <a:r>
            <a:rPr lang="en-US" sz="1400"/>
            <a:t>Proof-of-Work Upload (Geo-tagged photo) </a:t>
          </a:r>
        </a:p>
      </dgm:t>
    </dgm:pt>
    <dgm:pt modelId="{74F856BA-D881-4ECE-BCE0-EFC836B271FB}" type="parTrans" cxnId="{09FED9E4-5AF2-47C2-8484-415CDFCC771E}">
      <dgm:prSet/>
      <dgm:spPr/>
      <dgm:t>
        <a:bodyPr/>
        <a:lstStyle/>
        <a:p>
          <a:endParaRPr lang="en-US" sz="1400"/>
        </a:p>
      </dgm:t>
    </dgm:pt>
    <dgm:pt modelId="{BB073C12-D7F7-4104-A6E5-0586A4F4B10D}" type="sibTrans" cxnId="{09FED9E4-5AF2-47C2-8484-415CDFCC771E}">
      <dgm:prSet custT="1"/>
      <dgm:spPr/>
      <dgm:t>
        <a:bodyPr/>
        <a:lstStyle/>
        <a:p>
          <a:endParaRPr lang="en-US" sz="1400"/>
        </a:p>
      </dgm:t>
    </dgm:pt>
    <dgm:pt modelId="{1FB8369E-B7E1-4E58-9E36-DCD96448A8DB}">
      <dgm:prSet custT="1"/>
      <dgm:spPr>
        <a:solidFill>
          <a:srgbClr val="142D52"/>
        </a:solidFill>
      </dgm:spPr>
      <dgm:t>
        <a:bodyPr/>
        <a:lstStyle/>
        <a:p>
          <a:r>
            <a:rPr lang="en-US" sz="1400"/>
            <a:t>Digital Invoice &amp; 88/7/5 Automated Escrow Split.</a:t>
          </a:r>
        </a:p>
      </dgm:t>
    </dgm:pt>
    <dgm:pt modelId="{A4A876B0-957B-4E35-BD00-D3DA4D30AA29}" type="parTrans" cxnId="{ACAEED1F-BA14-44D0-BC31-3328988BC96B}">
      <dgm:prSet/>
      <dgm:spPr/>
      <dgm:t>
        <a:bodyPr/>
        <a:lstStyle/>
        <a:p>
          <a:endParaRPr lang="en-US" sz="1400"/>
        </a:p>
      </dgm:t>
    </dgm:pt>
    <dgm:pt modelId="{0E051D5D-289A-46BA-A6CB-622F7C6DDCA1}" type="sibTrans" cxnId="{ACAEED1F-BA14-44D0-BC31-3328988BC96B}">
      <dgm:prSet/>
      <dgm:spPr/>
      <dgm:t>
        <a:bodyPr/>
        <a:lstStyle/>
        <a:p>
          <a:endParaRPr lang="en-US" sz="1400"/>
        </a:p>
      </dgm:t>
    </dgm:pt>
    <dgm:pt modelId="{C73C99F7-4382-48A7-91D4-2B00FD0BE14A}" type="pres">
      <dgm:prSet presAssocID="{D0B31A03-C6FC-4EE5-B1AB-A417CF301CDB}" presName="linearFlow" presStyleCnt="0">
        <dgm:presLayoutVars>
          <dgm:resizeHandles val="exact"/>
        </dgm:presLayoutVars>
      </dgm:prSet>
      <dgm:spPr/>
    </dgm:pt>
    <dgm:pt modelId="{812FD870-AB5B-4C87-9458-5B2E20083A2A}" type="pres">
      <dgm:prSet presAssocID="{FC887E0D-4A9A-4C9F-9491-AFD295B7F7B5}" presName="node" presStyleLbl="node1" presStyleIdx="0" presStyleCnt="6" custScaleX="218916">
        <dgm:presLayoutVars>
          <dgm:bulletEnabled val="1"/>
        </dgm:presLayoutVars>
      </dgm:prSet>
      <dgm:spPr/>
    </dgm:pt>
    <dgm:pt modelId="{02BE3206-EF59-4950-891C-DA610F2025F5}" type="pres">
      <dgm:prSet presAssocID="{7A15F9EB-6884-41A4-B4DF-EADC8BBDB6BF}" presName="sibTrans" presStyleLbl="sibTrans2D1" presStyleIdx="0" presStyleCnt="5" custScaleX="218915"/>
      <dgm:spPr/>
    </dgm:pt>
    <dgm:pt modelId="{6D7B2FAE-FAEC-4760-83ED-E4ABC69E40B6}" type="pres">
      <dgm:prSet presAssocID="{7A15F9EB-6884-41A4-B4DF-EADC8BBDB6BF}" presName="connectorText" presStyleLbl="sibTrans2D1" presStyleIdx="0" presStyleCnt="5"/>
      <dgm:spPr/>
    </dgm:pt>
    <dgm:pt modelId="{8029AF74-1F14-47E9-A9C9-EFF9CDCB08D6}" type="pres">
      <dgm:prSet presAssocID="{0AED7062-9B6C-41F2-8630-87EAAB675167}" presName="node" presStyleLbl="node1" presStyleIdx="1" presStyleCnt="6" custScaleX="218916">
        <dgm:presLayoutVars>
          <dgm:bulletEnabled val="1"/>
        </dgm:presLayoutVars>
      </dgm:prSet>
      <dgm:spPr/>
    </dgm:pt>
    <dgm:pt modelId="{4DA0E52F-DA33-4ECB-AD43-3F3E92D21219}" type="pres">
      <dgm:prSet presAssocID="{0FA93F06-65D5-4292-BB0A-23DB4FAB5BC3}" presName="sibTrans" presStyleLbl="sibTrans2D1" presStyleIdx="1" presStyleCnt="5" custScaleX="218915"/>
      <dgm:spPr/>
    </dgm:pt>
    <dgm:pt modelId="{0A28B822-0A50-4615-B509-4270EDC3D5C6}" type="pres">
      <dgm:prSet presAssocID="{0FA93F06-65D5-4292-BB0A-23DB4FAB5BC3}" presName="connectorText" presStyleLbl="sibTrans2D1" presStyleIdx="1" presStyleCnt="5"/>
      <dgm:spPr/>
    </dgm:pt>
    <dgm:pt modelId="{E50AD2D2-D332-49D5-9745-117B7DAA965E}" type="pres">
      <dgm:prSet presAssocID="{94562773-F942-4875-B7BF-EC56D689FE80}" presName="node" presStyleLbl="node1" presStyleIdx="2" presStyleCnt="6" custScaleX="218916">
        <dgm:presLayoutVars>
          <dgm:bulletEnabled val="1"/>
        </dgm:presLayoutVars>
      </dgm:prSet>
      <dgm:spPr/>
    </dgm:pt>
    <dgm:pt modelId="{2E4EE94B-BB93-4F7B-9AAE-6FE937226E0C}" type="pres">
      <dgm:prSet presAssocID="{FD3A2FAB-913B-4B8F-9117-2A1441E69ECA}" presName="sibTrans" presStyleLbl="sibTrans2D1" presStyleIdx="2" presStyleCnt="5" custScaleX="218915"/>
      <dgm:spPr/>
    </dgm:pt>
    <dgm:pt modelId="{B40F7A10-5F66-4F17-A04B-6365FA253DE2}" type="pres">
      <dgm:prSet presAssocID="{FD3A2FAB-913B-4B8F-9117-2A1441E69ECA}" presName="connectorText" presStyleLbl="sibTrans2D1" presStyleIdx="2" presStyleCnt="5"/>
      <dgm:spPr/>
    </dgm:pt>
    <dgm:pt modelId="{D72375CA-0F87-40A1-9D81-063594F98AE1}" type="pres">
      <dgm:prSet presAssocID="{7A2692A0-C1AD-4286-B238-C3A1EF5B7B44}" presName="node" presStyleLbl="node1" presStyleIdx="3" presStyleCnt="6" custScaleX="218916">
        <dgm:presLayoutVars>
          <dgm:bulletEnabled val="1"/>
        </dgm:presLayoutVars>
      </dgm:prSet>
      <dgm:spPr/>
    </dgm:pt>
    <dgm:pt modelId="{87586055-3BB8-4D80-9D67-A2577861B702}" type="pres">
      <dgm:prSet presAssocID="{EB06D09B-2A83-4055-983B-AEF4D90883CF}" presName="sibTrans" presStyleLbl="sibTrans2D1" presStyleIdx="3" presStyleCnt="5" custScaleX="218915"/>
      <dgm:spPr/>
    </dgm:pt>
    <dgm:pt modelId="{311346F5-1DE0-4C81-9D16-85FE9BD2D21D}" type="pres">
      <dgm:prSet presAssocID="{EB06D09B-2A83-4055-983B-AEF4D90883CF}" presName="connectorText" presStyleLbl="sibTrans2D1" presStyleIdx="3" presStyleCnt="5"/>
      <dgm:spPr/>
    </dgm:pt>
    <dgm:pt modelId="{BD29B3A9-6B62-401A-B554-EA9688B408C0}" type="pres">
      <dgm:prSet presAssocID="{ECD47029-A88A-4350-843D-F2E7F13B6CAB}" presName="node" presStyleLbl="node1" presStyleIdx="4" presStyleCnt="6" custScaleX="218916">
        <dgm:presLayoutVars>
          <dgm:bulletEnabled val="1"/>
        </dgm:presLayoutVars>
      </dgm:prSet>
      <dgm:spPr/>
    </dgm:pt>
    <dgm:pt modelId="{7A885124-BF9C-4BE2-8FF0-D63D81975283}" type="pres">
      <dgm:prSet presAssocID="{BB073C12-D7F7-4104-A6E5-0586A4F4B10D}" presName="sibTrans" presStyleLbl="sibTrans2D1" presStyleIdx="4" presStyleCnt="5" custScaleX="218915"/>
      <dgm:spPr/>
    </dgm:pt>
    <dgm:pt modelId="{C5896870-A003-4150-8695-4C1B71116FBA}" type="pres">
      <dgm:prSet presAssocID="{BB073C12-D7F7-4104-A6E5-0586A4F4B10D}" presName="connectorText" presStyleLbl="sibTrans2D1" presStyleIdx="4" presStyleCnt="5"/>
      <dgm:spPr/>
    </dgm:pt>
    <dgm:pt modelId="{E3F0CA55-B08A-4E8F-8BD7-4DFBD1DBF0BC}" type="pres">
      <dgm:prSet presAssocID="{1FB8369E-B7E1-4E58-9E36-DCD96448A8DB}" presName="node" presStyleLbl="node1" presStyleIdx="5" presStyleCnt="6" custScaleX="218916">
        <dgm:presLayoutVars>
          <dgm:bulletEnabled val="1"/>
        </dgm:presLayoutVars>
      </dgm:prSet>
      <dgm:spPr/>
    </dgm:pt>
  </dgm:ptLst>
  <dgm:cxnLst>
    <dgm:cxn modelId="{3D9A4C05-F3B4-46F5-9733-EDDE1A661670}" type="presOf" srcId="{0AED7062-9B6C-41F2-8630-87EAAB675167}" destId="{8029AF74-1F14-47E9-A9C9-EFF9CDCB08D6}" srcOrd="0" destOrd="0" presId="urn:microsoft.com/office/officeart/2005/8/layout/process2"/>
    <dgm:cxn modelId="{FC1D470A-65F5-4357-A4A0-0B23C4CE1FB9}" type="presOf" srcId="{0FA93F06-65D5-4292-BB0A-23DB4FAB5BC3}" destId="{4DA0E52F-DA33-4ECB-AD43-3F3E92D21219}" srcOrd="0" destOrd="0" presId="urn:microsoft.com/office/officeart/2005/8/layout/process2"/>
    <dgm:cxn modelId="{D792DC0A-08FC-45F0-A143-96BCA51C3F76}" type="presOf" srcId="{BB073C12-D7F7-4104-A6E5-0586A4F4B10D}" destId="{C5896870-A003-4150-8695-4C1B71116FBA}" srcOrd="1" destOrd="0" presId="urn:microsoft.com/office/officeart/2005/8/layout/process2"/>
    <dgm:cxn modelId="{2F4D050F-B869-4627-853B-A5EAB507D54D}" type="presOf" srcId="{7A15F9EB-6884-41A4-B4DF-EADC8BBDB6BF}" destId="{02BE3206-EF59-4950-891C-DA610F2025F5}" srcOrd="0" destOrd="0" presId="urn:microsoft.com/office/officeart/2005/8/layout/process2"/>
    <dgm:cxn modelId="{ACAEED1F-BA14-44D0-BC31-3328988BC96B}" srcId="{D0B31A03-C6FC-4EE5-B1AB-A417CF301CDB}" destId="{1FB8369E-B7E1-4E58-9E36-DCD96448A8DB}" srcOrd="5" destOrd="0" parTransId="{A4A876B0-957B-4E35-BD00-D3DA4D30AA29}" sibTransId="{0E051D5D-289A-46BA-A6CB-622F7C6DDCA1}"/>
    <dgm:cxn modelId="{EFED6B2B-8120-45BB-8852-30BF7FA646D0}" type="presOf" srcId="{EB06D09B-2A83-4055-983B-AEF4D90883CF}" destId="{311346F5-1DE0-4C81-9D16-85FE9BD2D21D}" srcOrd="1" destOrd="0" presId="urn:microsoft.com/office/officeart/2005/8/layout/process2"/>
    <dgm:cxn modelId="{F2FB085B-3CDF-40C3-8200-455E7F74383A}" type="presOf" srcId="{FD3A2FAB-913B-4B8F-9117-2A1441E69ECA}" destId="{2E4EE94B-BB93-4F7B-9AAE-6FE937226E0C}" srcOrd="0" destOrd="0" presId="urn:microsoft.com/office/officeart/2005/8/layout/process2"/>
    <dgm:cxn modelId="{B3BA1167-6D58-4F5C-9AEB-A589CCD7A60C}" srcId="{D0B31A03-C6FC-4EE5-B1AB-A417CF301CDB}" destId="{0AED7062-9B6C-41F2-8630-87EAAB675167}" srcOrd="1" destOrd="0" parTransId="{3AEA34C9-DB7E-4A8E-B0B0-144B659C8D24}" sibTransId="{0FA93F06-65D5-4292-BB0A-23DB4FAB5BC3}"/>
    <dgm:cxn modelId="{0545A348-066F-4F97-9AF7-B69E272B94FA}" type="presOf" srcId="{EB06D09B-2A83-4055-983B-AEF4D90883CF}" destId="{87586055-3BB8-4D80-9D67-A2577861B702}" srcOrd="0" destOrd="0" presId="urn:microsoft.com/office/officeart/2005/8/layout/process2"/>
    <dgm:cxn modelId="{49339652-40D5-4587-A73B-702E6B0BC2F5}" srcId="{D0B31A03-C6FC-4EE5-B1AB-A417CF301CDB}" destId="{FC887E0D-4A9A-4C9F-9491-AFD295B7F7B5}" srcOrd="0" destOrd="0" parTransId="{4B087585-74BE-41B7-B50C-788BD495E90F}" sibTransId="{7A15F9EB-6884-41A4-B4DF-EADC8BBDB6BF}"/>
    <dgm:cxn modelId="{B877BE59-161E-427A-9310-48D7829AEB9E}" type="presOf" srcId="{1FB8369E-B7E1-4E58-9E36-DCD96448A8DB}" destId="{E3F0CA55-B08A-4E8F-8BD7-4DFBD1DBF0BC}" srcOrd="0" destOrd="0" presId="urn:microsoft.com/office/officeart/2005/8/layout/process2"/>
    <dgm:cxn modelId="{E647845A-DA27-48F7-A866-89DF81D9C7B1}" srcId="{D0B31A03-C6FC-4EE5-B1AB-A417CF301CDB}" destId="{7A2692A0-C1AD-4286-B238-C3A1EF5B7B44}" srcOrd="3" destOrd="0" parTransId="{B499CC80-E138-4308-B24C-18A9197BE9A5}" sibTransId="{EB06D09B-2A83-4055-983B-AEF4D90883CF}"/>
    <dgm:cxn modelId="{FC559E82-C50B-40FD-B98A-4336ECD8013E}" type="presOf" srcId="{FC887E0D-4A9A-4C9F-9491-AFD295B7F7B5}" destId="{812FD870-AB5B-4C87-9458-5B2E20083A2A}" srcOrd="0" destOrd="0" presId="urn:microsoft.com/office/officeart/2005/8/layout/process2"/>
    <dgm:cxn modelId="{313EAE88-B7E7-49BD-A09B-42B386D78DB0}" srcId="{D0B31A03-C6FC-4EE5-B1AB-A417CF301CDB}" destId="{94562773-F942-4875-B7BF-EC56D689FE80}" srcOrd="2" destOrd="0" parTransId="{8F703C5B-1EDE-451E-B05B-37CB4A2B0347}" sibTransId="{FD3A2FAB-913B-4B8F-9117-2A1441E69ECA}"/>
    <dgm:cxn modelId="{D852E891-8180-48F9-9E85-C72C173B5297}" type="presOf" srcId="{FD3A2FAB-913B-4B8F-9117-2A1441E69ECA}" destId="{B40F7A10-5F66-4F17-A04B-6365FA253DE2}" srcOrd="1" destOrd="0" presId="urn:microsoft.com/office/officeart/2005/8/layout/process2"/>
    <dgm:cxn modelId="{3350BE9F-E251-40F5-8DA0-2F3E8619EEFF}" type="presOf" srcId="{BB073C12-D7F7-4104-A6E5-0586A4F4B10D}" destId="{7A885124-BF9C-4BE2-8FF0-D63D81975283}" srcOrd="0" destOrd="0" presId="urn:microsoft.com/office/officeart/2005/8/layout/process2"/>
    <dgm:cxn modelId="{E2BB8DA6-B0F5-4CE6-8BE6-2929FA391008}" type="presOf" srcId="{D0B31A03-C6FC-4EE5-B1AB-A417CF301CDB}" destId="{C73C99F7-4382-48A7-91D4-2B00FD0BE14A}" srcOrd="0" destOrd="0" presId="urn:microsoft.com/office/officeart/2005/8/layout/process2"/>
    <dgm:cxn modelId="{0EA626B9-E308-4DDB-89D8-45462B0E4BD5}" type="presOf" srcId="{7A2692A0-C1AD-4286-B238-C3A1EF5B7B44}" destId="{D72375CA-0F87-40A1-9D81-063594F98AE1}" srcOrd="0" destOrd="0" presId="urn:microsoft.com/office/officeart/2005/8/layout/process2"/>
    <dgm:cxn modelId="{DAC070C1-0780-43C2-9420-F50477B1A222}" type="presOf" srcId="{ECD47029-A88A-4350-843D-F2E7F13B6CAB}" destId="{BD29B3A9-6B62-401A-B554-EA9688B408C0}" srcOrd="0" destOrd="0" presId="urn:microsoft.com/office/officeart/2005/8/layout/process2"/>
    <dgm:cxn modelId="{D85C36E2-0A7E-4120-8767-56F85CEBCBF2}" type="presOf" srcId="{94562773-F942-4875-B7BF-EC56D689FE80}" destId="{E50AD2D2-D332-49D5-9745-117B7DAA965E}" srcOrd="0" destOrd="0" presId="urn:microsoft.com/office/officeart/2005/8/layout/process2"/>
    <dgm:cxn modelId="{09FED9E4-5AF2-47C2-8484-415CDFCC771E}" srcId="{D0B31A03-C6FC-4EE5-B1AB-A417CF301CDB}" destId="{ECD47029-A88A-4350-843D-F2E7F13B6CAB}" srcOrd="4" destOrd="0" parTransId="{74F856BA-D881-4ECE-BCE0-EFC836B271FB}" sibTransId="{BB073C12-D7F7-4104-A6E5-0586A4F4B10D}"/>
    <dgm:cxn modelId="{43ECEBE4-F1A5-4E8C-9590-3D7442C7F12E}" type="presOf" srcId="{0FA93F06-65D5-4292-BB0A-23DB4FAB5BC3}" destId="{0A28B822-0A50-4615-B509-4270EDC3D5C6}" srcOrd="1" destOrd="0" presId="urn:microsoft.com/office/officeart/2005/8/layout/process2"/>
    <dgm:cxn modelId="{DF0686E5-6EFA-4D0D-9799-EDBC4F969670}" type="presOf" srcId="{7A15F9EB-6884-41A4-B4DF-EADC8BBDB6BF}" destId="{6D7B2FAE-FAEC-4760-83ED-E4ABC69E40B6}" srcOrd="1" destOrd="0" presId="urn:microsoft.com/office/officeart/2005/8/layout/process2"/>
    <dgm:cxn modelId="{EA96F3FE-A2F5-47FE-BD7C-6DAD4D8E5823}" type="presParOf" srcId="{C73C99F7-4382-48A7-91D4-2B00FD0BE14A}" destId="{812FD870-AB5B-4C87-9458-5B2E20083A2A}" srcOrd="0" destOrd="0" presId="urn:microsoft.com/office/officeart/2005/8/layout/process2"/>
    <dgm:cxn modelId="{A9AEDE86-4B82-4499-B7F7-1C7FF163209F}" type="presParOf" srcId="{C73C99F7-4382-48A7-91D4-2B00FD0BE14A}" destId="{02BE3206-EF59-4950-891C-DA610F2025F5}" srcOrd="1" destOrd="0" presId="urn:microsoft.com/office/officeart/2005/8/layout/process2"/>
    <dgm:cxn modelId="{A99C4A2E-E4A1-4DBF-AC56-C083940F0BEC}" type="presParOf" srcId="{02BE3206-EF59-4950-891C-DA610F2025F5}" destId="{6D7B2FAE-FAEC-4760-83ED-E4ABC69E40B6}" srcOrd="0" destOrd="0" presId="urn:microsoft.com/office/officeart/2005/8/layout/process2"/>
    <dgm:cxn modelId="{E0D63EA1-A4F9-4470-9EAC-DAF6652B3649}" type="presParOf" srcId="{C73C99F7-4382-48A7-91D4-2B00FD0BE14A}" destId="{8029AF74-1F14-47E9-A9C9-EFF9CDCB08D6}" srcOrd="2" destOrd="0" presId="urn:microsoft.com/office/officeart/2005/8/layout/process2"/>
    <dgm:cxn modelId="{6BDC4F69-3974-4C39-B7DA-2AE3E9D732DF}" type="presParOf" srcId="{C73C99F7-4382-48A7-91D4-2B00FD0BE14A}" destId="{4DA0E52F-DA33-4ECB-AD43-3F3E92D21219}" srcOrd="3" destOrd="0" presId="urn:microsoft.com/office/officeart/2005/8/layout/process2"/>
    <dgm:cxn modelId="{569285BB-5AEF-4AAD-B68C-5EE38C08B799}" type="presParOf" srcId="{4DA0E52F-DA33-4ECB-AD43-3F3E92D21219}" destId="{0A28B822-0A50-4615-B509-4270EDC3D5C6}" srcOrd="0" destOrd="0" presId="urn:microsoft.com/office/officeart/2005/8/layout/process2"/>
    <dgm:cxn modelId="{F34461CD-7B63-4B7E-938A-37D312477551}" type="presParOf" srcId="{C73C99F7-4382-48A7-91D4-2B00FD0BE14A}" destId="{E50AD2D2-D332-49D5-9745-117B7DAA965E}" srcOrd="4" destOrd="0" presId="urn:microsoft.com/office/officeart/2005/8/layout/process2"/>
    <dgm:cxn modelId="{2878B3E3-DC67-4B51-A658-14325F3D3381}" type="presParOf" srcId="{C73C99F7-4382-48A7-91D4-2B00FD0BE14A}" destId="{2E4EE94B-BB93-4F7B-9AAE-6FE937226E0C}" srcOrd="5" destOrd="0" presId="urn:microsoft.com/office/officeart/2005/8/layout/process2"/>
    <dgm:cxn modelId="{DC262509-2134-4DBB-947B-05F423C41280}" type="presParOf" srcId="{2E4EE94B-BB93-4F7B-9AAE-6FE937226E0C}" destId="{B40F7A10-5F66-4F17-A04B-6365FA253DE2}" srcOrd="0" destOrd="0" presId="urn:microsoft.com/office/officeart/2005/8/layout/process2"/>
    <dgm:cxn modelId="{50518160-F081-4020-8E9A-E8B05563C61A}" type="presParOf" srcId="{C73C99F7-4382-48A7-91D4-2B00FD0BE14A}" destId="{D72375CA-0F87-40A1-9D81-063594F98AE1}" srcOrd="6" destOrd="0" presId="urn:microsoft.com/office/officeart/2005/8/layout/process2"/>
    <dgm:cxn modelId="{B9E3768E-588D-49D2-B307-AC26D6884A28}" type="presParOf" srcId="{C73C99F7-4382-48A7-91D4-2B00FD0BE14A}" destId="{87586055-3BB8-4D80-9D67-A2577861B702}" srcOrd="7" destOrd="0" presId="urn:microsoft.com/office/officeart/2005/8/layout/process2"/>
    <dgm:cxn modelId="{32750B5A-800E-458C-869A-60707576C12B}" type="presParOf" srcId="{87586055-3BB8-4D80-9D67-A2577861B702}" destId="{311346F5-1DE0-4C81-9D16-85FE9BD2D21D}" srcOrd="0" destOrd="0" presId="urn:microsoft.com/office/officeart/2005/8/layout/process2"/>
    <dgm:cxn modelId="{76A84052-1378-49C0-8E55-0F0714514C11}" type="presParOf" srcId="{C73C99F7-4382-48A7-91D4-2B00FD0BE14A}" destId="{BD29B3A9-6B62-401A-B554-EA9688B408C0}" srcOrd="8" destOrd="0" presId="urn:microsoft.com/office/officeart/2005/8/layout/process2"/>
    <dgm:cxn modelId="{F842F9C9-7730-428A-9B8C-9A37F7119745}" type="presParOf" srcId="{C73C99F7-4382-48A7-91D4-2B00FD0BE14A}" destId="{7A885124-BF9C-4BE2-8FF0-D63D81975283}" srcOrd="9" destOrd="0" presId="urn:microsoft.com/office/officeart/2005/8/layout/process2"/>
    <dgm:cxn modelId="{669BB15B-0C77-4C09-9E32-4B44D1DCE6E8}" type="presParOf" srcId="{7A885124-BF9C-4BE2-8FF0-D63D81975283}" destId="{C5896870-A003-4150-8695-4C1B71116FBA}" srcOrd="0" destOrd="0" presId="urn:microsoft.com/office/officeart/2005/8/layout/process2"/>
    <dgm:cxn modelId="{EF7F3497-C36B-4080-A921-5C67BADB6F1B}" type="presParOf" srcId="{C73C99F7-4382-48A7-91D4-2B00FD0BE14A}" destId="{E3F0CA55-B08A-4E8F-8BD7-4DFBD1DBF0BC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D648A1-E47D-4CD7-B898-46EC1C80F61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0A1CC5-CBF0-41F3-9E18-82A098D58981}">
      <dgm:prSet custT="1"/>
      <dgm:spPr>
        <a:solidFill>
          <a:srgbClr val="142D52"/>
        </a:solidFill>
      </dgm:spPr>
      <dgm:t>
        <a:bodyPr/>
        <a:lstStyle/>
        <a:p>
          <a:r>
            <a:rPr lang="en-US" sz="1100" b="1" dirty="0"/>
            <a:t>BROADER MULTI-DIMENSIONAL BENEFIT</a:t>
          </a:r>
          <a:endParaRPr lang="en-US" sz="1100" dirty="0"/>
        </a:p>
      </dgm:t>
    </dgm:pt>
    <dgm:pt modelId="{975F1D94-619C-4984-BB5D-DEB605C4F66D}" type="parTrans" cxnId="{B9C540AC-121C-44A7-A670-2569FA745B7F}">
      <dgm:prSet/>
      <dgm:spPr/>
      <dgm:t>
        <a:bodyPr/>
        <a:lstStyle/>
        <a:p>
          <a:endParaRPr lang="en-US"/>
        </a:p>
      </dgm:t>
    </dgm:pt>
    <dgm:pt modelId="{C1372214-D9FA-47D8-B37B-6FC601CB0D36}" type="sibTrans" cxnId="{B9C540AC-121C-44A7-A670-2569FA745B7F}">
      <dgm:prSet/>
      <dgm:spPr/>
      <dgm:t>
        <a:bodyPr/>
        <a:lstStyle/>
        <a:p>
          <a:endParaRPr lang="en-US"/>
        </a:p>
      </dgm:t>
    </dgm:pt>
    <dgm:pt modelId="{F602B952-F57B-4CA2-B02B-3BEA0A9F480B}">
      <dgm:prSet custT="1"/>
      <dgm:spPr>
        <a:solidFill>
          <a:srgbClr val="C4F2E2">
            <a:alpha val="90000"/>
          </a:srgbClr>
        </a:solidFill>
        <a:ln>
          <a:solidFill>
            <a:srgbClr val="142D52">
              <a:alpha val="90000"/>
            </a:srgbClr>
          </a:solidFill>
        </a:ln>
      </dgm:spPr>
      <dgm:t>
        <a:bodyPr/>
        <a:lstStyle/>
        <a:p>
          <a:r>
            <a:rPr lang="en-US" sz="1100" b="1" dirty="0"/>
            <a:t>Social Benefits: </a:t>
          </a:r>
          <a:r>
            <a:rPr lang="en-US" sz="1100" b="0" dirty="0"/>
            <a:t>Restores dignity of labor, provides social security (PMSBY), and builds verified digital credit profiles for unorganized workers.</a:t>
          </a:r>
          <a:endParaRPr lang="en-US" sz="1100" dirty="0"/>
        </a:p>
      </dgm:t>
    </dgm:pt>
    <dgm:pt modelId="{94EB9FF8-803B-4F52-A77C-00C979D2D820}" type="parTrans" cxnId="{98626458-9BA4-4E59-89DE-BE6D0DCC4574}">
      <dgm:prSet/>
      <dgm:spPr/>
      <dgm:t>
        <a:bodyPr/>
        <a:lstStyle/>
        <a:p>
          <a:endParaRPr lang="en-US"/>
        </a:p>
      </dgm:t>
    </dgm:pt>
    <dgm:pt modelId="{34305C7D-4D63-4532-A8E7-FC9A3F0BA885}" type="sibTrans" cxnId="{98626458-9BA4-4E59-89DE-BE6D0DCC4574}">
      <dgm:prSet/>
      <dgm:spPr/>
      <dgm:t>
        <a:bodyPr/>
        <a:lstStyle/>
        <a:p>
          <a:endParaRPr lang="en-US"/>
        </a:p>
      </dgm:t>
    </dgm:pt>
    <dgm:pt modelId="{ACE4A287-9EE0-48BE-B027-D60144119F2E}">
      <dgm:prSet custT="1"/>
      <dgm:spPr>
        <a:solidFill>
          <a:srgbClr val="C4F2E2">
            <a:alpha val="90000"/>
          </a:srgbClr>
        </a:solidFill>
        <a:ln>
          <a:solidFill>
            <a:srgbClr val="142D52">
              <a:alpha val="90000"/>
            </a:srgbClr>
          </a:solidFill>
        </a:ln>
      </dgm:spPr>
      <dgm:t>
        <a:bodyPr/>
        <a:lstStyle/>
        <a:p>
          <a:r>
            <a:rPr lang="en-US" sz="1100" b="1" dirty="0"/>
            <a:t>Economic Benefits: </a:t>
          </a:r>
          <a:r>
            <a:rPr lang="en-US" sz="1100" b="0" dirty="0"/>
            <a:t>Wealth retention within the cooperative ecosystem; prevents value extraction by private multinational aggregators.</a:t>
          </a:r>
          <a:endParaRPr lang="en-US" sz="1100" dirty="0"/>
        </a:p>
      </dgm:t>
    </dgm:pt>
    <dgm:pt modelId="{34D5EC8D-41D9-44A0-A78F-1488AD577263}" type="parTrans" cxnId="{033C501B-A704-4B21-835B-F1CD24A75E13}">
      <dgm:prSet/>
      <dgm:spPr/>
      <dgm:t>
        <a:bodyPr/>
        <a:lstStyle/>
        <a:p>
          <a:endParaRPr lang="en-US"/>
        </a:p>
      </dgm:t>
    </dgm:pt>
    <dgm:pt modelId="{94DEC89A-119A-4195-851C-4501739FCD2C}" type="sibTrans" cxnId="{033C501B-A704-4B21-835B-F1CD24A75E13}">
      <dgm:prSet/>
      <dgm:spPr/>
      <dgm:t>
        <a:bodyPr/>
        <a:lstStyle/>
        <a:p>
          <a:endParaRPr lang="en-US"/>
        </a:p>
      </dgm:t>
    </dgm:pt>
    <dgm:pt modelId="{AB37854E-022B-4961-8AC7-6AD23858A88D}">
      <dgm:prSet custT="1"/>
      <dgm:spPr>
        <a:solidFill>
          <a:srgbClr val="C4F2E2">
            <a:alpha val="90000"/>
          </a:srgbClr>
        </a:solidFill>
        <a:ln>
          <a:solidFill>
            <a:srgbClr val="142D52">
              <a:alpha val="90000"/>
            </a:srgbClr>
          </a:solidFill>
        </a:ln>
      </dgm:spPr>
      <dgm:t>
        <a:bodyPr/>
        <a:lstStyle/>
        <a:p>
          <a:r>
            <a:rPr lang="en-US" sz="1100" b="1" dirty="0"/>
            <a:t>Environmental Benefits: </a:t>
          </a:r>
          <a:r>
            <a:rPr lang="en-US" sz="1100" b="0" dirty="0"/>
            <a:t>Hyperlocal </a:t>
          </a:r>
          <a:r>
            <a:rPr lang="en-US" sz="1100" b="0" dirty="0" err="1"/>
            <a:t>PostGIS</a:t>
          </a:r>
          <a:r>
            <a:rPr lang="en-US" sz="1100" b="0" dirty="0"/>
            <a:t> matching connects nearest proximate workers, reducing transit distances and urban vehicular emissions.</a:t>
          </a:r>
          <a:endParaRPr lang="en-US" sz="1100" dirty="0"/>
        </a:p>
      </dgm:t>
    </dgm:pt>
    <dgm:pt modelId="{17E8F5F0-E9DF-4BD0-96B5-87EE25F0E101}" type="parTrans" cxnId="{A9F73D38-F7FF-4749-A2B5-D6F0E382437B}">
      <dgm:prSet/>
      <dgm:spPr/>
      <dgm:t>
        <a:bodyPr/>
        <a:lstStyle/>
        <a:p>
          <a:endParaRPr lang="en-US"/>
        </a:p>
      </dgm:t>
    </dgm:pt>
    <dgm:pt modelId="{C432B0E4-17DC-4BB3-9FC6-56472215BB56}" type="sibTrans" cxnId="{A9F73D38-F7FF-4749-A2B5-D6F0E382437B}">
      <dgm:prSet/>
      <dgm:spPr/>
      <dgm:t>
        <a:bodyPr/>
        <a:lstStyle/>
        <a:p>
          <a:endParaRPr lang="en-US"/>
        </a:p>
      </dgm:t>
    </dgm:pt>
    <dgm:pt modelId="{47342159-4FAC-4660-B040-881D1CDE4AD6}" type="pres">
      <dgm:prSet presAssocID="{6BD648A1-E47D-4CD7-B898-46EC1C80F611}" presName="Name0" presStyleCnt="0">
        <dgm:presLayoutVars>
          <dgm:dir/>
          <dgm:animLvl val="lvl"/>
          <dgm:resizeHandles val="exact"/>
        </dgm:presLayoutVars>
      </dgm:prSet>
      <dgm:spPr/>
    </dgm:pt>
    <dgm:pt modelId="{BF0D0133-A5E4-412A-A255-B84625B79169}" type="pres">
      <dgm:prSet presAssocID="{100A1CC5-CBF0-41F3-9E18-82A098D58981}" presName="linNode" presStyleCnt="0"/>
      <dgm:spPr/>
    </dgm:pt>
    <dgm:pt modelId="{9E8D04DE-B1D8-4F5C-B718-DD47B7591314}" type="pres">
      <dgm:prSet presAssocID="{100A1CC5-CBF0-41F3-9E18-82A098D58981}" presName="parentText" presStyleLbl="node1" presStyleIdx="0" presStyleCnt="1" custScaleY="94897">
        <dgm:presLayoutVars>
          <dgm:chMax val="1"/>
          <dgm:bulletEnabled val="1"/>
        </dgm:presLayoutVars>
      </dgm:prSet>
      <dgm:spPr/>
    </dgm:pt>
    <dgm:pt modelId="{CDB81AB7-AF4D-43F1-B921-9559AD400F67}" type="pres">
      <dgm:prSet presAssocID="{100A1CC5-CBF0-41F3-9E18-82A098D58981}" presName="descendantText" presStyleLbl="alignAccFollowNode1" presStyleIdx="0" presStyleCnt="1" custScaleY="107544">
        <dgm:presLayoutVars>
          <dgm:bulletEnabled val="1"/>
        </dgm:presLayoutVars>
      </dgm:prSet>
      <dgm:spPr/>
    </dgm:pt>
  </dgm:ptLst>
  <dgm:cxnLst>
    <dgm:cxn modelId="{414B9603-0EC7-444D-8220-9C0002385A50}" type="presOf" srcId="{ACE4A287-9EE0-48BE-B027-D60144119F2E}" destId="{CDB81AB7-AF4D-43F1-B921-9559AD400F67}" srcOrd="0" destOrd="1" presId="urn:microsoft.com/office/officeart/2005/8/layout/vList5"/>
    <dgm:cxn modelId="{6BD5930C-697D-49F0-8AC0-2C89C0F03939}" type="presOf" srcId="{100A1CC5-CBF0-41F3-9E18-82A098D58981}" destId="{9E8D04DE-B1D8-4F5C-B718-DD47B7591314}" srcOrd="0" destOrd="0" presId="urn:microsoft.com/office/officeart/2005/8/layout/vList5"/>
    <dgm:cxn modelId="{033C501B-A704-4B21-835B-F1CD24A75E13}" srcId="{100A1CC5-CBF0-41F3-9E18-82A098D58981}" destId="{ACE4A287-9EE0-48BE-B027-D60144119F2E}" srcOrd="1" destOrd="0" parTransId="{34D5EC8D-41D9-44A0-A78F-1488AD577263}" sibTransId="{94DEC89A-119A-4195-851C-4501739FCD2C}"/>
    <dgm:cxn modelId="{A9F73D38-F7FF-4749-A2B5-D6F0E382437B}" srcId="{100A1CC5-CBF0-41F3-9E18-82A098D58981}" destId="{AB37854E-022B-4961-8AC7-6AD23858A88D}" srcOrd="2" destOrd="0" parTransId="{17E8F5F0-E9DF-4BD0-96B5-87EE25F0E101}" sibTransId="{C432B0E4-17DC-4BB3-9FC6-56472215BB56}"/>
    <dgm:cxn modelId="{98626458-9BA4-4E59-89DE-BE6D0DCC4574}" srcId="{100A1CC5-CBF0-41F3-9E18-82A098D58981}" destId="{F602B952-F57B-4CA2-B02B-3BEA0A9F480B}" srcOrd="0" destOrd="0" parTransId="{94EB9FF8-803B-4F52-A77C-00C979D2D820}" sibTransId="{34305C7D-4D63-4532-A8E7-FC9A3F0BA885}"/>
    <dgm:cxn modelId="{2C0D8998-C715-4532-ADE1-14276200EE0F}" type="presOf" srcId="{6BD648A1-E47D-4CD7-B898-46EC1C80F611}" destId="{47342159-4FAC-4660-B040-881D1CDE4AD6}" srcOrd="0" destOrd="0" presId="urn:microsoft.com/office/officeart/2005/8/layout/vList5"/>
    <dgm:cxn modelId="{B9C540AC-121C-44A7-A670-2569FA745B7F}" srcId="{6BD648A1-E47D-4CD7-B898-46EC1C80F611}" destId="{100A1CC5-CBF0-41F3-9E18-82A098D58981}" srcOrd="0" destOrd="0" parTransId="{975F1D94-619C-4984-BB5D-DEB605C4F66D}" sibTransId="{C1372214-D9FA-47D8-B37B-6FC601CB0D36}"/>
    <dgm:cxn modelId="{67488AAD-15FE-4FB9-BF7E-ECBB0FA9C590}" type="presOf" srcId="{F602B952-F57B-4CA2-B02B-3BEA0A9F480B}" destId="{CDB81AB7-AF4D-43F1-B921-9559AD400F67}" srcOrd="0" destOrd="0" presId="urn:microsoft.com/office/officeart/2005/8/layout/vList5"/>
    <dgm:cxn modelId="{3659E5CA-DB10-4A3F-BBF5-A2D1795ADD50}" type="presOf" srcId="{AB37854E-022B-4961-8AC7-6AD23858A88D}" destId="{CDB81AB7-AF4D-43F1-B921-9559AD400F67}" srcOrd="0" destOrd="2" presId="urn:microsoft.com/office/officeart/2005/8/layout/vList5"/>
    <dgm:cxn modelId="{B72A57FB-B468-455E-83CA-9C178FBF5C04}" type="presParOf" srcId="{47342159-4FAC-4660-B040-881D1CDE4AD6}" destId="{BF0D0133-A5E4-412A-A255-B84625B79169}" srcOrd="0" destOrd="0" presId="urn:microsoft.com/office/officeart/2005/8/layout/vList5"/>
    <dgm:cxn modelId="{012B5AB6-240E-4CCD-AF60-9C41B6F9FDF8}" type="presParOf" srcId="{BF0D0133-A5E4-412A-A255-B84625B79169}" destId="{9E8D04DE-B1D8-4F5C-B718-DD47B7591314}" srcOrd="0" destOrd="0" presId="urn:microsoft.com/office/officeart/2005/8/layout/vList5"/>
    <dgm:cxn modelId="{7BB5D169-7B3F-4743-92D1-0CA5911AF088}" type="presParOf" srcId="{BF0D0133-A5E4-412A-A255-B84625B79169}" destId="{CDB81AB7-AF4D-43F1-B921-9559AD400F6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FD870-AB5B-4C87-9458-5B2E20083A2A}">
      <dsp:nvSpPr>
        <dsp:cNvPr id="0" name=""/>
        <dsp:cNvSpPr/>
      </dsp:nvSpPr>
      <dsp:spPr>
        <a:xfrm>
          <a:off x="370430" y="3405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Service Discovery (Trade &amp; Urgency selection) </a:t>
          </a:r>
        </a:p>
      </dsp:txBody>
      <dsp:txXfrm>
        <a:off x="383670" y="16645"/>
        <a:ext cx="3931955" cy="425569"/>
      </dsp:txXfrm>
    </dsp:sp>
    <dsp:sp modelId="{02BE3206-EF59-4950-891C-DA610F2025F5}">
      <dsp:nvSpPr>
        <dsp:cNvPr id="0" name=""/>
        <dsp:cNvSpPr/>
      </dsp:nvSpPr>
      <dsp:spPr>
        <a:xfrm rot="5400000">
          <a:off x="2164097" y="466755"/>
          <a:ext cx="371101" cy="2034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288621" y="382916"/>
        <a:ext cx="122054" cy="310074"/>
      </dsp:txXfrm>
    </dsp:sp>
    <dsp:sp modelId="{8029AF74-1F14-47E9-A9C9-EFF9CDCB08D6}">
      <dsp:nvSpPr>
        <dsp:cNvPr id="0" name=""/>
        <dsp:cNvSpPr/>
      </dsp:nvSpPr>
      <dsp:spPr>
        <a:xfrm>
          <a:off x="370430" y="681479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PostGIS</a:t>
          </a:r>
          <a:r>
            <a:rPr lang="en-US" sz="1400" kern="1200" dirty="0"/>
            <a:t> Geo-Match (Top 3 workers alerted) </a:t>
          </a:r>
        </a:p>
      </dsp:txBody>
      <dsp:txXfrm>
        <a:off x="383670" y="694719"/>
        <a:ext cx="3931955" cy="425569"/>
      </dsp:txXfrm>
    </dsp:sp>
    <dsp:sp modelId="{4DA0E52F-DA33-4ECB-AD43-3F3E92D21219}">
      <dsp:nvSpPr>
        <dsp:cNvPr id="0" name=""/>
        <dsp:cNvSpPr/>
      </dsp:nvSpPr>
      <dsp:spPr>
        <a:xfrm rot="5400000">
          <a:off x="2164097" y="1144830"/>
          <a:ext cx="371101" cy="2034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288621" y="1060991"/>
        <a:ext cx="122054" cy="310074"/>
      </dsp:txXfrm>
    </dsp:sp>
    <dsp:sp modelId="{E50AD2D2-D332-49D5-9745-117B7DAA965E}">
      <dsp:nvSpPr>
        <dsp:cNvPr id="0" name=""/>
        <dsp:cNvSpPr/>
      </dsp:nvSpPr>
      <dsp:spPr>
        <a:xfrm>
          <a:off x="370430" y="1359553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Worker Accept (Live ETA &amp; profile shared) </a:t>
          </a:r>
        </a:p>
      </dsp:txBody>
      <dsp:txXfrm>
        <a:off x="383670" y="1372793"/>
        <a:ext cx="3931955" cy="425569"/>
      </dsp:txXfrm>
    </dsp:sp>
    <dsp:sp modelId="{2E4EE94B-BB93-4F7B-9AAE-6FE937226E0C}">
      <dsp:nvSpPr>
        <dsp:cNvPr id="0" name=""/>
        <dsp:cNvSpPr/>
      </dsp:nvSpPr>
      <dsp:spPr>
        <a:xfrm rot="5400000">
          <a:off x="2164097" y="1822904"/>
          <a:ext cx="371101" cy="2034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288621" y="1739065"/>
        <a:ext cx="122054" cy="310074"/>
      </dsp:txXfrm>
    </dsp:sp>
    <dsp:sp modelId="{D72375CA-0F87-40A1-9D81-063594F98AE1}">
      <dsp:nvSpPr>
        <dsp:cNvPr id="0" name=""/>
        <dsp:cNvSpPr/>
      </dsp:nvSpPr>
      <dsp:spPr>
        <a:xfrm>
          <a:off x="370430" y="2037628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OTP Job Start (Secure site verification)</a:t>
          </a:r>
        </a:p>
      </dsp:txBody>
      <dsp:txXfrm>
        <a:off x="383670" y="2050868"/>
        <a:ext cx="3931955" cy="425569"/>
      </dsp:txXfrm>
    </dsp:sp>
    <dsp:sp modelId="{87586055-3BB8-4D80-9D67-A2577861B702}">
      <dsp:nvSpPr>
        <dsp:cNvPr id="0" name=""/>
        <dsp:cNvSpPr/>
      </dsp:nvSpPr>
      <dsp:spPr>
        <a:xfrm rot="5400000">
          <a:off x="2164097" y="2500979"/>
          <a:ext cx="371101" cy="2034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288621" y="2417140"/>
        <a:ext cx="122054" cy="310074"/>
      </dsp:txXfrm>
    </dsp:sp>
    <dsp:sp modelId="{BD29B3A9-6B62-401A-B554-EA9688B408C0}">
      <dsp:nvSpPr>
        <dsp:cNvPr id="0" name=""/>
        <dsp:cNvSpPr/>
      </dsp:nvSpPr>
      <dsp:spPr>
        <a:xfrm>
          <a:off x="370430" y="2715702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Proof-of-Work Upload (Geo-tagged photo) </a:t>
          </a:r>
        </a:p>
      </dsp:txBody>
      <dsp:txXfrm>
        <a:off x="383670" y="2728942"/>
        <a:ext cx="3931955" cy="425569"/>
      </dsp:txXfrm>
    </dsp:sp>
    <dsp:sp modelId="{7A885124-BF9C-4BE2-8FF0-D63D81975283}">
      <dsp:nvSpPr>
        <dsp:cNvPr id="0" name=""/>
        <dsp:cNvSpPr/>
      </dsp:nvSpPr>
      <dsp:spPr>
        <a:xfrm rot="5400000">
          <a:off x="2164097" y="3179053"/>
          <a:ext cx="371101" cy="2034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288621" y="3095214"/>
        <a:ext cx="122054" cy="310074"/>
      </dsp:txXfrm>
    </dsp:sp>
    <dsp:sp modelId="{E3F0CA55-B08A-4E8F-8BD7-4DFBD1DBF0BC}">
      <dsp:nvSpPr>
        <dsp:cNvPr id="0" name=""/>
        <dsp:cNvSpPr/>
      </dsp:nvSpPr>
      <dsp:spPr>
        <a:xfrm>
          <a:off x="370430" y="3393777"/>
          <a:ext cx="3958435" cy="452049"/>
        </a:xfrm>
        <a:prstGeom prst="roundRect">
          <a:avLst>
            <a:gd name="adj" fmla="val 10000"/>
          </a:avLst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Digital Invoice &amp; 88/7/5 Automated Escrow Split.</a:t>
          </a:r>
        </a:p>
      </dsp:txBody>
      <dsp:txXfrm>
        <a:off x="383670" y="3407017"/>
        <a:ext cx="3931955" cy="4255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81AB7-AF4D-43F1-B921-9559AD400F67}">
      <dsp:nvSpPr>
        <dsp:cNvPr id="0" name=""/>
        <dsp:cNvSpPr/>
      </dsp:nvSpPr>
      <dsp:spPr>
        <a:xfrm rot="5400000">
          <a:off x="2319739" y="-289996"/>
          <a:ext cx="2314011" cy="3272231"/>
        </a:xfrm>
        <a:prstGeom prst="round2SameRect">
          <a:avLst/>
        </a:prstGeom>
        <a:solidFill>
          <a:srgbClr val="C4F2E2">
            <a:alpha val="90000"/>
          </a:srgbClr>
        </a:solidFill>
        <a:ln w="25400" cap="flat" cmpd="sng" algn="ctr">
          <a:solidFill>
            <a:srgbClr val="142D52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Social Benefits: </a:t>
          </a:r>
          <a:r>
            <a:rPr lang="en-US" sz="1100" b="0" kern="1200" dirty="0"/>
            <a:t>Restores dignity of labor, provides social security (PMSBY), and builds verified digital credit profiles for unorganized workers.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Economic Benefits: </a:t>
          </a:r>
          <a:r>
            <a:rPr lang="en-US" sz="1100" b="0" kern="1200" dirty="0"/>
            <a:t>Wealth retention within the cooperative ecosystem; prevents value extraction by private multinational aggregators.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Environmental Benefits: </a:t>
          </a:r>
          <a:r>
            <a:rPr lang="en-US" sz="1100" b="0" kern="1200" dirty="0"/>
            <a:t>Hyperlocal </a:t>
          </a:r>
          <a:r>
            <a:rPr lang="en-US" sz="1100" b="0" kern="1200" dirty="0" err="1"/>
            <a:t>PostGIS</a:t>
          </a:r>
          <a:r>
            <a:rPr lang="en-US" sz="1100" b="0" kern="1200" dirty="0"/>
            <a:t> matching connects nearest proximate workers, reducing transit distances and urban vehicular emissions.</a:t>
          </a:r>
          <a:endParaRPr lang="en-US" sz="1100" kern="1200" dirty="0"/>
        </a:p>
      </dsp:txBody>
      <dsp:txXfrm rot="-5400000">
        <a:off x="1840630" y="302074"/>
        <a:ext cx="3159270" cy="2088089"/>
      </dsp:txXfrm>
    </dsp:sp>
    <dsp:sp modelId="{9E8D04DE-B1D8-4F5C-B718-DD47B7591314}">
      <dsp:nvSpPr>
        <dsp:cNvPr id="0" name=""/>
        <dsp:cNvSpPr/>
      </dsp:nvSpPr>
      <dsp:spPr>
        <a:xfrm>
          <a:off x="0" y="69939"/>
          <a:ext cx="1840629" cy="2552359"/>
        </a:xfrm>
        <a:prstGeom prst="roundRect">
          <a:avLst/>
        </a:prstGeom>
        <a:solidFill>
          <a:srgbClr val="142D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BROADER MULTI-DIMENSIONAL BENEFIT</a:t>
          </a:r>
          <a:endParaRPr lang="en-US" sz="1100" kern="1200" dirty="0"/>
        </a:p>
      </dsp:txBody>
      <dsp:txXfrm>
        <a:off x="89852" y="159791"/>
        <a:ext cx="1660925" cy="2372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agnikdevelops/Sahyog" TargetMode="External"/><Relationship Id="rId4" Type="http://schemas.openxmlformats.org/officeDocument/2006/relationships/hyperlink" Target="https://sahyogapp.vercel.app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7.png"/><Relationship Id="rId18" Type="http://schemas.openxmlformats.org/officeDocument/2006/relationships/image" Target="../media/image12.svg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6.png"/><Relationship Id="rId1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jpg"/><Relationship Id="rId5" Type="http://schemas.openxmlformats.org/officeDocument/2006/relationships/diagramData" Target="../diagrams/data1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jpg"/><Relationship Id="rId4" Type="http://schemas.openxmlformats.org/officeDocument/2006/relationships/image" Target="../media/image2.png"/><Relationship Id="rId9" Type="http://schemas.microsoft.com/office/2007/relationships/diagramDrawing" Target="../diagrams/drawing1.xml"/><Relationship Id="rId14" Type="http://schemas.openxmlformats.org/officeDocument/2006/relationships/image" Target="../media/image8.pn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hyperlink" Target="https://ncui.coop/storage/notification/ANNUAL%20REPORT%202025%20English%20-C.pdf" TargetMode="Externa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abour.gov.in/static/uploads/2026/06/4b7ec0e8206aa4860576d6f75b432e97.pdf" TargetMode="External"/><Relationship Id="rId11" Type="http://schemas.openxmlformats.org/officeDocument/2006/relationships/image" Target="../media/image20.png"/><Relationship Id="rId5" Type="http://schemas.openxmlformats.org/officeDocument/2006/relationships/hyperlink" Target="https://cooperatives.gov.in/frontend/docs/Final_National_Cooperative_Database_023.pdf" TargetMode="Externa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hyperlink" Target="https://www.niti.gov.in/sites/default/files/2022-06/25th_June_Final_Report_27062022.pdf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SAHYOG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SIH26089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Cooperative Gig Services Platform for Household &amp; Community Services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Agriculture,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</a:rPr>
              <a:t>FoodTech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 &amp; Rural Development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123233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BugSquad</a:t>
            </a:r>
            <a:endParaRPr lang="en-IN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87935" y="11449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SAHYOG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04066"/>
            <a:ext cx="1273343" cy="7266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 err="1"/>
              <a:t>BugSquad</a:t>
            </a:r>
            <a:endParaRPr lang="en-IN" sz="13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D56839-C173-A51C-BA08-10B20E976D8C}"/>
              </a:ext>
            </a:extLst>
          </p:cNvPr>
          <p:cNvSpPr txBox="1"/>
          <p:nvPr/>
        </p:nvSpPr>
        <p:spPr>
          <a:xfrm>
            <a:off x="2188649" y="934028"/>
            <a:ext cx="7591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India's 1st Cooperative-Owned Digital Service Marketplace &amp; Welfare Platform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E39128-DFC0-474A-4258-E196CF98DF74}"/>
              </a:ext>
            </a:extLst>
          </p:cNvPr>
          <p:cNvSpPr/>
          <p:nvPr/>
        </p:nvSpPr>
        <p:spPr>
          <a:xfrm>
            <a:off x="378475" y="1515287"/>
            <a:ext cx="2329075" cy="3970051"/>
          </a:xfrm>
          <a:prstGeom prst="roundRect">
            <a:avLst/>
          </a:prstGeom>
          <a:solidFill>
            <a:srgbClr val="DDF7EE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496AA0-99BD-8124-7BE8-1557D0E61B4C}"/>
              </a:ext>
            </a:extLst>
          </p:cNvPr>
          <p:cNvSpPr/>
          <p:nvPr/>
        </p:nvSpPr>
        <p:spPr>
          <a:xfrm>
            <a:off x="3022164" y="1524795"/>
            <a:ext cx="2710949" cy="3960543"/>
          </a:xfrm>
          <a:prstGeom prst="roundRect">
            <a:avLst/>
          </a:prstGeom>
          <a:solidFill>
            <a:srgbClr val="DDF7EE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5DDB86-E258-AE1E-C5CD-8DE8B9C7309C}"/>
              </a:ext>
            </a:extLst>
          </p:cNvPr>
          <p:cNvSpPr txBox="1"/>
          <p:nvPr/>
        </p:nvSpPr>
        <p:spPr>
          <a:xfrm>
            <a:off x="522957" y="1728821"/>
            <a:ext cx="206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42D52"/>
                </a:solidFill>
              </a:rPr>
              <a:t>The Problem &amp; Market Gap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1AF3B-6B86-5DB0-36FA-51F615CD9EC9}"/>
              </a:ext>
            </a:extLst>
          </p:cNvPr>
          <p:cNvSpPr txBox="1"/>
          <p:nvPr/>
        </p:nvSpPr>
        <p:spPr>
          <a:xfrm>
            <a:off x="495176" y="2441452"/>
            <a:ext cx="2095671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Commercial Aggregator Exploitation:</a:t>
            </a:r>
            <a:r>
              <a:rPr lang="en-US" sz="1100" dirty="0"/>
              <a:t> Private platforms deduct 20–30% commissions without offering social safety nets or worker ownership.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Underutilized Cooperative Network: </a:t>
            </a:r>
            <a:r>
              <a:rPr lang="en-US" sz="1100" dirty="0"/>
              <a:t>Millions of skilled trade workers in </a:t>
            </a:r>
            <a:r>
              <a:rPr lang="en-US" sz="1100" dirty="0" err="1"/>
              <a:t>Labour</a:t>
            </a:r>
            <a:r>
              <a:rPr lang="en-US" sz="1100" dirty="0"/>
              <a:t> Cooperatives (LCCs) lack a structured digital gateway to reach local urban and rural demand. 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Trust &amp; Verification Deficit: </a:t>
            </a:r>
            <a:r>
              <a:rPr lang="en-US" sz="1100" dirty="0"/>
              <a:t>Consumers struggle to find verified, police-cleared, and skill-certified technicians for urgent home services.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3DC7D-5011-85BD-A642-779A9778F1BE}"/>
              </a:ext>
            </a:extLst>
          </p:cNvPr>
          <p:cNvSpPr txBox="1"/>
          <p:nvPr/>
        </p:nvSpPr>
        <p:spPr>
          <a:xfrm>
            <a:off x="3197209" y="1728821"/>
            <a:ext cx="185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42D52"/>
                </a:solidFill>
              </a:rPr>
              <a:t>Our Solution (How It Works)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2A5DA-2C4A-CB39-BD8B-91B8D2E50E5B}"/>
              </a:ext>
            </a:extLst>
          </p:cNvPr>
          <p:cNvSpPr txBox="1"/>
          <p:nvPr/>
        </p:nvSpPr>
        <p:spPr>
          <a:xfrm>
            <a:off x="3061173" y="2457451"/>
            <a:ext cx="2644768" cy="2272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Cooperative-First Digital Marketplace: </a:t>
            </a:r>
            <a:r>
              <a:rPr lang="en-US" sz="1100" dirty="0"/>
              <a:t>Connects Primary </a:t>
            </a:r>
            <a:r>
              <a:rPr lang="en-US" sz="1100" dirty="0" err="1"/>
              <a:t>Labour</a:t>
            </a:r>
            <a:r>
              <a:rPr lang="en-US" sz="1100" dirty="0"/>
              <a:t> Cooperative Societies directly with households, enterprises, and institutions.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Full Lifecycle Service Engine: </a:t>
            </a:r>
            <a:r>
              <a:rPr lang="en-US" sz="1100" dirty="0"/>
              <a:t>Real-time map-based discovery, emergency SOS booking, live status tracking, and automated digital invoicing.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Multi-Tier Institutional Verification: </a:t>
            </a:r>
            <a:r>
              <a:rPr lang="en-US" sz="1100" dirty="0"/>
              <a:t>Rigorous onboarding pipeline (Society KYC → NCCT/NSDC Skill Certification → Background Check).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B951591-1B31-5176-9E44-20C2989CFE2F}"/>
              </a:ext>
            </a:extLst>
          </p:cNvPr>
          <p:cNvSpPr/>
          <p:nvPr/>
        </p:nvSpPr>
        <p:spPr>
          <a:xfrm>
            <a:off x="6207829" y="1519630"/>
            <a:ext cx="2716548" cy="3965707"/>
          </a:xfrm>
          <a:prstGeom prst="roundRect">
            <a:avLst/>
          </a:prstGeom>
          <a:solidFill>
            <a:srgbClr val="DDF7EE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7E266E-4AA6-FD04-96A6-4D738AD5F19C}"/>
              </a:ext>
            </a:extLst>
          </p:cNvPr>
          <p:cNvSpPr txBox="1"/>
          <p:nvPr/>
        </p:nvSpPr>
        <p:spPr>
          <a:xfrm>
            <a:off x="6350909" y="1723451"/>
            <a:ext cx="249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42D52"/>
                </a:solidFill>
              </a:rPr>
              <a:t>Innovation &amp; Uniqueness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A2AF70-020F-2586-EBA5-E65BA82C6A96}"/>
              </a:ext>
            </a:extLst>
          </p:cNvPr>
          <p:cNvSpPr txBox="1"/>
          <p:nvPr/>
        </p:nvSpPr>
        <p:spPr>
          <a:xfrm>
            <a:off x="6316139" y="2464030"/>
            <a:ext cx="2499928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100" b="1" dirty="0"/>
              <a:t>• Fair 88-7-5 Cooperative Split: Split:</a:t>
            </a:r>
            <a:r>
              <a:rPr lang="en-US" sz="1100" dirty="0"/>
              <a:t> 88% directly to the worker, 7% to a Cooperative Welfare &amp; Insurance Fund (PMSBY/PM-SYM), and only 5% for platform maintenance.</a:t>
            </a:r>
          </a:p>
          <a:p>
            <a:pPr>
              <a:lnSpc>
                <a:spcPts val="132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100" b="1" dirty="0"/>
              <a:t>• Explainable 4-Factor Matching Engine: </a:t>
            </a:r>
            <a:r>
              <a:rPr lang="en-US" sz="1100" dirty="0"/>
              <a:t>Transparent algorithmic allocation based on Skill (40%), Proximity (30%), Availability (20%), and Workload (10%).</a:t>
            </a:r>
          </a:p>
          <a:p>
            <a:pPr>
              <a:lnSpc>
                <a:spcPts val="1320"/>
              </a:lnSpc>
              <a:spcBef>
                <a:spcPts val="0"/>
              </a:spcBef>
              <a:spcAft>
                <a:spcPts val="700"/>
              </a:spcAft>
            </a:pPr>
            <a:r>
              <a:rPr lang="en-US" sz="1100" b="1" dirty="0"/>
              <a:t>• 3-Tier Governance Hierarchy: </a:t>
            </a:r>
            <a:r>
              <a:rPr lang="en-US" sz="1100" dirty="0"/>
              <a:t>Role-specific portals for Primary Societies, State Federations (LABCOFED), and Ministry/NCCT oversight dashboards.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9A78302-A502-A96C-75CE-91842567C91E}"/>
              </a:ext>
            </a:extLst>
          </p:cNvPr>
          <p:cNvSpPr/>
          <p:nvPr/>
        </p:nvSpPr>
        <p:spPr>
          <a:xfrm>
            <a:off x="9278000" y="1524796"/>
            <a:ext cx="2562483" cy="3960542"/>
          </a:xfrm>
          <a:prstGeom prst="roundRect">
            <a:avLst/>
          </a:prstGeom>
          <a:solidFill>
            <a:srgbClr val="DDF7EE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58DF9D-4058-45CA-C8F6-E6DA60030A39}"/>
              </a:ext>
            </a:extLst>
          </p:cNvPr>
          <p:cNvSpPr txBox="1"/>
          <p:nvPr/>
        </p:nvSpPr>
        <p:spPr>
          <a:xfrm>
            <a:off x="9451363" y="1719313"/>
            <a:ext cx="2119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42D52"/>
                </a:solidFill>
              </a:rPr>
              <a:t>Key Value Propositions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3C14C3-4DE7-8630-7AD7-AB148A96480D}"/>
              </a:ext>
            </a:extLst>
          </p:cNvPr>
          <p:cNvSpPr txBox="1"/>
          <p:nvPr/>
        </p:nvSpPr>
        <p:spPr>
          <a:xfrm>
            <a:off x="9373845" y="2441452"/>
            <a:ext cx="2370792" cy="2439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For Workers: </a:t>
            </a:r>
            <a:r>
              <a:rPr lang="en-US" sz="1100" dirty="0"/>
              <a:t>Guaranteed minimum wage standards, direct UPI payouts, accident insurance, and institutional upskilling via NCCT.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For Consumers: </a:t>
            </a:r>
            <a:r>
              <a:rPr lang="en-US" sz="1100" dirty="0"/>
              <a:t>Verified local technicians, standardized pricing, transparent deterministic matching, and rapid emergency dispatch.</a:t>
            </a:r>
          </a:p>
          <a:p>
            <a:pPr>
              <a:lnSpc>
                <a:spcPts val="1320"/>
              </a:lnSpc>
              <a:spcAft>
                <a:spcPts val="700"/>
              </a:spcAft>
            </a:pPr>
            <a:r>
              <a:rPr lang="en-US" sz="1100" b="1" dirty="0"/>
              <a:t>• For Cooperatives &amp; Govt: </a:t>
            </a:r>
            <a:r>
              <a:rPr lang="en-US" sz="1100" dirty="0"/>
              <a:t>Complete data visibility into regional </a:t>
            </a:r>
            <a:r>
              <a:rPr lang="en-US" sz="1100" dirty="0" err="1"/>
              <a:t>labour</a:t>
            </a:r>
            <a:r>
              <a:rPr lang="en-US" sz="1100" dirty="0"/>
              <a:t> demand, worker utilization, and digital compliance under the </a:t>
            </a:r>
            <a:r>
              <a:rPr lang="en-US" sz="1100" b="1" dirty="0"/>
              <a:t>"</a:t>
            </a:r>
            <a:r>
              <a:rPr lang="en-US" sz="1100" b="1" dirty="0" err="1"/>
              <a:t>Sahkar</a:t>
            </a:r>
            <a:r>
              <a:rPr lang="en-US" sz="1100" b="1" dirty="0"/>
              <a:t>-se-Samriddhi"</a:t>
            </a:r>
            <a:r>
              <a:rPr lang="en-US" sz="1100" dirty="0"/>
              <a:t> vision.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908C51-2AFF-5C94-334B-B8F192FBE4AF}"/>
              </a:ext>
            </a:extLst>
          </p:cNvPr>
          <p:cNvGrpSpPr/>
          <p:nvPr/>
        </p:nvGrpSpPr>
        <p:grpSpPr>
          <a:xfrm>
            <a:off x="378475" y="5699276"/>
            <a:ext cx="5599098" cy="639076"/>
            <a:chOff x="2666547" y="5369035"/>
            <a:chExt cx="5599098" cy="63907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567D1A1-7E1F-9B77-D851-D5B595FC0021}"/>
                </a:ext>
              </a:extLst>
            </p:cNvPr>
            <p:cNvSpPr/>
            <p:nvPr/>
          </p:nvSpPr>
          <p:spPr>
            <a:xfrm>
              <a:off x="2666547" y="5369035"/>
              <a:ext cx="5563054" cy="639076"/>
            </a:xfrm>
            <a:prstGeom prst="roundRect">
              <a:avLst/>
            </a:prstGeom>
            <a:solidFill>
              <a:srgbClr val="1F293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61B079-7BB8-0BA5-1B9F-22F76C2904BC}"/>
                </a:ext>
              </a:extLst>
            </p:cNvPr>
            <p:cNvSpPr txBox="1"/>
            <p:nvPr/>
          </p:nvSpPr>
          <p:spPr>
            <a:xfrm>
              <a:off x="2702590" y="5407947"/>
              <a:ext cx="5563055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 🏠                                      📍                            👷                            💳                              🤝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CUSTOMER  ───→  SMART MATCH ───→ VERIFIED ───→ SETTLEMENT ───→ COOPERATIVE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    NEED                          WORKER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29A2BA-8962-36C5-8322-766F31E4372C}"/>
              </a:ext>
            </a:extLst>
          </p:cNvPr>
          <p:cNvSpPr txBox="1"/>
          <p:nvPr/>
        </p:nvSpPr>
        <p:spPr>
          <a:xfrm>
            <a:off x="6256559" y="5689158"/>
            <a:ext cx="5578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F2937"/>
                </a:solidFill>
              </a:rPr>
              <a:t>WebApp Link </a:t>
            </a:r>
            <a:r>
              <a:rPr lang="en-US" sz="1600" b="1" dirty="0"/>
              <a:t>:        </a:t>
            </a:r>
            <a:r>
              <a:rPr lang="en-US" sz="1600" dirty="0">
                <a:hlinkClick r:id="rId4"/>
              </a:rPr>
              <a:t>https://sahyogapp.vercel.app/ </a:t>
            </a:r>
            <a:br>
              <a:rPr lang="en-US" sz="1600" b="1" dirty="0">
                <a:solidFill>
                  <a:srgbClr val="1F2937"/>
                </a:solidFill>
              </a:rPr>
            </a:br>
            <a:r>
              <a:rPr lang="en-US" sz="1600" b="1" dirty="0">
                <a:solidFill>
                  <a:srgbClr val="1F2937"/>
                </a:solidFill>
              </a:rPr>
              <a:t>GitHub Repo link :  </a:t>
            </a:r>
            <a:r>
              <a:rPr lang="en-US" sz="1600" dirty="0">
                <a:solidFill>
                  <a:srgbClr val="1F2937"/>
                </a:solidFill>
                <a:hlinkClick r:id="rId5"/>
              </a:rPr>
              <a:t>https://github.com/sagnikdevelops/Sahyog         </a:t>
            </a:r>
            <a:endParaRPr lang="en-US" sz="1600" dirty="0">
              <a:solidFill>
                <a:srgbClr val="1F2937"/>
              </a:solidFill>
            </a:endParaRPr>
          </a:p>
          <a:p>
            <a:r>
              <a:rPr lang="en-US" sz="1600" b="1" dirty="0">
                <a:solidFill>
                  <a:srgbClr val="1F2937"/>
                </a:solidFill>
              </a:rPr>
              <a:t>Demo Video Link :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0" name="Rectangle: Rounded Corners 17659">
            <a:extLst>
              <a:ext uri="{FF2B5EF4-FFF2-40B4-BE49-F238E27FC236}">
                <a16:creationId xmlns:a16="http://schemas.microsoft.com/office/drawing/2014/main" id="{D6278CB4-5D6A-640B-EB41-8B31BED0492A}"/>
              </a:ext>
            </a:extLst>
          </p:cNvPr>
          <p:cNvSpPr/>
          <p:nvPr/>
        </p:nvSpPr>
        <p:spPr>
          <a:xfrm>
            <a:off x="7702445" y="5033179"/>
            <a:ext cx="3661515" cy="1824821"/>
          </a:xfrm>
          <a:prstGeom prst="roundRect">
            <a:avLst/>
          </a:prstGeom>
          <a:solidFill>
            <a:srgbClr val="9BE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59" name="Rectangle: Rounded Corners 17658">
            <a:extLst>
              <a:ext uri="{FF2B5EF4-FFF2-40B4-BE49-F238E27FC236}">
                <a16:creationId xmlns:a16="http://schemas.microsoft.com/office/drawing/2014/main" id="{D35276D8-51C6-2486-C0F8-6757AED98A68}"/>
              </a:ext>
            </a:extLst>
          </p:cNvPr>
          <p:cNvSpPr/>
          <p:nvPr/>
        </p:nvSpPr>
        <p:spPr>
          <a:xfrm>
            <a:off x="8363792" y="2452379"/>
            <a:ext cx="2455338" cy="4288542"/>
          </a:xfrm>
          <a:prstGeom prst="roundRect">
            <a:avLst/>
          </a:prstGeom>
          <a:solidFill>
            <a:srgbClr val="9BE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58" name="Rectangle: Rounded Corners 17657">
            <a:extLst>
              <a:ext uri="{FF2B5EF4-FFF2-40B4-BE49-F238E27FC236}">
                <a16:creationId xmlns:a16="http://schemas.microsoft.com/office/drawing/2014/main" id="{85C680AB-E512-4046-3F5B-4360E39BE482}"/>
              </a:ext>
            </a:extLst>
          </p:cNvPr>
          <p:cNvSpPr/>
          <p:nvPr/>
        </p:nvSpPr>
        <p:spPr>
          <a:xfrm>
            <a:off x="10424161" y="988282"/>
            <a:ext cx="1787091" cy="5848834"/>
          </a:xfrm>
          <a:prstGeom prst="roundRect">
            <a:avLst/>
          </a:prstGeom>
          <a:solidFill>
            <a:srgbClr val="9BE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6" name="Rectangle: Rounded Corners 17555">
            <a:extLst>
              <a:ext uri="{FF2B5EF4-FFF2-40B4-BE49-F238E27FC236}">
                <a16:creationId xmlns:a16="http://schemas.microsoft.com/office/drawing/2014/main" id="{727BF8FC-541D-A4DC-4717-BEB4D15A6BB8}"/>
              </a:ext>
            </a:extLst>
          </p:cNvPr>
          <p:cNvSpPr/>
          <p:nvPr/>
        </p:nvSpPr>
        <p:spPr>
          <a:xfrm>
            <a:off x="3903717" y="864000"/>
            <a:ext cx="4434040" cy="4201290"/>
          </a:xfrm>
          <a:prstGeom prst="roundRect">
            <a:avLst/>
          </a:prstGeom>
          <a:solidFill>
            <a:srgbClr val="DD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7" name="Rectangle: Rounded Corners 17556">
            <a:extLst>
              <a:ext uri="{FF2B5EF4-FFF2-40B4-BE49-F238E27FC236}">
                <a16:creationId xmlns:a16="http://schemas.microsoft.com/office/drawing/2014/main" id="{65B5EBE4-BBB2-482E-DC62-5C41D054A077}"/>
              </a:ext>
            </a:extLst>
          </p:cNvPr>
          <p:cNvSpPr/>
          <p:nvPr/>
        </p:nvSpPr>
        <p:spPr>
          <a:xfrm>
            <a:off x="7574346" y="874228"/>
            <a:ext cx="2849814" cy="1558880"/>
          </a:xfrm>
          <a:prstGeom prst="roundRect">
            <a:avLst/>
          </a:prstGeom>
          <a:solidFill>
            <a:srgbClr val="DD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4" name="Rectangle: Rounded Corners 17553">
            <a:extLst>
              <a:ext uri="{FF2B5EF4-FFF2-40B4-BE49-F238E27FC236}">
                <a16:creationId xmlns:a16="http://schemas.microsoft.com/office/drawing/2014/main" id="{3424FE3D-27C9-8563-E19B-0F62D70CDBB3}"/>
              </a:ext>
            </a:extLst>
          </p:cNvPr>
          <p:cNvSpPr/>
          <p:nvPr/>
        </p:nvSpPr>
        <p:spPr>
          <a:xfrm>
            <a:off x="8260146" y="1004634"/>
            <a:ext cx="2051337" cy="1256023"/>
          </a:xfrm>
          <a:prstGeom prst="roundRect">
            <a:avLst/>
          </a:prstGeom>
          <a:solidFill>
            <a:srgbClr val="1F2937"/>
          </a:solidFill>
          <a:ln w="349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53" name="Rectangle: Rounded Corners 17552">
            <a:extLst>
              <a:ext uri="{FF2B5EF4-FFF2-40B4-BE49-F238E27FC236}">
                <a16:creationId xmlns:a16="http://schemas.microsoft.com/office/drawing/2014/main" id="{72E9F6EB-4920-EF51-4528-D4E2A981019E}"/>
              </a:ext>
            </a:extLst>
          </p:cNvPr>
          <p:cNvSpPr/>
          <p:nvPr/>
        </p:nvSpPr>
        <p:spPr>
          <a:xfrm>
            <a:off x="3140121" y="5086174"/>
            <a:ext cx="4512854" cy="1750942"/>
          </a:xfrm>
          <a:prstGeom prst="roundRect">
            <a:avLst/>
          </a:prstGeom>
          <a:solidFill>
            <a:srgbClr val="CAD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1" name="Rectangle: Rounded Corners 17550">
            <a:extLst>
              <a:ext uri="{FF2B5EF4-FFF2-40B4-BE49-F238E27FC236}">
                <a16:creationId xmlns:a16="http://schemas.microsoft.com/office/drawing/2014/main" id="{55883930-8C41-56AC-390F-55C52BD44CA3}"/>
              </a:ext>
            </a:extLst>
          </p:cNvPr>
          <p:cNvSpPr/>
          <p:nvPr/>
        </p:nvSpPr>
        <p:spPr>
          <a:xfrm>
            <a:off x="0" y="776748"/>
            <a:ext cx="3854246" cy="6081252"/>
          </a:xfrm>
          <a:prstGeom prst="roundRect">
            <a:avLst>
              <a:gd name="adj" fmla="val 16922"/>
            </a:avLst>
          </a:prstGeom>
          <a:solidFill>
            <a:srgbClr val="CAD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tlCol="0" anchor="ctr"/>
          <a:lstStyle/>
          <a:p>
            <a:pPr algn="ctr"/>
            <a:endParaRPr lang="en-US"/>
          </a:p>
        </p:txBody>
      </p:sp>
      <p:pic>
        <p:nvPicPr>
          <p:cNvPr id="17540" name="Picture 17539">
            <a:extLst>
              <a:ext uri="{FF2B5EF4-FFF2-40B4-BE49-F238E27FC236}">
                <a16:creationId xmlns:a16="http://schemas.microsoft.com/office/drawing/2014/main" id="{E026FF7A-4C96-1112-7E52-CBE3B204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0010"/>
            <a:ext cx="7718487" cy="6519430"/>
          </a:xfrm>
          <a:prstGeom prst="rect">
            <a:avLst/>
          </a:prstGeom>
        </p:spPr>
      </p:pic>
      <p:sp>
        <p:nvSpPr>
          <p:cNvPr id="17546" name="Rectangle: Rounded Corners 17545">
            <a:extLst>
              <a:ext uri="{FF2B5EF4-FFF2-40B4-BE49-F238E27FC236}">
                <a16:creationId xmlns:a16="http://schemas.microsoft.com/office/drawing/2014/main" id="{A6316B93-82ED-C72F-B328-CBEE43FF734F}"/>
              </a:ext>
            </a:extLst>
          </p:cNvPr>
          <p:cNvSpPr/>
          <p:nvPr/>
        </p:nvSpPr>
        <p:spPr>
          <a:xfrm>
            <a:off x="269003" y="988283"/>
            <a:ext cx="1828799" cy="830997"/>
          </a:xfrm>
          <a:prstGeom prst="roundRect">
            <a:avLst/>
          </a:prstGeom>
          <a:solidFill>
            <a:srgbClr val="1F2937"/>
          </a:solidFill>
          <a:ln w="34925">
            <a:solidFill>
              <a:srgbClr val="04785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6253" y="49376"/>
            <a:ext cx="1250599" cy="7000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BugSquad</a:t>
            </a:r>
            <a:endParaRPr lang="en-IN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184" y="-23063"/>
            <a:ext cx="2089839" cy="986783"/>
          </a:xfrm>
          <a:prstGeom prst="rect">
            <a:avLst/>
          </a:prstGeom>
        </p:spPr>
      </p:pic>
      <p:sp>
        <p:nvSpPr>
          <p:cNvPr id="17541" name="Rectangle: Rounded Corners 17540">
            <a:extLst>
              <a:ext uri="{FF2B5EF4-FFF2-40B4-BE49-F238E27FC236}">
                <a16:creationId xmlns:a16="http://schemas.microsoft.com/office/drawing/2014/main" id="{72717F71-7BF3-D733-158E-6BD6B4C52F90}"/>
              </a:ext>
            </a:extLst>
          </p:cNvPr>
          <p:cNvSpPr/>
          <p:nvPr/>
        </p:nvSpPr>
        <p:spPr>
          <a:xfrm>
            <a:off x="6644640" y="6522720"/>
            <a:ext cx="1008334" cy="335280"/>
          </a:xfrm>
          <a:prstGeom prst="roundRect">
            <a:avLst/>
          </a:prstGeom>
          <a:solidFill>
            <a:srgbClr val="CADAF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43" name="TextBox 17542">
            <a:extLst>
              <a:ext uri="{FF2B5EF4-FFF2-40B4-BE49-F238E27FC236}">
                <a16:creationId xmlns:a16="http://schemas.microsoft.com/office/drawing/2014/main" id="{18BCEE75-D938-198F-B7CC-E2FC244A2AEC}"/>
              </a:ext>
            </a:extLst>
          </p:cNvPr>
          <p:cNvSpPr txBox="1"/>
          <p:nvPr/>
        </p:nvSpPr>
        <p:spPr>
          <a:xfrm>
            <a:off x="318473" y="988283"/>
            <a:ext cx="182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9FAF7"/>
                </a:solidFill>
              </a:rPr>
              <a:t>System Architecture</a:t>
            </a:r>
          </a:p>
        </p:txBody>
      </p:sp>
      <p:sp>
        <p:nvSpPr>
          <p:cNvPr id="17555" name="TextBox 17554">
            <a:extLst>
              <a:ext uri="{FF2B5EF4-FFF2-40B4-BE49-F238E27FC236}">
                <a16:creationId xmlns:a16="http://schemas.microsoft.com/office/drawing/2014/main" id="{32D7133A-CD82-566B-49BA-AA6E41102077}"/>
              </a:ext>
            </a:extLst>
          </p:cNvPr>
          <p:cNvSpPr txBox="1"/>
          <p:nvPr/>
        </p:nvSpPr>
        <p:spPr>
          <a:xfrm>
            <a:off x="8345171" y="1118689"/>
            <a:ext cx="1895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9FAF7"/>
                </a:solidFill>
              </a:rPr>
              <a:t>Methodology</a:t>
            </a:r>
          </a:p>
          <a:p>
            <a:r>
              <a:rPr lang="en-US" sz="2000" b="1" dirty="0">
                <a:solidFill>
                  <a:srgbClr val="F9FAF7"/>
                </a:solidFill>
              </a:rPr>
              <a:t>&amp; </a:t>
            </a:r>
          </a:p>
          <a:p>
            <a:r>
              <a:rPr lang="en-US" sz="2000" b="1" dirty="0">
                <a:solidFill>
                  <a:srgbClr val="F9FAF7"/>
                </a:solidFill>
              </a:rPr>
              <a:t>Process</a:t>
            </a:r>
          </a:p>
        </p:txBody>
      </p:sp>
      <p:graphicFrame>
        <p:nvGraphicFramePr>
          <p:cNvPr id="17595" name="Diagram 17594">
            <a:extLst>
              <a:ext uri="{FF2B5EF4-FFF2-40B4-BE49-F238E27FC236}">
                <a16:creationId xmlns:a16="http://schemas.microsoft.com/office/drawing/2014/main" id="{55C4B6EE-1FDD-6926-BCE1-84288EA7C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5260571"/>
              </p:ext>
            </p:extLst>
          </p:nvPr>
        </p:nvGraphicFramePr>
        <p:xfrm>
          <a:off x="3807164" y="1025613"/>
          <a:ext cx="4699297" cy="3849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B750D2AE-5F11-09B7-5101-A02DA5F3116B}"/>
              </a:ext>
            </a:extLst>
          </p:cNvPr>
          <p:cNvGrpSpPr/>
          <p:nvPr/>
        </p:nvGrpSpPr>
        <p:grpSpPr>
          <a:xfrm>
            <a:off x="10508852" y="1522813"/>
            <a:ext cx="2012790" cy="694813"/>
            <a:chOff x="10534126" y="1661441"/>
            <a:chExt cx="2012790" cy="694813"/>
          </a:xfrm>
        </p:grpSpPr>
        <p:sp>
          <p:nvSpPr>
            <p:cNvPr id="17661" name="Rectangle: Rounded Corners 17660">
              <a:extLst>
                <a:ext uri="{FF2B5EF4-FFF2-40B4-BE49-F238E27FC236}">
                  <a16:creationId xmlns:a16="http://schemas.microsoft.com/office/drawing/2014/main" id="{2BDE3619-F6AF-662E-6D95-627E1D48E7C7}"/>
                </a:ext>
              </a:extLst>
            </p:cNvPr>
            <p:cNvSpPr/>
            <p:nvPr/>
          </p:nvSpPr>
          <p:spPr>
            <a:xfrm>
              <a:off x="10534126" y="1661441"/>
              <a:ext cx="1611938" cy="694813"/>
            </a:xfrm>
            <a:prstGeom prst="roundRect">
              <a:avLst/>
            </a:prstGeom>
            <a:solidFill>
              <a:srgbClr val="1F2937"/>
            </a:solidFill>
            <a:ln w="34925">
              <a:solidFill>
                <a:srgbClr val="0478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62" name="TextBox 17661">
              <a:extLst>
                <a:ext uri="{FF2B5EF4-FFF2-40B4-BE49-F238E27FC236}">
                  <a16:creationId xmlns:a16="http://schemas.microsoft.com/office/drawing/2014/main" id="{0230AC0F-EDA6-90CE-DC81-8F6AEADF9AEE}"/>
                </a:ext>
              </a:extLst>
            </p:cNvPr>
            <p:cNvSpPr txBox="1"/>
            <p:nvPr/>
          </p:nvSpPr>
          <p:spPr>
            <a:xfrm>
              <a:off x="10651252" y="1832972"/>
              <a:ext cx="1895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9FAF7"/>
                  </a:solidFill>
                </a:rPr>
                <a:t>Tech Stack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3F0C6B-59E5-AF6D-4F53-9A5E447717A2}"/>
              </a:ext>
            </a:extLst>
          </p:cNvPr>
          <p:cNvGrpSpPr/>
          <p:nvPr/>
        </p:nvGrpSpPr>
        <p:grpSpPr>
          <a:xfrm>
            <a:off x="8623084" y="2715880"/>
            <a:ext cx="3337639" cy="3421011"/>
            <a:chOff x="8671627" y="2674989"/>
            <a:chExt cx="2988209" cy="313324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E84822E-165B-B248-6015-36DA3DB02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73169" y="4174323"/>
              <a:ext cx="686667" cy="310225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A5656CC-79F1-8403-B711-AA2AEA4AC444}"/>
                </a:ext>
              </a:extLst>
            </p:cNvPr>
            <p:cNvGrpSpPr/>
            <p:nvPr/>
          </p:nvGrpSpPr>
          <p:grpSpPr>
            <a:xfrm>
              <a:off x="8671627" y="2674989"/>
              <a:ext cx="2927049" cy="3133242"/>
              <a:chOff x="8671627" y="2674989"/>
              <a:chExt cx="2927049" cy="3133242"/>
            </a:xfrm>
          </p:grpSpPr>
          <p:sp>
            <p:nvSpPr>
              <p:cNvPr id="17631" name="TextBox 17630">
                <a:extLst>
                  <a:ext uri="{FF2B5EF4-FFF2-40B4-BE49-F238E27FC236}">
                    <a16:creationId xmlns:a16="http://schemas.microsoft.com/office/drawing/2014/main" id="{BBE39745-90B6-E040-4866-2CD9A2BFC43E}"/>
                  </a:ext>
                </a:extLst>
              </p:cNvPr>
              <p:cNvSpPr txBox="1"/>
              <p:nvPr/>
            </p:nvSpPr>
            <p:spPr>
              <a:xfrm>
                <a:off x="8671627" y="2674989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Frontend</a:t>
                </a:r>
              </a:p>
            </p:txBody>
          </p:sp>
          <p:sp>
            <p:nvSpPr>
              <p:cNvPr id="17635" name="TextBox 17634">
                <a:extLst>
                  <a:ext uri="{FF2B5EF4-FFF2-40B4-BE49-F238E27FC236}">
                    <a16:creationId xmlns:a16="http://schemas.microsoft.com/office/drawing/2014/main" id="{CF02BA4C-923C-46B6-92FB-75103D32E3FD}"/>
                  </a:ext>
                </a:extLst>
              </p:cNvPr>
              <p:cNvSpPr txBox="1"/>
              <p:nvPr/>
            </p:nvSpPr>
            <p:spPr>
              <a:xfrm>
                <a:off x="8685967" y="3231732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UI</a:t>
                </a:r>
              </a:p>
            </p:txBody>
          </p:sp>
          <p:sp>
            <p:nvSpPr>
              <p:cNvPr id="17639" name="TextBox 17638">
                <a:extLst>
                  <a:ext uri="{FF2B5EF4-FFF2-40B4-BE49-F238E27FC236}">
                    <a16:creationId xmlns:a16="http://schemas.microsoft.com/office/drawing/2014/main" id="{A6DF3DC1-96DD-0C8A-8856-726E3A668C63}"/>
                  </a:ext>
                </a:extLst>
              </p:cNvPr>
              <p:cNvSpPr txBox="1"/>
              <p:nvPr/>
            </p:nvSpPr>
            <p:spPr>
              <a:xfrm>
                <a:off x="8685967" y="3657571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Backend</a:t>
                </a:r>
              </a:p>
            </p:txBody>
          </p:sp>
          <p:sp>
            <p:nvSpPr>
              <p:cNvPr id="17643" name="TextBox 17642">
                <a:extLst>
                  <a:ext uri="{FF2B5EF4-FFF2-40B4-BE49-F238E27FC236}">
                    <a16:creationId xmlns:a16="http://schemas.microsoft.com/office/drawing/2014/main" id="{C68CE78E-1110-82CC-C782-8CE343E824C3}"/>
                  </a:ext>
                </a:extLst>
              </p:cNvPr>
              <p:cNvSpPr txBox="1"/>
              <p:nvPr/>
            </p:nvSpPr>
            <p:spPr>
              <a:xfrm>
                <a:off x="8685967" y="4155846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Database</a:t>
                </a:r>
              </a:p>
            </p:txBody>
          </p:sp>
          <p:sp>
            <p:nvSpPr>
              <p:cNvPr id="17647" name="TextBox 17646">
                <a:extLst>
                  <a:ext uri="{FF2B5EF4-FFF2-40B4-BE49-F238E27FC236}">
                    <a16:creationId xmlns:a16="http://schemas.microsoft.com/office/drawing/2014/main" id="{91D81202-0CDD-60E2-1EC1-DD3F78811590}"/>
                  </a:ext>
                </a:extLst>
              </p:cNvPr>
              <p:cNvSpPr txBox="1"/>
              <p:nvPr/>
            </p:nvSpPr>
            <p:spPr>
              <a:xfrm>
                <a:off x="8671627" y="4671973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Maps</a:t>
                </a:r>
              </a:p>
            </p:txBody>
          </p:sp>
          <p:sp>
            <p:nvSpPr>
              <p:cNvPr id="17651" name="TextBox 17650">
                <a:extLst>
                  <a:ext uri="{FF2B5EF4-FFF2-40B4-BE49-F238E27FC236}">
                    <a16:creationId xmlns:a16="http://schemas.microsoft.com/office/drawing/2014/main" id="{8B167D2E-5750-A3E1-D749-BDF53B86C785}"/>
                  </a:ext>
                </a:extLst>
              </p:cNvPr>
              <p:cNvSpPr txBox="1"/>
              <p:nvPr/>
            </p:nvSpPr>
            <p:spPr>
              <a:xfrm>
                <a:off x="8685967" y="5044248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Auth</a:t>
                </a:r>
              </a:p>
            </p:txBody>
          </p:sp>
          <p:sp>
            <p:nvSpPr>
              <p:cNvPr id="17657" name="TextBox 17656">
                <a:extLst>
                  <a:ext uri="{FF2B5EF4-FFF2-40B4-BE49-F238E27FC236}">
                    <a16:creationId xmlns:a16="http://schemas.microsoft.com/office/drawing/2014/main" id="{D7F4EAF9-0B8D-55D1-8DF7-01CDEF5D677D}"/>
                  </a:ext>
                </a:extLst>
              </p:cNvPr>
              <p:cNvSpPr txBox="1"/>
              <p:nvPr/>
            </p:nvSpPr>
            <p:spPr>
              <a:xfrm>
                <a:off x="8679155" y="5511547"/>
                <a:ext cx="1188000" cy="252000"/>
              </a:xfrm>
              <a:prstGeom prst="rect">
                <a:avLst/>
              </a:prstGeom>
              <a:noFill/>
            </p:spPr>
            <p:txBody>
              <a:bodyPr wrap="square" lIns="36576" tIns="36576" rIns="36576" bIns="36000" anchor="t" anchorCtr="0">
                <a:spAutoFit/>
              </a:bodyPr>
              <a:lstStyle/>
              <a:p>
                <a:pPr algn="l"/>
                <a:r>
                  <a:rPr sz="1400" b="1" dirty="0">
                    <a:solidFill>
                      <a:srgbClr val="141414"/>
                    </a:solidFill>
                    <a:latin typeface="Arial"/>
                  </a:rPr>
                  <a:t>Deployment</a:t>
                </a: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E7886B1-C8CF-4CD2-E8D0-78ABE7C30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98149" y="2708899"/>
                <a:ext cx="732832" cy="263822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10D8819-69D1-9F7E-A046-E47869200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94683" y="2708151"/>
                <a:ext cx="403993" cy="36043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97795A5-E706-3718-6294-7CAA1F2F6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92794" y="2708899"/>
                <a:ext cx="330404" cy="33040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8D7EFE7-A41A-9CC3-117F-1D10A4EC1C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98149" y="3218172"/>
                <a:ext cx="409701" cy="250622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387B9D8-5DD4-5A22-290C-75A60AC9B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flipH="1">
                <a:off x="10798713" y="3703130"/>
                <a:ext cx="318566" cy="262866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B90422B-A6AC-A946-73A2-6BF1C124D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98149" y="3638712"/>
                <a:ext cx="668785" cy="409631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44946F4-52C7-C7D5-6FD3-7BCACB6DE1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07257" y="4155721"/>
                <a:ext cx="369975" cy="369975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C5B1F860-6B57-F4A6-145A-EFEEF8056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10027989" y="4174323"/>
                <a:ext cx="363759" cy="375126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08F23EFA-0BB6-9E4A-66D3-334E479873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21882" y="4707784"/>
                <a:ext cx="884093" cy="233602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13278B0-E702-3FD0-0DEB-4BEE405657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12989" t="20507" r="11520" b="19545"/>
              <a:stretch>
                <a:fillRect/>
              </a:stretch>
            </p:blipFill>
            <p:spPr>
              <a:xfrm>
                <a:off x="11032864" y="4677337"/>
                <a:ext cx="557652" cy="295228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5551970-47EA-DA34-ED06-8B14ED0BC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62779" y="5054034"/>
                <a:ext cx="315127" cy="315127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6FC7224-16EA-E987-3ADC-846942822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627828" y="5046468"/>
                <a:ext cx="641123" cy="275591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E9CD9826-E4FA-6A67-A511-B5D02F836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33442" y="5528017"/>
                <a:ext cx="419858" cy="235530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CF2E673-081D-92EF-00C2-FAC5654203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95939" y="5516948"/>
                <a:ext cx="291283" cy="29128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A3D3F9C-6FF4-2B48-CD78-35ECAAC0698D}"/>
              </a:ext>
            </a:extLst>
          </p:cNvPr>
          <p:cNvSpPr/>
          <p:nvPr/>
        </p:nvSpPr>
        <p:spPr>
          <a:xfrm>
            <a:off x="6617841" y="1822661"/>
            <a:ext cx="5436096" cy="4862619"/>
          </a:xfrm>
          <a:prstGeom prst="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84988-1CED-FF7A-FCA0-F2FFB91324AF}"/>
              </a:ext>
            </a:extLst>
          </p:cNvPr>
          <p:cNvSpPr/>
          <p:nvPr/>
        </p:nvSpPr>
        <p:spPr>
          <a:xfrm>
            <a:off x="162064" y="1822661"/>
            <a:ext cx="5436096" cy="4862619"/>
          </a:xfrm>
          <a:prstGeom prst="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9FE6B4-C4A1-CC60-BEAA-57D570824DF6}"/>
              </a:ext>
            </a:extLst>
          </p:cNvPr>
          <p:cNvSpPr/>
          <p:nvPr/>
        </p:nvSpPr>
        <p:spPr>
          <a:xfrm>
            <a:off x="162064" y="1063836"/>
            <a:ext cx="5049520" cy="62151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89686"/>
            <a:ext cx="1251857" cy="62151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 err="1"/>
              <a:t>BugSquad</a:t>
            </a:r>
            <a:endParaRPr lang="en-IN" sz="13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74189-43C3-1E93-14A2-324793E23E49}"/>
              </a:ext>
            </a:extLst>
          </p:cNvPr>
          <p:cNvSpPr txBox="1"/>
          <p:nvPr/>
        </p:nvSpPr>
        <p:spPr>
          <a:xfrm>
            <a:off x="609600" y="11856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5B437-2689-D1BE-8404-180A41A67CAB}"/>
              </a:ext>
            </a:extLst>
          </p:cNvPr>
          <p:cNvSpPr txBox="1"/>
          <p:nvPr/>
        </p:nvSpPr>
        <p:spPr>
          <a:xfrm>
            <a:off x="7396482" y="1270120"/>
            <a:ext cx="609600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ts val="90"/>
              </a:spcBef>
              <a:spcAft>
                <a:spcPts val="30"/>
              </a:spcAf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</a:rPr>
              <a:t>Potential challenges, Risks &amp; Mitigations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04F002-D30F-747C-47E4-67FA0848EAA1}"/>
              </a:ext>
            </a:extLst>
          </p:cNvPr>
          <p:cNvSpPr/>
          <p:nvPr/>
        </p:nvSpPr>
        <p:spPr>
          <a:xfrm>
            <a:off x="6980418" y="1063837"/>
            <a:ext cx="5049520" cy="62151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4E6DC-D909-266C-B298-E50DC50E4704}"/>
              </a:ext>
            </a:extLst>
          </p:cNvPr>
          <p:cNvSpPr txBox="1"/>
          <p:nvPr/>
        </p:nvSpPr>
        <p:spPr>
          <a:xfrm>
            <a:off x="7121664" y="1199456"/>
            <a:ext cx="609600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ts val="90"/>
              </a:spcBef>
              <a:spcAft>
                <a:spcPts val="30"/>
              </a:spcAf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</a:rPr>
              <a:t>Potential challenges, Risks &amp; Mitigations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FBD42E-8031-BB87-C3B1-BA5E2B5FA301}"/>
              </a:ext>
            </a:extLst>
          </p:cNvPr>
          <p:cNvCxnSpPr>
            <a:cxnSpLocks/>
          </p:cNvCxnSpPr>
          <p:nvPr/>
        </p:nvCxnSpPr>
        <p:spPr>
          <a:xfrm>
            <a:off x="6096000" y="1095375"/>
            <a:ext cx="24001" cy="55899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5A7F4A-95C9-242D-74DE-93E136D1BE48}"/>
              </a:ext>
            </a:extLst>
          </p:cNvPr>
          <p:cNvSpPr txBox="1"/>
          <p:nvPr/>
        </p:nvSpPr>
        <p:spPr>
          <a:xfrm>
            <a:off x="6705600" y="1938607"/>
            <a:ext cx="5048865" cy="436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Risk 1 – Digital Literacy Among Informal Workers:  </a:t>
            </a:r>
            <a:r>
              <a:rPr lang="en-US" sz="1400" b="1" dirty="0">
                <a:solidFill>
                  <a:srgbClr val="142D52"/>
                </a:solidFill>
                <a:highlight>
                  <a:srgbClr val="CADAF2"/>
                </a:highlight>
                <a:latin typeface="Arial" pitchFamily="34" charset="0"/>
              </a:rPr>
              <a:t>Mitigation: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Society supervisor assisted onboarding; vernacular Hindi/English UI with visual trade icons, SMS/WhatsApp dispatch alerts, and planned voice prompts.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Risk 2 – Customer Trust &amp; Safety in Households:  </a:t>
            </a:r>
            <a:r>
              <a:rPr lang="en-US" sz="1400" b="1" dirty="0">
                <a:solidFill>
                  <a:srgbClr val="142D52"/>
                </a:solidFill>
                <a:highlight>
                  <a:srgbClr val="CADAF2"/>
                </a:highlight>
                <a:latin typeface="Arial" pitchFamily="34" charset="0"/>
              </a:rPr>
              <a:t>Mitigation: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3-Tier Verification (Govt ID + ITI/NSDC certificate + Society physical vetting badge) + mandatory 4-digit OTP exchange upon site arrival.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Risk 3 – Worker No-Show / Service SLA Delays:  </a:t>
            </a:r>
            <a:r>
              <a:rPr lang="en-US" sz="1400" b="1" dirty="0">
                <a:solidFill>
                  <a:srgbClr val="142D52"/>
                </a:solidFill>
                <a:highlight>
                  <a:srgbClr val="CADAF2"/>
                </a:highlight>
                <a:latin typeface="Arial" pitchFamily="34" charset="0"/>
              </a:rPr>
              <a:t>Mitigation: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Automated cascading re-dispatch to backup workers after 2-minute timeout; reliability score penalties for unnotified cancellations.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2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Risk 4 – Demand-Supply Volatility: </a:t>
            </a:r>
            <a:b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</a:br>
            <a:r>
              <a:rPr lang="en-US" sz="1400" b="1" dirty="0">
                <a:solidFill>
                  <a:srgbClr val="142D52"/>
                </a:solidFill>
                <a:highlight>
                  <a:srgbClr val="CADAF2"/>
                </a:highlight>
                <a:latin typeface="Arial" pitchFamily="34" charset="0"/>
              </a:rPr>
              <a:t>Mitigation</a:t>
            </a:r>
            <a:r>
              <a:rPr lang="en-US" sz="1400" dirty="0">
                <a:solidFill>
                  <a:srgbClr val="142D52"/>
                </a:solidFill>
                <a:highlight>
                  <a:srgbClr val="CADAF2"/>
                </a:highlight>
                <a:latin typeface="Arial" pitchFamily="34" charset="0"/>
              </a:rPr>
              <a:t>:</a:t>
            </a:r>
            <a:r>
              <a:rPr lang="en-US" sz="1400" dirty="0">
                <a:solidFill>
                  <a:srgbClr val="142D52"/>
                </a:solidFill>
                <a:latin typeface="Arial" pitchFamily="34" charset="0"/>
              </a:rPr>
              <a:t> AI-based seasonal surge heatmaps alert Federations to proactively mobilize, train, and cross-deploy workers in high-demand clusters.</a:t>
            </a:r>
            <a:endParaRPr lang="en-US" sz="1400" b="1" dirty="0">
              <a:solidFill>
                <a:srgbClr val="142D52"/>
              </a:solidFill>
              <a:latin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5F39D6-BEE4-B419-1B0F-5EC00C75498D}"/>
              </a:ext>
            </a:extLst>
          </p:cNvPr>
          <p:cNvSpPr txBox="1"/>
          <p:nvPr/>
        </p:nvSpPr>
        <p:spPr>
          <a:xfrm>
            <a:off x="162064" y="1938607"/>
            <a:ext cx="5262225" cy="436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Technical Feasibility: 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Built entirely on production-proven open-source technologies (Next.js, PostgreSQL, </a:t>
            </a:r>
            <a:r>
              <a:rPr lang="en-US" sz="1400" b="0" dirty="0" err="1">
                <a:solidFill>
                  <a:srgbClr val="142D52"/>
                </a:solidFill>
                <a:latin typeface="Arial" pitchFamily="34" charset="0"/>
              </a:rPr>
              <a:t>PostGIS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); achieves sub-second geo-queries; live working webapp deployed with zero proprietary hardware requirements.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Operational Feasibility: 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Plugs directly into the existing network of 48+ </a:t>
            </a:r>
            <a:r>
              <a:rPr lang="en-US" sz="1400" b="0" dirty="0" err="1">
                <a:solidFill>
                  <a:srgbClr val="142D52"/>
                </a:solidFill>
                <a:latin typeface="Arial" pitchFamily="34" charset="0"/>
              </a:rPr>
              <a:t>Labour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 Cooperative Federations and primary societies in India; Society Admins act as localized onboarding, verification, and support hubs.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Regulatory &amp; Policy Alignment: 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Fully compliant with Multi-State Cooperative Societies Act and Ministry of Cooperation digital mandates; natively integrates Pradhan Mantri Suraksha Bima Yojana (PMSBY) for worker accident insurance.</a:t>
            </a:r>
          </a:p>
          <a:p>
            <a:pPr marL="342900" indent="-342900" algn="just">
              <a:lnSpc>
                <a:spcPts val="1680"/>
              </a:lnSpc>
              <a:spcBef>
                <a:spcPts val="1500"/>
              </a:spcBef>
              <a:spcAft>
                <a:spcPts val="4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2D52"/>
                </a:solidFill>
                <a:highlight>
                  <a:srgbClr val="F9FAF7"/>
                </a:highlight>
                <a:latin typeface="Arial" pitchFamily="34" charset="0"/>
              </a:rPr>
              <a:t> Sustainable Unit Economics: </a:t>
            </a:r>
            <a:r>
              <a:rPr lang="en-US" sz="1400" b="1" dirty="0">
                <a:solidFill>
                  <a:srgbClr val="142D52"/>
                </a:solidFill>
                <a:latin typeface="Arial" pitchFamily="34" charset="0"/>
              </a:rPr>
              <a:t> </a:t>
            </a:r>
            <a:r>
              <a:rPr lang="en-US" sz="1400" b="0" dirty="0">
                <a:solidFill>
                  <a:srgbClr val="142D52"/>
                </a:solidFill>
                <a:latin typeface="Arial" pitchFamily="34" charset="0"/>
              </a:rPr>
              <a:t>88% direct to worker (financial empowerment) | 7% dedicated to Cooperative Welfare &amp; Accident Fund | 5% platform fee (fully covers cloud hosting, map APIs, and ops without external debt).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05827" y="-15122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23278"/>
            <a:ext cx="1275507" cy="6011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 err="1"/>
              <a:t>BugSquad</a:t>
            </a:r>
            <a:endParaRPr lang="en-IN" sz="13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97" name="Table 17496">
            <a:extLst>
              <a:ext uri="{FF2B5EF4-FFF2-40B4-BE49-F238E27FC236}">
                <a16:creationId xmlns:a16="http://schemas.microsoft.com/office/drawing/2014/main" id="{77362079-CF1F-FEFA-0442-588E404A7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422107"/>
              </p:ext>
            </p:extLst>
          </p:nvPr>
        </p:nvGraphicFramePr>
        <p:xfrm>
          <a:off x="162064" y="3652652"/>
          <a:ext cx="6258400" cy="30464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4600">
                  <a:extLst>
                    <a:ext uri="{9D8B030D-6E8A-4147-A177-3AD203B41FA5}">
                      <a16:colId xmlns:a16="http://schemas.microsoft.com/office/drawing/2014/main" val="3679016811"/>
                    </a:ext>
                  </a:extLst>
                </a:gridCol>
                <a:gridCol w="1564600">
                  <a:extLst>
                    <a:ext uri="{9D8B030D-6E8A-4147-A177-3AD203B41FA5}">
                      <a16:colId xmlns:a16="http://schemas.microsoft.com/office/drawing/2014/main" val="213923410"/>
                    </a:ext>
                  </a:extLst>
                </a:gridCol>
                <a:gridCol w="1564600">
                  <a:extLst>
                    <a:ext uri="{9D8B030D-6E8A-4147-A177-3AD203B41FA5}">
                      <a16:colId xmlns:a16="http://schemas.microsoft.com/office/drawing/2014/main" val="2747973625"/>
                    </a:ext>
                  </a:extLst>
                </a:gridCol>
                <a:gridCol w="1564600">
                  <a:extLst>
                    <a:ext uri="{9D8B030D-6E8A-4147-A177-3AD203B41FA5}">
                      <a16:colId xmlns:a16="http://schemas.microsoft.com/office/drawing/2014/main" val="2594409282"/>
                    </a:ext>
                  </a:extLst>
                </a:gridCol>
              </a:tblGrid>
              <a:tr h="5775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Skilled Workers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STIX Two Text"/>
                      </a:endParaRPr>
                    </a:p>
                  </a:txBody>
                  <a:tcPr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Cooperatives </a:t>
                      </a:r>
                      <a:r>
                        <a:rPr lang="en-US" sz="1300" dirty="0" err="1"/>
                        <a:t>Labour</a:t>
                      </a:r>
                      <a:endParaRPr lang="en-US" sz="1300" dirty="0"/>
                    </a:p>
                  </a:txBody>
                  <a:tcPr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Households &amp; Consumers</a:t>
                      </a:r>
                    </a:p>
                  </a:txBody>
                  <a:tcPr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Government &amp; Cooperatives</a:t>
                      </a:r>
                    </a:p>
                  </a:txBody>
                  <a:tcPr>
                    <a:solidFill>
                      <a:srgbClr val="14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44512"/>
                  </a:ext>
                </a:extLst>
              </a:tr>
              <a:tr h="2065282"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30–40% increase in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net take-home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earnings, digital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financial inclusion,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formal work history,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and guaranteed</a:t>
                      </a:r>
                    </a:p>
                    <a:p>
                      <a:pPr algn="just"/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accident insurance.</a:t>
                      </a:r>
                      <a:endParaRPr lang="en-US" sz="1300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DDF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Complete digital transformation from paper registries to live GIS workforce tracking dashboards, automated bookkeeping, and aggregated institutional B2B maintenance contracts.</a:t>
                      </a:r>
                    </a:p>
                  </a:txBody>
                  <a:tcPr>
                    <a:solidFill>
                      <a:srgbClr val="DDF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Access to verified, police/society-vetted local tradespeople at transparent standardized rates (zero surge gouging), with a 30-minute rapid emergency response target.</a:t>
                      </a:r>
                      <a:endParaRPr lang="en-US" sz="1300" dirty="0">
                        <a:solidFill>
                          <a:schemeClr val="tx1"/>
                        </a:solidFill>
                        <a:latin typeface="Arial" pitchFamily="34" charset="0"/>
                      </a:endParaRPr>
                    </a:p>
                  </a:txBody>
                  <a:tcPr>
                    <a:solidFill>
                      <a:srgbClr val="DDF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Direct realization of Ministry of Cooperation’s "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</a:rPr>
                        <a:t>Sahakar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se Samriddhi" mandate, formalizing the unorganized gig economy and integrating workers into national safety nets.</a:t>
                      </a:r>
                    </a:p>
                  </a:txBody>
                  <a:tcPr>
                    <a:solidFill>
                      <a:srgbClr val="DD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850704"/>
                  </a:ext>
                </a:extLst>
              </a:tr>
            </a:tbl>
          </a:graphicData>
        </a:graphic>
      </p:graphicFrame>
      <p:grpSp>
        <p:nvGrpSpPr>
          <p:cNvPr id="17665" name="Group 17664">
            <a:extLst>
              <a:ext uri="{FF2B5EF4-FFF2-40B4-BE49-F238E27FC236}">
                <a16:creationId xmlns:a16="http://schemas.microsoft.com/office/drawing/2014/main" id="{452D174E-051E-07F3-9E30-D47CD252AD3C}"/>
              </a:ext>
            </a:extLst>
          </p:cNvPr>
          <p:cNvGrpSpPr/>
          <p:nvPr/>
        </p:nvGrpSpPr>
        <p:grpSpPr>
          <a:xfrm>
            <a:off x="1997818" y="689432"/>
            <a:ext cx="2590357" cy="2848302"/>
            <a:chOff x="7542299" y="1063837"/>
            <a:chExt cx="3223180" cy="3595086"/>
          </a:xfrm>
        </p:grpSpPr>
        <p:grpSp>
          <p:nvGrpSpPr>
            <p:cNvPr id="17582" name="Group 17581">
              <a:extLst>
                <a:ext uri="{FF2B5EF4-FFF2-40B4-BE49-F238E27FC236}">
                  <a16:creationId xmlns:a16="http://schemas.microsoft.com/office/drawing/2014/main" id="{602831A6-2C2C-D5BE-0773-DB9627B264B3}"/>
                </a:ext>
              </a:extLst>
            </p:cNvPr>
            <p:cNvGrpSpPr/>
            <p:nvPr/>
          </p:nvGrpSpPr>
          <p:grpSpPr>
            <a:xfrm>
              <a:off x="7542299" y="1063837"/>
              <a:ext cx="3223180" cy="3595086"/>
              <a:chOff x="247936" y="826456"/>
              <a:chExt cx="3223180" cy="3595086"/>
            </a:xfrm>
          </p:grpSpPr>
          <p:sp>
            <p:nvSpPr>
              <p:cNvPr id="17659" name="Rounded Rectangle 2">
                <a:extLst>
                  <a:ext uri="{FF2B5EF4-FFF2-40B4-BE49-F238E27FC236}">
                    <a16:creationId xmlns:a16="http://schemas.microsoft.com/office/drawing/2014/main" id="{E2A31B8E-20A9-8E30-4F3B-F37E9A3A3A7F}"/>
                  </a:ext>
                </a:extLst>
              </p:cNvPr>
              <p:cNvSpPr/>
              <p:nvPr/>
            </p:nvSpPr>
            <p:spPr>
              <a:xfrm>
                <a:off x="330582" y="2066141"/>
                <a:ext cx="3057889" cy="82645"/>
              </a:xfrm>
              <a:custGeom>
                <a:avLst/>
                <a:gdLst/>
                <a:ahLst/>
                <a:cxnLst/>
                <a:rect l="0" t="0" r="0" b="0"/>
                <a:pathLst>
                  <a:path w="3057889" h="82645">
                    <a:moveTo>
                      <a:pt x="82645" y="82645"/>
                    </a:moveTo>
                    <a:lnTo>
                      <a:pt x="2975243" y="82645"/>
                    </a:lnTo>
                    <a:cubicBezTo>
                      <a:pt x="2975243" y="37004"/>
                      <a:pt x="3018136" y="0"/>
                      <a:pt x="3057889" y="0"/>
                    </a:cubicBezTo>
                    <a:lnTo>
                      <a:pt x="0" y="0"/>
                    </a:lnTo>
                    <a:cubicBezTo>
                      <a:pt x="39752" y="0"/>
                      <a:pt x="82645" y="37004"/>
                      <a:pt x="82645" y="82645"/>
                    </a:cubicBez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60" name="Rounded Rectangle 3">
                <a:extLst>
                  <a:ext uri="{FF2B5EF4-FFF2-40B4-BE49-F238E27FC236}">
                    <a16:creationId xmlns:a16="http://schemas.microsoft.com/office/drawing/2014/main" id="{EE0E7A9E-A419-7875-DCB0-52397CA172B6}"/>
                  </a:ext>
                </a:extLst>
              </p:cNvPr>
              <p:cNvSpPr/>
              <p:nvPr/>
            </p:nvSpPr>
            <p:spPr>
              <a:xfrm>
                <a:off x="330582" y="1900850"/>
                <a:ext cx="3057889" cy="165291"/>
              </a:xfrm>
              <a:custGeom>
                <a:avLst/>
                <a:gdLst/>
                <a:ahLst/>
                <a:cxnLst/>
                <a:rect l="0" t="0" r="0" b="0"/>
                <a:pathLst>
                  <a:path w="3057889" h="165291">
                    <a:moveTo>
                      <a:pt x="3057889" y="0"/>
                    </a:moveTo>
                    <a:lnTo>
                      <a:pt x="0" y="0"/>
                    </a:lnTo>
                    <a:lnTo>
                      <a:pt x="0" y="165291"/>
                    </a:lnTo>
                    <a:lnTo>
                      <a:pt x="3057889" y="165291"/>
                    </a:lnTo>
                    <a:lnTo>
                      <a:pt x="3057889" y="0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61" name="Rounded Rectangle 4">
                <a:extLst>
                  <a:ext uri="{FF2B5EF4-FFF2-40B4-BE49-F238E27FC236}">
                    <a16:creationId xmlns:a16="http://schemas.microsoft.com/office/drawing/2014/main" id="{5D044660-B701-C51B-79E6-0B551D9E0450}"/>
                  </a:ext>
                </a:extLst>
              </p:cNvPr>
              <p:cNvSpPr/>
              <p:nvPr/>
            </p:nvSpPr>
            <p:spPr>
              <a:xfrm>
                <a:off x="247936" y="4173605"/>
                <a:ext cx="3223180" cy="82645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82645">
                    <a:moveTo>
                      <a:pt x="3223180" y="82645"/>
                    </a:moveTo>
                    <a:cubicBezTo>
                      <a:pt x="3192698" y="82645"/>
                      <a:pt x="3140534" y="44766"/>
                      <a:pt x="3140534" y="0"/>
                    </a:cubicBezTo>
                    <a:lnTo>
                      <a:pt x="82645" y="0"/>
                    </a:lnTo>
                    <a:cubicBezTo>
                      <a:pt x="82645" y="44766"/>
                      <a:pt x="36019" y="82645"/>
                      <a:pt x="0" y="82645"/>
                    </a:cubicBezTo>
                    <a:lnTo>
                      <a:pt x="3223180" y="82645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62" name="Rounded Rectangle 5">
                <a:extLst>
                  <a:ext uri="{FF2B5EF4-FFF2-40B4-BE49-F238E27FC236}">
                    <a16:creationId xmlns:a16="http://schemas.microsoft.com/office/drawing/2014/main" id="{02C5D6B6-7077-2562-7BC6-DAC5456F8BD3}"/>
                  </a:ext>
                </a:extLst>
              </p:cNvPr>
              <p:cNvSpPr/>
              <p:nvPr/>
            </p:nvSpPr>
            <p:spPr>
              <a:xfrm>
                <a:off x="247936" y="4256251"/>
                <a:ext cx="3223180" cy="165291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165291">
                    <a:moveTo>
                      <a:pt x="0" y="165291"/>
                    </a:moveTo>
                    <a:lnTo>
                      <a:pt x="3223180" y="165291"/>
                    </a:lnTo>
                    <a:lnTo>
                      <a:pt x="3223180" y="0"/>
                    </a:lnTo>
                    <a:lnTo>
                      <a:pt x="0" y="0"/>
                    </a:lnTo>
                    <a:lnTo>
                      <a:pt x="0" y="165291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63" name="Rounded Rectangle 6">
                <a:extLst>
                  <a:ext uri="{FF2B5EF4-FFF2-40B4-BE49-F238E27FC236}">
                    <a16:creationId xmlns:a16="http://schemas.microsoft.com/office/drawing/2014/main" id="{EA0EE952-6909-9060-5D29-2E4ACF6E9358}"/>
                  </a:ext>
                </a:extLst>
              </p:cNvPr>
              <p:cNvSpPr/>
              <p:nvPr/>
            </p:nvSpPr>
            <p:spPr>
              <a:xfrm>
                <a:off x="247936" y="826456"/>
                <a:ext cx="3223180" cy="1074393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1074393">
                    <a:moveTo>
                      <a:pt x="1611590" y="0"/>
                    </a:moveTo>
                    <a:lnTo>
                      <a:pt x="3223180" y="785133"/>
                    </a:lnTo>
                    <a:lnTo>
                      <a:pt x="3223180" y="1074393"/>
                    </a:lnTo>
                    <a:lnTo>
                      <a:pt x="0" y="1074393"/>
                    </a:lnTo>
                    <a:lnTo>
                      <a:pt x="0" y="785133"/>
                    </a:lnTo>
                    <a:lnTo>
                      <a:pt x="1611590" y="0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64" name="Rounded Rectangle 7">
                <a:extLst>
                  <a:ext uri="{FF2B5EF4-FFF2-40B4-BE49-F238E27FC236}">
                    <a16:creationId xmlns:a16="http://schemas.microsoft.com/office/drawing/2014/main" id="{027BA4F0-E9E9-4D73-E0A0-66B080953A0B}"/>
                  </a:ext>
                </a:extLst>
              </p:cNvPr>
              <p:cNvSpPr/>
              <p:nvPr/>
            </p:nvSpPr>
            <p:spPr>
              <a:xfrm>
                <a:off x="371905" y="991747"/>
                <a:ext cx="2975243" cy="743810"/>
              </a:xfrm>
              <a:custGeom>
                <a:avLst/>
                <a:gdLst/>
                <a:ahLst/>
                <a:cxnLst/>
                <a:rect l="0" t="0" r="0" b="0"/>
                <a:pathLst>
                  <a:path w="2975243" h="743810">
                    <a:moveTo>
                      <a:pt x="1487036" y="0"/>
                    </a:moveTo>
                    <a:lnTo>
                      <a:pt x="0" y="743810"/>
                    </a:lnTo>
                    <a:lnTo>
                      <a:pt x="2975243" y="743810"/>
                    </a:lnTo>
                    <a:lnTo>
                      <a:pt x="1487036" y="0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3" name="Group 17582">
              <a:extLst>
                <a:ext uri="{FF2B5EF4-FFF2-40B4-BE49-F238E27FC236}">
                  <a16:creationId xmlns:a16="http://schemas.microsoft.com/office/drawing/2014/main" id="{6FB46D26-9854-B5C2-8CD9-51A34D36AC8C}"/>
                </a:ext>
              </a:extLst>
            </p:cNvPr>
            <p:cNvGrpSpPr/>
            <p:nvPr/>
          </p:nvGrpSpPr>
          <p:grpSpPr>
            <a:xfrm>
              <a:off x="7542299" y="1063837"/>
              <a:ext cx="3223180" cy="3595086"/>
              <a:chOff x="247936" y="826456"/>
              <a:chExt cx="3223180" cy="3595086"/>
            </a:xfrm>
          </p:grpSpPr>
          <p:sp>
            <p:nvSpPr>
              <p:cNvPr id="17653" name="Rounded Rectangle 9">
                <a:extLst>
                  <a:ext uri="{FF2B5EF4-FFF2-40B4-BE49-F238E27FC236}">
                    <a16:creationId xmlns:a16="http://schemas.microsoft.com/office/drawing/2014/main" id="{54B7D5D6-968C-BC1F-A0A6-E2AC19E7410F}"/>
                  </a:ext>
                </a:extLst>
              </p:cNvPr>
              <p:cNvSpPr/>
              <p:nvPr/>
            </p:nvSpPr>
            <p:spPr>
              <a:xfrm>
                <a:off x="330582" y="2066141"/>
                <a:ext cx="3057889" cy="82645"/>
              </a:xfrm>
              <a:custGeom>
                <a:avLst/>
                <a:gdLst/>
                <a:ahLst/>
                <a:cxnLst/>
                <a:rect l="0" t="0" r="0" b="0"/>
                <a:pathLst>
                  <a:path w="3057889" h="82645">
                    <a:moveTo>
                      <a:pt x="82645" y="82645"/>
                    </a:moveTo>
                    <a:lnTo>
                      <a:pt x="2975243" y="82645"/>
                    </a:lnTo>
                    <a:cubicBezTo>
                      <a:pt x="2975243" y="37007"/>
                      <a:pt x="3018137" y="0"/>
                      <a:pt x="3057889" y="0"/>
                    </a:cubicBezTo>
                    <a:lnTo>
                      <a:pt x="0" y="0"/>
                    </a:lnTo>
                    <a:cubicBezTo>
                      <a:pt x="39751" y="0"/>
                      <a:pt x="82645" y="37007"/>
                      <a:pt x="82645" y="82645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4" name="Rounded Rectangle 10">
                <a:extLst>
                  <a:ext uri="{FF2B5EF4-FFF2-40B4-BE49-F238E27FC236}">
                    <a16:creationId xmlns:a16="http://schemas.microsoft.com/office/drawing/2014/main" id="{F6BF7CB4-B2B5-EB95-9764-E5ACE26A0C33}"/>
                  </a:ext>
                </a:extLst>
              </p:cNvPr>
              <p:cNvSpPr/>
              <p:nvPr/>
            </p:nvSpPr>
            <p:spPr>
              <a:xfrm>
                <a:off x="330582" y="1900850"/>
                <a:ext cx="3057889" cy="165291"/>
              </a:xfrm>
              <a:custGeom>
                <a:avLst/>
                <a:gdLst/>
                <a:ahLst/>
                <a:cxnLst/>
                <a:rect l="0" t="0" r="0" b="0"/>
                <a:pathLst>
                  <a:path w="3057889" h="165291">
                    <a:moveTo>
                      <a:pt x="3057889" y="0"/>
                    </a:moveTo>
                    <a:lnTo>
                      <a:pt x="0" y="0"/>
                    </a:lnTo>
                    <a:lnTo>
                      <a:pt x="0" y="165291"/>
                    </a:lnTo>
                    <a:lnTo>
                      <a:pt x="3057889" y="165291"/>
                    </a:lnTo>
                    <a:lnTo>
                      <a:pt x="3057889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5" name="Rounded Rectangle 11">
                <a:extLst>
                  <a:ext uri="{FF2B5EF4-FFF2-40B4-BE49-F238E27FC236}">
                    <a16:creationId xmlns:a16="http://schemas.microsoft.com/office/drawing/2014/main" id="{4A6EC5DE-9B87-09B1-85EF-03897FD33577}"/>
                  </a:ext>
                </a:extLst>
              </p:cNvPr>
              <p:cNvSpPr/>
              <p:nvPr/>
            </p:nvSpPr>
            <p:spPr>
              <a:xfrm>
                <a:off x="247936" y="4173605"/>
                <a:ext cx="3223180" cy="82645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82645">
                    <a:moveTo>
                      <a:pt x="3223180" y="82645"/>
                    </a:moveTo>
                    <a:cubicBezTo>
                      <a:pt x="3192700" y="82645"/>
                      <a:pt x="3140534" y="44766"/>
                      <a:pt x="3140534" y="0"/>
                    </a:cubicBezTo>
                    <a:lnTo>
                      <a:pt x="82645" y="0"/>
                    </a:lnTo>
                    <a:cubicBezTo>
                      <a:pt x="82645" y="44766"/>
                      <a:pt x="36021" y="82645"/>
                      <a:pt x="0" y="82645"/>
                    </a:cubicBezTo>
                    <a:lnTo>
                      <a:pt x="3223180" y="82645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6" name="Rounded Rectangle 12">
                <a:extLst>
                  <a:ext uri="{FF2B5EF4-FFF2-40B4-BE49-F238E27FC236}">
                    <a16:creationId xmlns:a16="http://schemas.microsoft.com/office/drawing/2014/main" id="{BD6F56BC-01E8-1705-47F5-AB6FC98FEF71}"/>
                  </a:ext>
                </a:extLst>
              </p:cNvPr>
              <p:cNvSpPr/>
              <p:nvPr/>
            </p:nvSpPr>
            <p:spPr>
              <a:xfrm>
                <a:off x="247936" y="4256251"/>
                <a:ext cx="3223180" cy="165291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165291">
                    <a:moveTo>
                      <a:pt x="0" y="165291"/>
                    </a:moveTo>
                    <a:lnTo>
                      <a:pt x="3223180" y="165291"/>
                    </a:lnTo>
                    <a:lnTo>
                      <a:pt x="3223180" y="0"/>
                    </a:lnTo>
                    <a:lnTo>
                      <a:pt x="0" y="0"/>
                    </a:lnTo>
                    <a:lnTo>
                      <a:pt x="0" y="165291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7" name="Rounded Rectangle 13">
                <a:extLst>
                  <a:ext uri="{FF2B5EF4-FFF2-40B4-BE49-F238E27FC236}">
                    <a16:creationId xmlns:a16="http://schemas.microsoft.com/office/drawing/2014/main" id="{7473DF73-DB1F-3B68-E083-959CAB7CAA36}"/>
                  </a:ext>
                </a:extLst>
              </p:cNvPr>
              <p:cNvSpPr/>
              <p:nvPr/>
            </p:nvSpPr>
            <p:spPr>
              <a:xfrm>
                <a:off x="247936" y="826456"/>
                <a:ext cx="3223180" cy="1074393"/>
              </a:xfrm>
              <a:custGeom>
                <a:avLst/>
                <a:gdLst/>
                <a:ahLst/>
                <a:cxnLst/>
                <a:rect l="0" t="0" r="0" b="0"/>
                <a:pathLst>
                  <a:path w="3223180" h="1074393">
                    <a:moveTo>
                      <a:pt x="1611590" y="0"/>
                    </a:moveTo>
                    <a:lnTo>
                      <a:pt x="3223180" y="785133"/>
                    </a:lnTo>
                    <a:lnTo>
                      <a:pt x="3223180" y="1074393"/>
                    </a:lnTo>
                    <a:lnTo>
                      <a:pt x="0" y="1074393"/>
                    </a:lnTo>
                    <a:lnTo>
                      <a:pt x="0" y="785133"/>
                    </a:lnTo>
                    <a:lnTo>
                      <a:pt x="1611590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8" name="Rounded Rectangle 14">
                <a:extLst>
                  <a:ext uri="{FF2B5EF4-FFF2-40B4-BE49-F238E27FC236}">
                    <a16:creationId xmlns:a16="http://schemas.microsoft.com/office/drawing/2014/main" id="{88546DEB-951B-9EA7-A8E8-BE9751C5605E}"/>
                  </a:ext>
                </a:extLst>
              </p:cNvPr>
              <p:cNvSpPr/>
              <p:nvPr/>
            </p:nvSpPr>
            <p:spPr>
              <a:xfrm>
                <a:off x="371905" y="991747"/>
                <a:ext cx="2975243" cy="743810"/>
              </a:xfrm>
              <a:custGeom>
                <a:avLst/>
                <a:gdLst/>
                <a:ahLst/>
                <a:cxnLst/>
                <a:rect l="0" t="0" r="0" b="0"/>
                <a:pathLst>
                  <a:path w="2975243" h="743810">
                    <a:moveTo>
                      <a:pt x="1487039" y="0"/>
                    </a:moveTo>
                    <a:lnTo>
                      <a:pt x="0" y="743810"/>
                    </a:lnTo>
                    <a:lnTo>
                      <a:pt x="2975243" y="743810"/>
                    </a:lnTo>
                    <a:lnTo>
                      <a:pt x="1487039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4" name="Group 17583">
              <a:extLst>
                <a:ext uri="{FF2B5EF4-FFF2-40B4-BE49-F238E27FC236}">
                  <a16:creationId xmlns:a16="http://schemas.microsoft.com/office/drawing/2014/main" id="{2719811C-C981-00EA-B14B-AECA6CE76DE2}"/>
                </a:ext>
              </a:extLst>
            </p:cNvPr>
            <p:cNvGrpSpPr/>
            <p:nvPr/>
          </p:nvGrpSpPr>
          <p:grpSpPr>
            <a:xfrm>
              <a:off x="7707591" y="2386168"/>
              <a:ext cx="661165" cy="2024804"/>
              <a:chOff x="413228" y="2148787"/>
              <a:chExt cx="661165" cy="2024804"/>
            </a:xfrm>
          </p:grpSpPr>
          <p:sp>
            <p:nvSpPr>
              <p:cNvPr id="17646" name="Rounded Rectangle 16">
                <a:extLst>
                  <a:ext uri="{FF2B5EF4-FFF2-40B4-BE49-F238E27FC236}">
                    <a16:creationId xmlns:a16="http://schemas.microsoft.com/office/drawing/2014/main" id="{F046F8FA-EE24-F362-34EC-200E56680F34}"/>
                  </a:ext>
                </a:extLst>
              </p:cNvPr>
              <p:cNvSpPr/>
              <p:nvPr/>
            </p:nvSpPr>
            <p:spPr>
              <a:xfrm>
                <a:off x="512499" y="2562421"/>
                <a:ext cx="462774" cy="1198010"/>
              </a:xfrm>
              <a:custGeom>
                <a:avLst/>
                <a:gdLst/>
                <a:ahLst/>
                <a:cxnLst/>
                <a:rect l="0" t="0" r="0" b="0"/>
                <a:pathLst>
                  <a:path w="462774" h="1198010">
                    <a:moveTo>
                      <a:pt x="99126" y="0"/>
                    </a:moveTo>
                    <a:lnTo>
                      <a:pt x="363578" y="0"/>
                    </a:lnTo>
                    <a:lnTo>
                      <a:pt x="462774" y="1198010"/>
                    </a:lnTo>
                    <a:lnTo>
                      <a:pt x="0" y="1198010"/>
                    </a:lnTo>
                    <a:lnTo>
                      <a:pt x="99195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7" name="Rounded Rectangle 17">
                <a:extLst>
                  <a:ext uri="{FF2B5EF4-FFF2-40B4-BE49-F238E27FC236}">
                    <a16:creationId xmlns:a16="http://schemas.microsoft.com/office/drawing/2014/main" id="{BFF57D89-54CE-E179-2548-3AD38C662BB4}"/>
                  </a:ext>
                </a:extLst>
              </p:cNvPr>
              <p:cNvSpPr/>
              <p:nvPr/>
            </p:nvSpPr>
            <p:spPr>
              <a:xfrm>
                <a:off x="512416" y="2148787"/>
                <a:ext cx="462781" cy="207103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207103">
                    <a:moveTo>
                      <a:pt x="0" y="0"/>
                    </a:moveTo>
                    <a:lnTo>
                      <a:pt x="462781" y="0"/>
                    </a:lnTo>
                    <a:lnTo>
                      <a:pt x="462781" y="207103"/>
                    </a:lnTo>
                    <a:lnTo>
                      <a:pt x="0" y="20710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8" name="Rounded Rectangle 18">
                <a:extLst>
                  <a:ext uri="{FF2B5EF4-FFF2-40B4-BE49-F238E27FC236}">
                    <a16:creationId xmlns:a16="http://schemas.microsoft.com/office/drawing/2014/main" id="{ECE2A9D2-5CCB-8DB0-598C-DC49A6B98700}"/>
                  </a:ext>
                </a:extLst>
              </p:cNvPr>
              <p:cNvSpPr/>
              <p:nvPr/>
            </p:nvSpPr>
            <p:spPr>
              <a:xfrm>
                <a:off x="413228" y="3967046"/>
                <a:ext cx="661165" cy="206545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5">
                    <a:moveTo>
                      <a:pt x="0" y="206545"/>
                    </a:moveTo>
                    <a:lnTo>
                      <a:pt x="661165" y="206545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5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9" name="Rounded Rectangle 19">
                <a:extLst>
                  <a:ext uri="{FF2B5EF4-FFF2-40B4-BE49-F238E27FC236}">
                    <a16:creationId xmlns:a16="http://schemas.microsoft.com/office/drawing/2014/main" id="{F872E298-F015-C058-323D-AFD1F85F6336}"/>
                  </a:ext>
                </a:extLst>
              </p:cNvPr>
              <p:cNvSpPr/>
              <p:nvPr/>
            </p:nvSpPr>
            <p:spPr>
              <a:xfrm>
                <a:off x="512354" y="2355869"/>
                <a:ext cx="462836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36" h="103307">
                    <a:moveTo>
                      <a:pt x="61" y="0"/>
                    </a:moveTo>
                    <a:lnTo>
                      <a:pt x="462836" y="0"/>
                    </a:lnTo>
                    <a:cubicBezTo>
                      <a:pt x="408042" y="0"/>
                      <a:pt x="363647" y="46240"/>
                      <a:pt x="363647" y="103307"/>
                    </a:cubicBezTo>
                    <a:lnTo>
                      <a:pt x="99188" y="103307"/>
                    </a:lnTo>
                    <a:cubicBezTo>
                      <a:pt x="99188" y="46240"/>
                      <a:pt x="54794" y="0"/>
                      <a:pt x="0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0" name="Rounded Rectangle 20">
                <a:extLst>
                  <a:ext uri="{FF2B5EF4-FFF2-40B4-BE49-F238E27FC236}">
                    <a16:creationId xmlns:a16="http://schemas.microsoft.com/office/drawing/2014/main" id="{D90B4161-3644-9E3A-2953-7D9545687F8A}"/>
                  </a:ext>
                </a:extLst>
              </p:cNvPr>
              <p:cNvSpPr/>
              <p:nvPr/>
            </p:nvSpPr>
            <p:spPr>
              <a:xfrm>
                <a:off x="413228" y="3863753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71" y="103307"/>
                      <a:pt x="561969" y="57066"/>
                      <a:pt x="561969" y="0"/>
                    </a:cubicBezTo>
                    <a:lnTo>
                      <a:pt x="99195" y="0"/>
                    </a:lnTo>
                    <a:cubicBezTo>
                      <a:pt x="99195" y="57066"/>
                      <a:pt x="54794" y="103307"/>
                      <a:pt x="0" y="103307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1" name="Rounded Rectangle 21">
                <a:extLst>
                  <a:ext uri="{FF2B5EF4-FFF2-40B4-BE49-F238E27FC236}">
                    <a16:creationId xmlns:a16="http://schemas.microsoft.com/office/drawing/2014/main" id="{6EEEABAF-DCD2-5E79-E28F-E6DF5198770C}"/>
                  </a:ext>
                </a:extLst>
              </p:cNvPr>
              <p:cNvSpPr/>
              <p:nvPr/>
            </p:nvSpPr>
            <p:spPr>
              <a:xfrm>
                <a:off x="537224" y="2459176"/>
                <a:ext cx="413242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2" h="103307">
                    <a:moveTo>
                      <a:pt x="49594" y="0"/>
                    </a:moveTo>
                    <a:lnTo>
                      <a:pt x="363647" y="0"/>
                    </a:lnTo>
                    <a:cubicBezTo>
                      <a:pt x="391044" y="0"/>
                      <a:pt x="413242" y="23120"/>
                      <a:pt x="413242" y="51653"/>
                    </a:cubicBezTo>
                    <a:cubicBezTo>
                      <a:pt x="413242" y="80186"/>
                      <a:pt x="391044" y="103307"/>
                      <a:pt x="363647" y="103307"/>
                    </a:cubicBezTo>
                    <a:lnTo>
                      <a:pt x="49594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20"/>
                      <a:pt x="22197" y="0"/>
                      <a:pt x="49594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52" name="Rounded Rectangle 22">
                <a:extLst>
                  <a:ext uri="{FF2B5EF4-FFF2-40B4-BE49-F238E27FC236}">
                    <a16:creationId xmlns:a16="http://schemas.microsoft.com/office/drawing/2014/main" id="{959CE47B-E9ED-AEFC-6E22-9B1D250C2720}"/>
                  </a:ext>
                </a:extLst>
              </p:cNvPr>
              <p:cNvSpPr/>
              <p:nvPr/>
            </p:nvSpPr>
            <p:spPr>
              <a:xfrm>
                <a:off x="462836" y="3760501"/>
                <a:ext cx="561969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69" h="103307">
                    <a:moveTo>
                      <a:pt x="49601" y="0"/>
                    </a:moveTo>
                    <a:lnTo>
                      <a:pt x="512375" y="0"/>
                    </a:lnTo>
                    <a:cubicBezTo>
                      <a:pt x="539772" y="0"/>
                      <a:pt x="561969" y="23113"/>
                      <a:pt x="561969" y="51653"/>
                    </a:cubicBezTo>
                    <a:cubicBezTo>
                      <a:pt x="561969" y="80186"/>
                      <a:pt x="539772" y="103307"/>
                      <a:pt x="512375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13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5" name="Group 17584">
              <a:extLst>
                <a:ext uri="{FF2B5EF4-FFF2-40B4-BE49-F238E27FC236}">
                  <a16:creationId xmlns:a16="http://schemas.microsoft.com/office/drawing/2014/main" id="{28F3C192-AB2F-356C-8F33-B5DDF1B5272D}"/>
                </a:ext>
              </a:extLst>
            </p:cNvPr>
            <p:cNvGrpSpPr/>
            <p:nvPr/>
          </p:nvGrpSpPr>
          <p:grpSpPr>
            <a:xfrm>
              <a:off x="7707591" y="2386168"/>
              <a:ext cx="661165" cy="2024802"/>
              <a:chOff x="413228" y="2148787"/>
              <a:chExt cx="661165" cy="2024802"/>
            </a:xfrm>
          </p:grpSpPr>
          <p:sp>
            <p:nvSpPr>
              <p:cNvPr id="17639" name="Rounded Rectangle 24">
                <a:extLst>
                  <a:ext uri="{FF2B5EF4-FFF2-40B4-BE49-F238E27FC236}">
                    <a16:creationId xmlns:a16="http://schemas.microsoft.com/office/drawing/2014/main" id="{1D7EABD0-2CE2-AD24-3CE5-CFF628CEF1F5}"/>
                  </a:ext>
                </a:extLst>
              </p:cNvPr>
              <p:cNvSpPr/>
              <p:nvPr/>
            </p:nvSpPr>
            <p:spPr>
              <a:xfrm>
                <a:off x="512499" y="2562418"/>
                <a:ext cx="462775" cy="1198014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1198014">
                    <a:moveTo>
                      <a:pt x="99127" y="0"/>
                    </a:moveTo>
                    <a:lnTo>
                      <a:pt x="363580" y="0"/>
                    </a:lnTo>
                    <a:lnTo>
                      <a:pt x="462775" y="1198014"/>
                    </a:lnTo>
                    <a:lnTo>
                      <a:pt x="0" y="1198014"/>
                    </a:lnTo>
                    <a:lnTo>
                      <a:pt x="99194" y="0"/>
                    </a:lnTo>
                    <a:lnTo>
                      <a:pt x="99127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0" name="Rounded Rectangle 25">
                <a:extLst>
                  <a:ext uri="{FF2B5EF4-FFF2-40B4-BE49-F238E27FC236}">
                    <a16:creationId xmlns:a16="http://schemas.microsoft.com/office/drawing/2014/main" id="{652AEE1F-7AEC-2D1C-67C9-77330572A016}"/>
                  </a:ext>
                </a:extLst>
              </p:cNvPr>
              <p:cNvSpPr/>
              <p:nvPr/>
            </p:nvSpPr>
            <p:spPr>
              <a:xfrm>
                <a:off x="512419" y="2148787"/>
                <a:ext cx="462775" cy="207100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207100">
                    <a:moveTo>
                      <a:pt x="0" y="0"/>
                    </a:moveTo>
                    <a:lnTo>
                      <a:pt x="462775" y="0"/>
                    </a:lnTo>
                    <a:lnTo>
                      <a:pt x="462775" y="207100"/>
                    </a:lnTo>
                    <a:lnTo>
                      <a:pt x="0" y="2071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1" name="Rounded Rectangle 26">
                <a:extLst>
                  <a:ext uri="{FF2B5EF4-FFF2-40B4-BE49-F238E27FC236}">
                    <a16:creationId xmlns:a16="http://schemas.microsoft.com/office/drawing/2014/main" id="{AF82E153-DFA0-5335-BBEB-DCDBB46A2EAE}"/>
                  </a:ext>
                </a:extLst>
              </p:cNvPr>
              <p:cNvSpPr/>
              <p:nvPr/>
            </p:nvSpPr>
            <p:spPr>
              <a:xfrm>
                <a:off x="413228" y="3967045"/>
                <a:ext cx="661165" cy="206544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4">
                    <a:moveTo>
                      <a:pt x="0" y="206544"/>
                    </a:moveTo>
                    <a:lnTo>
                      <a:pt x="661165" y="206544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4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2" name="Rounded Rectangle 27">
                <a:extLst>
                  <a:ext uri="{FF2B5EF4-FFF2-40B4-BE49-F238E27FC236}">
                    <a16:creationId xmlns:a16="http://schemas.microsoft.com/office/drawing/2014/main" id="{235D695D-2152-9ADE-6D5A-09BCE06134CD}"/>
                  </a:ext>
                </a:extLst>
              </p:cNvPr>
              <p:cNvSpPr/>
              <p:nvPr/>
            </p:nvSpPr>
            <p:spPr>
              <a:xfrm>
                <a:off x="512351" y="2355871"/>
                <a:ext cx="462842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42" h="103307">
                    <a:moveTo>
                      <a:pt x="66" y="0"/>
                    </a:moveTo>
                    <a:lnTo>
                      <a:pt x="462842" y="0"/>
                    </a:lnTo>
                    <a:cubicBezTo>
                      <a:pt x="408045" y="0"/>
                      <a:pt x="363647" y="46238"/>
                      <a:pt x="363647" y="103307"/>
                    </a:cubicBezTo>
                    <a:lnTo>
                      <a:pt x="99194" y="103307"/>
                    </a:lnTo>
                    <a:cubicBezTo>
                      <a:pt x="99194" y="46238"/>
                      <a:pt x="54796" y="0"/>
                      <a:pt x="0" y="0"/>
                    </a:cubicBezTo>
                    <a:lnTo>
                      <a:pt x="66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3" name="Rounded Rectangle 28">
                <a:extLst>
                  <a:ext uri="{FF2B5EF4-FFF2-40B4-BE49-F238E27FC236}">
                    <a16:creationId xmlns:a16="http://schemas.microsoft.com/office/drawing/2014/main" id="{677BE8AF-7DF8-D8B3-8EA8-D0CAC098DA45}"/>
                  </a:ext>
                </a:extLst>
              </p:cNvPr>
              <p:cNvSpPr/>
              <p:nvPr/>
            </p:nvSpPr>
            <p:spPr>
              <a:xfrm>
                <a:off x="413228" y="3863751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68" y="103307"/>
                      <a:pt x="561970" y="57068"/>
                      <a:pt x="561970" y="0"/>
                    </a:cubicBezTo>
                    <a:lnTo>
                      <a:pt x="99194" y="0"/>
                    </a:lnTo>
                    <a:cubicBezTo>
                      <a:pt x="99194" y="57068"/>
                      <a:pt x="54796" y="103307"/>
                      <a:pt x="0" y="103307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4" name="Rounded Rectangle 29">
                <a:extLst>
                  <a:ext uri="{FF2B5EF4-FFF2-40B4-BE49-F238E27FC236}">
                    <a16:creationId xmlns:a16="http://schemas.microsoft.com/office/drawing/2014/main" id="{6DF41C3D-339A-C797-574F-72347AF217F3}"/>
                  </a:ext>
                </a:extLst>
              </p:cNvPr>
              <p:cNvSpPr/>
              <p:nvPr/>
            </p:nvSpPr>
            <p:spPr>
              <a:xfrm>
                <a:off x="537223" y="2459179"/>
                <a:ext cx="413244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4" h="103307">
                    <a:moveTo>
                      <a:pt x="49597" y="0"/>
                    </a:moveTo>
                    <a:lnTo>
                      <a:pt x="363647" y="0"/>
                    </a:lnTo>
                    <a:cubicBezTo>
                      <a:pt x="391046" y="0"/>
                      <a:pt x="413244" y="23119"/>
                      <a:pt x="413244" y="51653"/>
                    </a:cubicBezTo>
                    <a:cubicBezTo>
                      <a:pt x="413244" y="80187"/>
                      <a:pt x="391046" y="103307"/>
                      <a:pt x="363647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45" name="Rounded Rectangle 30">
                <a:extLst>
                  <a:ext uri="{FF2B5EF4-FFF2-40B4-BE49-F238E27FC236}">
                    <a16:creationId xmlns:a16="http://schemas.microsoft.com/office/drawing/2014/main" id="{5C0FC282-6204-3C27-D16F-1A8BBA6CA1D8}"/>
                  </a:ext>
                </a:extLst>
              </p:cNvPr>
              <p:cNvSpPr/>
              <p:nvPr/>
            </p:nvSpPr>
            <p:spPr>
              <a:xfrm>
                <a:off x="462837" y="3760498"/>
                <a:ext cx="561970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70" h="103307">
                    <a:moveTo>
                      <a:pt x="49597" y="0"/>
                    </a:moveTo>
                    <a:lnTo>
                      <a:pt x="512372" y="0"/>
                    </a:lnTo>
                    <a:cubicBezTo>
                      <a:pt x="539771" y="0"/>
                      <a:pt x="561970" y="23119"/>
                      <a:pt x="561970" y="51653"/>
                    </a:cubicBezTo>
                    <a:cubicBezTo>
                      <a:pt x="561970" y="80187"/>
                      <a:pt x="539771" y="103307"/>
                      <a:pt x="512372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6" name="Group 17585">
              <a:extLst>
                <a:ext uri="{FF2B5EF4-FFF2-40B4-BE49-F238E27FC236}">
                  <a16:creationId xmlns:a16="http://schemas.microsoft.com/office/drawing/2014/main" id="{9361739B-1C60-8C44-4D06-2A8086B3B6FD}"/>
                </a:ext>
              </a:extLst>
            </p:cNvPr>
            <p:cNvGrpSpPr/>
            <p:nvPr/>
          </p:nvGrpSpPr>
          <p:grpSpPr>
            <a:xfrm>
              <a:off x="8451402" y="2386168"/>
              <a:ext cx="661165" cy="2024804"/>
              <a:chOff x="1157039" y="2148787"/>
              <a:chExt cx="661165" cy="2024804"/>
            </a:xfrm>
          </p:grpSpPr>
          <p:sp>
            <p:nvSpPr>
              <p:cNvPr id="17632" name="Rounded Rectangle 32">
                <a:extLst>
                  <a:ext uri="{FF2B5EF4-FFF2-40B4-BE49-F238E27FC236}">
                    <a16:creationId xmlns:a16="http://schemas.microsoft.com/office/drawing/2014/main" id="{40D4E275-0B70-584B-1A86-FB3FD8CEE03F}"/>
                  </a:ext>
                </a:extLst>
              </p:cNvPr>
              <p:cNvSpPr/>
              <p:nvPr/>
            </p:nvSpPr>
            <p:spPr>
              <a:xfrm>
                <a:off x="1256227" y="2562421"/>
                <a:ext cx="462781" cy="1198010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1198010">
                    <a:moveTo>
                      <a:pt x="99133" y="0"/>
                    </a:moveTo>
                    <a:lnTo>
                      <a:pt x="363585" y="0"/>
                    </a:lnTo>
                    <a:lnTo>
                      <a:pt x="462781" y="1198010"/>
                    </a:lnTo>
                    <a:lnTo>
                      <a:pt x="0" y="1198010"/>
                    </a:lnTo>
                    <a:lnTo>
                      <a:pt x="99195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3" name="Rounded Rectangle 33">
                <a:extLst>
                  <a:ext uri="{FF2B5EF4-FFF2-40B4-BE49-F238E27FC236}">
                    <a16:creationId xmlns:a16="http://schemas.microsoft.com/office/drawing/2014/main" id="{1396499C-06B3-2F07-F879-9CF7C5D5E6DD}"/>
                  </a:ext>
                </a:extLst>
              </p:cNvPr>
              <p:cNvSpPr/>
              <p:nvPr/>
            </p:nvSpPr>
            <p:spPr>
              <a:xfrm>
                <a:off x="1256227" y="2148787"/>
                <a:ext cx="462781" cy="207103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207103">
                    <a:moveTo>
                      <a:pt x="0" y="0"/>
                    </a:moveTo>
                    <a:lnTo>
                      <a:pt x="462781" y="0"/>
                    </a:lnTo>
                    <a:lnTo>
                      <a:pt x="462781" y="207103"/>
                    </a:lnTo>
                    <a:lnTo>
                      <a:pt x="0" y="20710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4" name="Rounded Rectangle 34">
                <a:extLst>
                  <a:ext uri="{FF2B5EF4-FFF2-40B4-BE49-F238E27FC236}">
                    <a16:creationId xmlns:a16="http://schemas.microsoft.com/office/drawing/2014/main" id="{8ED00AA8-FBCC-8526-43EE-6A232453F806}"/>
                  </a:ext>
                </a:extLst>
              </p:cNvPr>
              <p:cNvSpPr/>
              <p:nvPr/>
            </p:nvSpPr>
            <p:spPr>
              <a:xfrm>
                <a:off x="1157039" y="3967046"/>
                <a:ext cx="661165" cy="206545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5">
                    <a:moveTo>
                      <a:pt x="0" y="206545"/>
                    </a:moveTo>
                    <a:lnTo>
                      <a:pt x="661165" y="206545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5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5" name="Rounded Rectangle 35">
                <a:extLst>
                  <a:ext uri="{FF2B5EF4-FFF2-40B4-BE49-F238E27FC236}">
                    <a16:creationId xmlns:a16="http://schemas.microsoft.com/office/drawing/2014/main" id="{274BDAEF-EA9E-7037-9CE0-CEE379B35A20}"/>
                  </a:ext>
                </a:extLst>
              </p:cNvPr>
              <p:cNvSpPr/>
              <p:nvPr/>
            </p:nvSpPr>
            <p:spPr>
              <a:xfrm>
                <a:off x="1256165" y="2355821"/>
                <a:ext cx="462836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36" h="103307">
                    <a:moveTo>
                      <a:pt x="61" y="0"/>
                    </a:moveTo>
                    <a:lnTo>
                      <a:pt x="462836" y="0"/>
                    </a:lnTo>
                    <a:cubicBezTo>
                      <a:pt x="408042" y="0"/>
                      <a:pt x="363647" y="46233"/>
                      <a:pt x="363647" y="103307"/>
                    </a:cubicBezTo>
                    <a:lnTo>
                      <a:pt x="99188" y="103307"/>
                    </a:lnTo>
                    <a:cubicBezTo>
                      <a:pt x="99188" y="46233"/>
                      <a:pt x="54794" y="0"/>
                      <a:pt x="0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6" name="Rounded Rectangle 36">
                <a:extLst>
                  <a:ext uri="{FF2B5EF4-FFF2-40B4-BE49-F238E27FC236}">
                    <a16:creationId xmlns:a16="http://schemas.microsoft.com/office/drawing/2014/main" id="{68F775DB-759E-AA3E-6573-A07572B60141}"/>
                  </a:ext>
                </a:extLst>
              </p:cNvPr>
              <p:cNvSpPr/>
              <p:nvPr/>
            </p:nvSpPr>
            <p:spPr>
              <a:xfrm>
                <a:off x="1157039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71" y="103307"/>
                      <a:pt x="561969" y="57066"/>
                      <a:pt x="561969" y="0"/>
                    </a:cubicBezTo>
                    <a:lnTo>
                      <a:pt x="99195" y="0"/>
                    </a:lnTo>
                    <a:cubicBezTo>
                      <a:pt x="99195" y="57066"/>
                      <a:pt x="54794" y="103307"/>
                      <a:pt x="0" y="103307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7" name="Rounded Rectangle 37">
                <a:extLst>
                  <a:ext uri="{FF2B5EF4-FFF2-40B4-BE49-F238E27FC236}">
                    <a16:creationId xmlns:a16="http://schemas.microsoft.com/office/drawing/2014/main" id="{35C03094-8B4F-60C8-11B8-01AB3B138D8B}"/>
                  </a:ext>
                </a:extLst>
              </p:cNvPr>
              <p:cNvSpPr/>
              <p:nvPr/>
            </p:nvSpPr>
            <p:spPr>
              <a:xfrm>
                <a:off x="1280952" y="2459114"/>
                <a:ext cx="413248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8" h="103307">
                    <a:moveTo>
                      <a:pt x="49601" y="0"/>
                    </a:moveTo>
                    <a:lnTo>
                      <a:pt x="363647" y="0"/>
                    </a:lnTo>
                    <a:cubicBezTo>
                      <a:pt x="391044" y="0"/>
                      <a:pt x="413248" y="23113"/>
                      <a:pt x="413248" y="51653"/>
                    </a:cubicBezTo>
                    <a:cubicBezTo>
                      <a:pt x="413248" y="80186"/>
                      <a:pt x="391044" y="103307"/>
                      <a:pt x="363647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13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8" name="Rounded Rectangle 38">
                <a:extLst>
                  <a:ext uri="{FF2B5EF4-FFF2-40B4-BE49-F238E27FC236}">
                    <a16:creationId xmlns:a16="http://schemas.microsoft.com/office/drawing/2014/main" id="{9184B189-39F8-CFC8-E3A3-2A4B136BB520}"/>
                  </a:ext>
                </a:extLst>
              </p:cNvPr>
              <p:cNvSpPr/>
              <p:nvPr/>
            </p:nvSpPr>
            <p:spPr>
              <a:xfrm>
                <a:off x="1206647" y="3760432"/>
                <a:ext cx="561969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69" h="103307">
                    <a:moveTo>
                      <a:pt x="49601" y="0"/>
                    </a:moveTo>
                    <a:lnTo>
                      <a:pt x="512375" y="0"/>
                    </a:lnTo>
                    <a:cubicBezTo>
                      <a:pt x="539772" y="0"/>
                      <a:pt x="561969" y="23120"/>
                      <a:pt x="561969" y="51653"/>
                    </a:cubicBezTo>
                    <a:cubicBezTo>
                      <a:pt x="561969" y="80186"/>
                      <a:pt x="539772" y="103307"/>
                      <a:pt x="512375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20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7" name="Group 17586">
              <a:extLst>
                <a:ext uri="{FF2B5EF4-FFF2-40B4-BE49-F238E27FC236}">
                  <a16:creationId xmlns:a16="http://schemas.microsoft.com/office/drawing/2014/main" id="{8D623F06-D0A1-22C3-4F08-D2BDABB32A8F}"/>
                </a:ext>
              </a:extLst>
            </p:cNvPr>
            <p:cNvGrpSpPr/>
            <p:nvPr/>
          </p:nvGrpSpPr>
          <p:grpSpPr>
            <a:xfrm>
              <a:off x="8451402" y="2386168"/>
              <a:ext cx="661165" cy="2024802"/>
              <a:chOff x="1157039" y="2148787"/>
              <a:chExt cx="661165" cy="2024802"/>
            </a:xfrm>
          </p:grpSpPr>
          <p:sp>
            <p:nvSpPr>
              <p:cNvPr id="17625" name="Rounded Rectangle 40">
                <a:extLst>
                  <a:ext uri="{FF2B5EF4-FFF2-40B4-BE49-F238E27FC236}">
                    <a16:creationId xmlns:a16="http://schemas.microsoft.com/office/drawing/2014/main" id="{3EFBEF40-9548-1E9E-C0F9-2BDAE09CD2CA}"/>
                  </a:ext>
                </a:extLst>
              </p:cNvPr>
              <p:cNvSpPr/>
              <p:nvPr/>
            </p:nvSpPr>
            <p:spPr>
              <a:xfrm>
                <a:off x="1256230" y="2562418"/>
                <a:ext cx="462775" cy="1198014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1198014">
                    <a:moveTo>
                      <a:pt x="99127" y="0"/>
                    </a:moveTo>
                    <a:lnTo>
                      <a:pt x="363580" y="0"/>
                    </a:lnTo>
                    <a:lnTo>
                      <a:pt x="462775" y="1198014"/>
                    </a:lnTo>
                    <a:lnTo>
                      <a:pt x="0" y="1198014"/>
                    </a:lnTo>
                    <a:lnTo>
                      <a:pt x="99194" y="0"/>
                    </a:lnTo>
                    <a:lnTo>
                      <a:pt x="99127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6" name="Rounded Rectangle 41">
                <a:extLst>
                  <a:ext uri="{FF2B5EF4-FFF2-40B4-BE49-F238E27FC236}">
                    <a16:creationId xmlns:a16="http://schemas.microsoft.com/office/drawing/2014/main" id="{7A450F38-21CD-18A4-66C6-07EBBD271D47}"/>
                  </a:ext>
                </a:extLst>
              </p:cNvPr>
              <p:cNvSpPr/>
              <p:nvPr/>
            </p:nvSpPr>
            <p:spPr>
              <a:xfrm>
                <a:off x="1256230" y="2148787"/>
                <a:ext cx="462775" cy="207100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207100">
                    <a:moveTo>
                      <a:pt x="0" y="0"/>
                    </a:moveTo>
                    <a:lnTo>
                      <a:pt x="462775" y="0"/>
                    </a:lnTo>
                    <a:lnTo>
                      <a:pt x="462775" y="207100"/>
                    </a:lnTo>
                    <a:lnTo>
                      <a:pt x="0" y="2071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7" name="Rounded Rectangle 42">
                <a:extLst>
                  <a:ext uri="{FF2B5EF4-FFF2-40B4-BE49-F238E27FC236}">
                    <a16:creationId xmlns:a16="http://schemas.microsoft.com/office/drawing/2014/main" id="{86DCB754-EBBA-8184-BA5D-D69A31EC24BA}"/>
                  </a:ext>
                </a:extLst>
              </p:cNvPr>
              <p:cNvSpPr/>
              <p:nvPr/>
            </p:nvSpPr>
            <p:spPr>
              <a:xfrm>
                <a:off x="1157039" y="3967045"/>
                <a:ext cx="661165" cy="206544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4">
                    <a:moveTo>
                      <a:pt x="0" y="206544"/>
                    </a:moveTo>
                    <a:lnTo>
                      <a:pt x="661165" y="206544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4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8" name="Rounded Rectangle 43">
                <a:extLst>
                  <a:ext uri="{FF2B5EF4-FFF2-40B4-BE49-F238E27FC236}">
                    <a16:creationId xmlns:a16="http://schemas.microsoft.com/office/drawing/2014/main" id="{226D8EFE-6CBF-54E0-43CC-9AB1D3A12E93}"/>
                  </a:ext>
                </a:extLst>
              </p:cNvPr>
              <p:cNvSpPr/>
              <p:nvPr/>
            </p:nvSpPr>
            <p:spPr>
              <a:xfrm>
                <a:off x="1256162" y="2355818"/>
                <a:ext cx="462842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42" h="103307">
                    <a:moveTo>
                      <a:pt x="66" y="0"/>
                    </a:moveTo>
                    <a:lnTo>
                      <a:pt x="462842" y="0"/>
                    </a:lnTo>
                    <a:cubicBezTo>
                      <a:pt x="408045" y="0"/>
                      <a:pt x="363647" y="46238"/>
                      <a:pt x="363647" y="103307"/>
                    </a:cubicBezTo>
                    <a:lnTo>
                      <a:pt x="99194" y="103307"/>
                    </a:lnTo>
                    <a:cubicBezTo>
                      <a:pt x="99194" y="46238"/>
                      <a:pt x="54796" y="0"/>
                      <a:pt x="0" y="0"/>
                    </a:cubicBezTo>
                    <a:lnTo>
                      <a:pt x="66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9" name="Rounded Rectangle 44">
                <a:extLst>
                  <a:ext uri="{FF2B5EF4-FFF2-40B4-BE49-F238E27FC236}">
                    <a16:creationId xmlns:a16="http://schemas.microsoft.com/office/drawing/2014/main" id="{419E4D68-90D7-2859-E5A1-6E67D588CEDE}"/>
                  </a:ext>
                </a:extLst>
              </p:cNvPr>
              <p:cNvSpPr/>
              <p:nvPr/>
            </p:nvSpPr>
            <p:spPr>
              <a:xfrm>
                <a:off x="1157039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68" y="103307"/>
                      <a:pt x="561970" y="57068"/>
                      <a:pt x="561970" y="0"/>
                    </a:cubicBezTo>
                    <a:lnTo>
                      <a:pt x="99194" y="0"/>
                    </a:lnTo>
                    <a:cubicBezTo>
                      <a:pt x="99194" y="57068"/>
                      <a:pt x="54796" y="103307"/>
                      <a:pt x="0" y="103307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0" name="Rounded Rectangle 45">
                <a:extLst>
                  <a:ext uri="{FF2B5EF4-FFF2-40B4-BE49-F238E27FC236}">
                    <a16:creationId xmlns:a16="http://schemas.microsoft.com/office/drawing/2014/main" id="{D6602BD4-EC73-5B4D-1701-41D671F8D2B2}"/>
                  </a:ext>
                </a:extLst>
              </p:cNvPr>
              <p:cNvSpPr/>
              <p:nvPr/>
            </p:nvSpPr>
            <p:spPr>
              <a:xfrm>
                <a:off x="1280953" y="2459111"/>
                <a:ext cx="413244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4" h="103307">
                    <a:moveTo>
                      <a:pt x="49597" y="0"/>
                    </a:moveTo>
                    <a:lnTo>
                      <a:pt x="363647" y="0"/>
                    </a:lnTo>
                    <a:cubicBezTo>
                      <a:pt x="391046" y="0"/>
                      <a:pt x="413244" y="23119"/>
                      <a:pt x="413244" y="51653"/>
                    </a:cubicBezTo>
                    <a:cubicBezTo>
                      <a:pt x="413244" y="80187"/>
                      <a:pt x="391046" y="103307"/>
                      <a:pt x="363647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31" name="Rounded Rectangle 46">
                <a:extLst>
                  <a:ext uri="{FF2B5EF4-FFF2-40B4-BE49-F238E27FC236}">
                    <a16:creationId xmlns:a16="http://schemas.microsoft.com/office/drawing/2014/main" id="{D0C99788-EB12-7664-19C1-28373DDE95D2}"/>
                  </a:ext>
                </a:extLst>
              </p:cNvPr>
              <p:cNvSpPr/>
              <p:nvPr/>
            </p:nvSpPr>
            <p:spPr>
              <a:xfrm>
                <a:off x="1206648" y="3760431"/>
                <a:ext cx="561970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70" h="103307">
                    <a:moveTo>
                      <a:pt x="49597" y="0"/>
                    </a:moveTo>
                    <a:lnTo>
                      <a:pt x="512373" y="0"/>
                    </a:lnTo>
                    <a:cubicBezTo>
                      <a:pt x="539771" y="0"/>
                      <a:pt x="561970" y="23119"/>
                      <a:pt x="561970" y="51653"/>
                    </a:cubicBezTo>
                    <a:cubicBezTo>
                      <a:pt x="561970" y="80187"/>
                      <a:pt x="539771" y="103307"/>
                      <a:pt x="512373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8" name="Group 17587">
              <a:extLst>
                <a:ext uri="{FF2B5EF4-FFF2-40B4-BE49-F238E27FC236}">
                  <a16:creationId xmlns:a16="http://schemas.microsoft.com/office/drawing/2014/main" id="{1DB40148-87DF-F6D2-B3CA-84F4B935F702}"/>
                </a:ext>
              </a:extLst>
            </p:cNvPr>
            <p:cNvGrpSpPr/>
            <p:nvPr/>
          </p:nvGrpSpPr>
          <p:grpSpPr>
            <a:xfrm>
              <a:off x="9195213" y="2386168"/>
              <a:ext cx="661165" cy="2024804"/>
              <a:chOff x="1900850" y="2148787"/>
              <a:chExt cx="661165" cy="2024804"/>
            </a:xfrm>
          </p:grpSpPr>
          <p:sp>
            <p:nvSpPr>
              <p:cNvPr id="17618" name="Rounded Rectangle 48">
                <a:extLst>
                  <a:ext uri="{FF2B5EF4-FFF2-40B4-BE49-F238E27FC236}">
                    <a16:creationId xmlns:a16="http://schemas.microsoft.com/office/drawing/2014/main" id="{0D953730-831B-1493-C903-1ECEA9D4136D}"/>
                  </a:ext>
                </a:extLst>
              </p:cNvPr>
              <p:cNvSpPr/>
              <p:nvPr/>
            </p:nvSpPr>
            <p:spPr>
              <a:xfrm>
                <a:off x="2000038" y="2562421"/>
                <a:ext cx="462781" cy="1198010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1198010">
                    <a:moveTo>
                      <a:pt x="99133" y="0"/>
                    </a:moveTo>
                    <a:lnTo>
                      <a:pt x="363585" y="0"/>
                    </a:lnTo>
                    <a:lnTo>
                      <a:pt x="462781" y="1198010"/>
                    </a:lnTo>
                    <a:lnTo>
                      <a:pt x="0" y="1198010"/>
                    </a:lnTo>
                    <a:lnTo>
                      <a:pt x="99195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9" name="Rounded Rectangle 49">
                <a:extLst>
                  <a:ext uri="{FF2B5EF4-FFF2-40B4-BE49-F238E27FC236}">
                    <a16:creationId xmlns:a16="http://schemas.microsoft.com/office/drawing/2014/main" id="{C4348A99-DC29-E4C1-4B59-B009C719B946}"/>
                  </a:ext>
                </a:extLst>
              </p:cNvPr>
              <p:cNvSpPr/>
              <p:nvPr/>
            </p:nvSpPr>
            <p:spPr>
              <a:xfrm>
                <a:off x="2000038" y="2148787"/>
                <a:ext cx="462781" cy="207103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207103">
                    <a:moveTo>
                      <a:pt x="0" y="0"/>
                    </a:moveTo>
                    <a:lnTo>
                      <a:pt x="462781" y="0"/>
                    </a:lnTo>
                    <a:lnTo>
                      <a:pt x="462781" y="207103"/>
                    </a:lnTo>
                    <a:lnTo>
                      <a:pt x="0" y="20710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0" name="Rounded Rectangle 50">
                <a:extLst>
                  <a:ext uri="{FF2B5EF4-FFF2-40B4-BE49-F238E27FC236}">
                    <a16:creationId xmlns:a16="http://schemas.microsoft.com/office/drawing/2014/main" id="{F41B1580-4D75-2C1E-4692-852CC3035715}"/>
                  </a:ext>
                </a:extLst>
              </p:cNvPr>
              <p:cNvSpPr/>
              <p:nvPr/>
            </p:nvSpPr>
            <p:spPr>
              <a:xfrm>
                <a:off x="1900850" y="3967046"/>
                <a:ext cx="661165" cy="206545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5">
                    <a:moveTo>
                      <a:pt x="0" y="206545"/>
                    </a:moveTo>
                    <a:lnTo>
                      <a:pt x="661165" y="206545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5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1" name="Rounded Rectangle 51">
                <a:extLst>
                  <a:ext uri="{FF2B5EF4-FFF2-40B4-BE49-F238E27FC236}">
                    <a16:creationId xmlns:a16="http://schemas.microsoft.com/office/drawing/2014/main" id="{1871BF8E-92A5-587F-C8AB-ADB9B470888B}"/>
                  </a:ext>
                </a:extLst>
              </p:cNvPr>
              <p:cNvSpPr/>
              <p:nvPr/>
            </p:nvSpPr>
            <p:spPr>
              <a:xfrm>
                <a:off x="1999976" y="2355821"/>
                <a:ext cx="462836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36" h="103307">
                    <a:moveTo>
                      <a:pt x="61" y="0"/>
                    </a:moveTo>
                    <a:lnTo>
                      <a:pt x="462836" y="0"/>
                    </a:lnTo>
                    <a:cubicBezTo>
                      <a:pt x="408042" y="0"/>
                      <a:pt x="363647" y="46233"/>
                      <a:pt x="363647" y="103307"/>
                    </a:cubicBezTo>
                    <a:lnTo>
                      <a:pt x="99188" y="103307"/>
                    </a:lnTo>
                    <a:cubicBezTo>
                      <a:pt x="99188" y="46233"/>
                      <a:pt x="54794" y="0"/>
                      <a:pt x="0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2" name="Rounded Rectangle 52">
                <a:extLst>
                  <a:ext uri="{FF2B5EF4-FFF2-40B4-BE49-F238E27FC236}">
                    <a16:creationId xmlns:a16="http://schemas.microsoft.com/office/drawing/2014/main" id="{5678E14C-CDAE-08CD-684D-4C39043B6AAC}"/>
                  </a:ext>
                </a:extLst>
              </p:cNvPr>
              <p:cNvSpPr/>
              <p:nvPr/>
            </p:nvSpPr>
            <p:spPr>
              <a:xfrm>
                <a:off x="1900850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71" y="103307"/>
                      <a:pt x="561969" y="57066"/>
                      <a:pt x="561969" y="0"/>
                    </a:cubicBezTo>
                    <a:lnTo>
                      <a:pt x="99195" y="0"/>
                    </a:lnTo>
                    <a:cubicBezTo>
                      <a:pt x="99195" y="57066"/>
                      <a:pt x="54794" y="103307"/>
                      <a:pt x="0" y="103307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3" name="Rounded Rectangle 53">
                <a:extLst>
                  <a:ext uri="{FF2B5EF4-FFF2-40B4-BE49-F238E27FC236}">
                    <a16:creationId xmlns:a16="http://schemas.microsoft.com/office/drawing/2014/main" id="{843BEBB2-E3DF-F14B-F2B2-C4674DFFC993}"/>
                  </a:ext>
                </a:extLst>
              </p:cNvPr>
              <p:cNvSpPr/>
              <p:nvPr/>
            </p:nvSpPr>
            <p:spPr>
              <a:xfrm>
                <a:off x="2024763" y="2459114"/>
                <a:ext cx="413248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8" h="103307">
                    <a:moveTo>
                      <a:pt x="49601" y="0"/>
                    </a:moveTo>
                    <a:lnTo>
                      <a:pt x="363647" y="0"/>
                    </a:lnTo>
                    <a:cubicBezTo>
                      <a:pt x="391044" y="0"/>
                      <a:pt x="413248" y="23113"/>
                      <a:pt x="413248" y="51653"/>
                    </a:cubicBezTo>
                    <a:cubicBezTo>
                      <a:pt x="413248" y="80186"/>
                      <a:pt x="391044" y="103307"/>
                      <a:pt x="363647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13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24" name="Rounded Rectangle 54">
                <a:extLst>
                  <a:ext uri="{FF2B5EF4-FFF2-40B4-BE49-F238E27FC236}">
                    <a16:creationId xmlns:a16="http://schemas.microsoft.com/office/drawing/2014/main" id="{180C55C8-B8F8-3D04-E838-D1FBFEE05A89}"/>
                  </a:ext>
                </a:extLst>
              </p:cNvPr>
              <p:cNvSpPr/>
              <p:nvPr/>
            </p:nvSpPr>
            <p:spPr>
              <a:xfrm>
                <a:off x="1950458" y="3760432"/>
                <a:ext cx="561969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69" h="103307">
                    <a:moveTo>
                      <a:pt x="49601" y="0"/>
                    </a:moveTo>
                    <a:lnTo>
                      <a:pt x="512375" y="0"/>
                    </a:lnTo>
                    <a:cubicBezTo>
                      <a:pt x="539772" y="0"/>
                      <a:pt x="561969" y="23120"/>
                      <a:pt x="561969" y="51653"/>
                    </a:cubicBezTo>
                    <a:cubicBezTo>
                      <a:pt x="561969" y="80186"/>
                      <a:pt x="539772" y="103307"/>
                      <a:pt x="512375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20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89" name="Group 17588">
              <a:extLst>
                <a:ext uri="{FF2B5EF4-FFF2-40B4-BE49-F238E27FC236}">
                  <a16:creationId xmlns:a16="http://schemas.microsoft.com/office/drawing/2014/main" id="{94050930-5409-5356-35FA-B22350A3F2EF}"/>
                </a:ext>
              </a:extLst>
            </p:cNvPr>
            <p:cNvGrpSpPr/>
            <p:nvPr/>
          </p:nvGrpSpPr>
          <p:grpSpPr>
            <a:xfrm>
              <a:off x="9195213" y="2386168"/>
              <a:ext cx="661165" cy="2024802"/>
              <a:chOff x="1900850" y="2148787"/>
              <a:chExt cx="661165" cy="2024802"/>
            </a:xfrm>
          </p:grpSpPr>
          <p:sp>
            <p:nvSpPr>
              <p:cNvPr id="17611" name="Rounded Rectangle 56">
                <a:extLst>
                  <a:ext uri="{FF2B5EF4-FFF2-40B4-BE49-F238E27FC236}">
                    <a16:creationId xmlns:a16="http://schemas.microsoft.com/office/drawing/2014/main" id="{B46763A3-3EB0-20C7-FAB2-86BA6F058C39}"/>
                  </a:ext>
                </a:extLst>
              </p:cNvPr>
              <p:cNvSpPr/>
              <p:nvPr/>
            </p:nvSpPr>
            <p:spPr>
              <a:xfrm>
                <a:off x="2000040" y="2562418"/>
                <a:ext cx="462775" cy="1198014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1198014">
                    <a:moveTo>
                      <a:pt x="99127" y="0"/>
                    </a:moveTo>
                    <a:lnTo>
                      <a:pt x="363580" y="0"/>
                    </a:lnTo>
                    <a:lnTo>
                      <a:pt x="462775" y="1198014"/>
                    </a:lnTo>
                    <a:lnTo>
                      <a:pt x="0" y="1198014"/>
                    </a:lnTo>
                    <a:lnTo>
                      <a:pt x="99194" y="0"/>
                    </a:lnTo>
                    <a:lnTo>
                      <a:pt x="99127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2" name="Rounded Rectangle 57">
                <a:extLst>
                  <a:ext uri="{FF2B5EF4-FFF2-40B4-BE49-F238E27FC236}">
                    <a16:creationId xmlns:a16="http://schemas.microsoft.com/office/drawing/2014/main" id="{53D1BD97-BC5F-7B4F-C6FC-C80A1A60AF15}"/>
                  </a:ext>
                </a:extLst>
              </p:cNvPr>
              <p:cNvSpPr/>
              <p:nvPr/>
            </p:nvSpPr>
            <p:spPr>
              <a:xfrm>
                <a:off x="2000040" y="2148787"/>
                <a:ext cx="462775" cy="207100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207100">
                    <a:moveTo>
                      <a:pt x="0" y="0"/>
                    </a:moveTo>
                    <a:lnTo>
                      <a:pt x="462775" y="0"/>
                    </a:lnTo>
                    <a:lnTo>
                      <a:pt x="462775" y="207100"/>
                    </a:lnTo>
                    <a:lnTo>
                      <a:pt x="0" y="2071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3" name="Rounded Rectangle 58">
                <a:extLst>
                  <a:ext uri="{FF2B5EF4-FFF2-40B4-BE49-F238E27FC236}">
                    <a16:creationId xmlns:a16="http://schemas.microsoft.com/office/drawing/2014/main" id="{6C5AFFB9-E8A1-B853-A350-0F24AD0EEF42}"/>
                  </a:ext>
                </a:extLst>
              </p:cNvPr>
              <p:cNvSpPr/>
              <p:nvPr/>
            </p:nvSpPr>
            <p:spPr>
              <a:xfrm>
                <a:off x="1900850" y="3967045"/>
                <a:ext cx="661165" cy="206544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4">
                    <a:moveTo>
                      <a:pt x="0" y="206544"/>
                    </a:moveTo>
                    <a:lnTo>
                      <a:pt x="661165" y="206544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4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4" name="Rounded Rectangle 59">
                <a:extLst>
                  <a:ext uri="{FF2B5EF4-FFF2-40B4-BE49-F238E27FC236}">
                    <a16:creationId xmlns:a16="http://schemas.microsoft.com/office/drawing/2014/main" id="{C81266A9-AD9F-A143-F99B-8E5505238A02}"/>
                  </a:ext>
                </a:extLst>
              </p:cNvPr>
              <p:cNvSpPr/>
              <p:nvPr/>
            </p:nvSpPr>
            <p:spPr>
              <a:xfrm>
                <a:off x="1999973" y="2355818"/>
                <a:ext cx="462842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42" h="103307">
                    <a:moveTo>
                      <a:pt x="66" y="0"/>
                    </a:moveTo>
                    <a:lnTo>
                      <a:pt x="462842" y="0"/>
                    </a:lnTo>
                    <a:cubicBezTo>
                      <a:pt x="408045" y="0"/>
                      <a:pt x="363647" y="46238"/>
                      <a:pt x="363647" y="103307"/>
                    </a:cubicBezTo>
                    <a:lnTo>
                      <a:pt x="99194" y="103307"/>
                    </a:lnTo>
                    <a:cubicBezTo>
                      <a:pt x="99194" y="46238"/>
                      <a:pt x="54796" y="0"/>
                      <a:pt x="0" y="0"/>
                    </a:cubicBezTo>
                    <a:lnTo>
                      <a:pt x="66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5" name="Rounded Rectangle 60">
                <a:extLst>
                  <a:ext uri="{FF2B5EF4-FFF2-40B4-BE49-F238E27FC236}">
                    <a16:creationId xmlns:a16="http://schemas.microsoft.com/office/drawing/2014/main" id="{D9B23035-5376-ECDC-F888-4056EB3C9332}"/>
                  </a:ext>
                </a:extLst>
              </p:cNvPr>
              <p:cNvSpPr/>
              <p:nvPr/>
            </p:nvSpPr>
            <p:spPr>
              <a:xfrm>
                <a:off x="1900850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68" y="103307"/>
                      <a:pt x="561970" y="57068"/>
                      <a:pt x="561970" y="0"/>
                    </a:cubicBezTo>
                    <a:lnTo>
                      <a:pt x="99194" y="0"/>
                    </a:lnTo>
                    <a:cubicBezTo>
                      <a:pt x="99194" y="57068"/>
                      <a:pt x="54796" y="103307"/>
                      <a:pt x="0" y="103307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6" name="Rounded Rectangle 61">
                <a:extLst>
                  <a:ext uri="{FF2B5EF4-FFF2-40B4-BE49-F238E27FC236}">
                    <a16:creationId xmlns:a16="http://schemas.microsoft.com/office/drawing/2014/main" id="{E79DE18B-89C7-4A61-1FB6-E64736416987}"/>
                  </a:ext>
                </a:extLst>
              </p:cNvPr>
              <p:cNvSpPr/>
              <p:nvPr/>
            </p:nvSpPr>
            <p:spPr>
              <a:xfrm>
                <a:off x="2024764" y="2459111"/>
                <a:ext cx="413244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4" h="103307">
                    <a:moveTo>
                      <a:pt x="49597" y="0"/>
                    </a:moveTo>
                    <a:lnTo>
                      <a:pt x="363647" y="0"/>
                    </a:lnTo>
                    <a:cubicBezTo>
                      <a:pt x="391046" y="0"/>
                      <a:pt x="413244" y="23119"/>
                      <a:pt x="413244" y="51653"/>
                    </a:cubicBezTo>
                    <a:cubicBezTo>
                      <a:pt x="413244" y="80187"/>
                      <a:pt x="391046" y="103307"/>
                      <a:pt x="363647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7" name="Rounded Rectangle 62">
                <a:extLst>
                  <a:ext uri="{FF2B5EF4-FFF2-40B4-BE49-F238E27FC236}">
                    <a16:creationId xmlns:a16="http://schemas.microsoft.com/office/drawing/2014/main" id="{7521231D-BBDC-49CA-E85C-728F1297F20F}"/>
                  </a:ext>
                </a:extLst>
              </p:cNvPr>
              <p:cNvSpPr/>
              <p:nvPr/>
            </p:nvSpPr>
            <p:spPr>
              <a:xfrm>
                <a:off x="1950458" y="3760431"/>
                <a:ext cx="561970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70" h="103307">
                    <a:moveTo>
                      <a:pt x="49597" y="0"/>
                    </a:moveTo>
                    <a:lnTo>
                      <a:pt x="512373" y="0"/>
                    </a:lnTo>
                    <a:cubicBezTo>
                      <a:pt x="539771" y="0"/>
                      <a:pt x="561970" y="23119"/>
                      <a:pt x="561970" y="51653"/>
                    </a:cubicBezTo>
                    <a:cubicBezTo>
                      <a:pt x="561970" y="80187"/>
                      <a:pt x="539771" y="103307"/>
                      <a:pt x="512373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90" name="Group 17589">
              <a:extLst>
                <a:ext uri="{FF2B5EF4-FFF2-40B4-BE49-F238E27FC236}">
                  <a16:creationId xmlns:a16="http://schemas.microsoft.com/office/drawing/2014/main" id="{CE300FDD-D9CD-2EC2-C9B7-A5C87AA692A5}"/>
                </a:ext>
              </a:extLst>
            </p:cNvPr>
            <p:cNvGrpSpPr/>
            <p:nvPr/>
          </p:nvGrpSpPr>
          <p:grpSpPr>
            <a:xfrm>
              <a:off x="9939023" y="2386168"/>
              <a:ext cx="661165" cy="2024804"/>
              <a:chOff x="2644660" y="2148787"/>
              <a:chExt cx="661165" cy="2024804"/>
            </a:xfrm>
          </p:grpSpPr>
          <p:sp>
            <p:nvSpPr>
              <p:cNvPr id="17604" name="Rounded Rectangle 64">
                <a:extLst>
                  <a:ext uri="{FF2B5EF4-FFF2-40B4-BE49-F238E27FC236}">
                    <a16:creationId xmlns:a16="http://schemas.microsoft.com/office/drawing/2014/main" id="{0AC9C746-F346-700B-0A73-C8CB3165BF82}"/>
                  </a:ext>
                </a:extLst>
              </p:cNvPr>
              <p:cNvSpPr/>
              <p:nvPr/>
            </p:nvSpPr>
            <p:spPr>
              <a:xfrm>
                <a:off x="2743849" y="2562421"/>
                <a:ext cx="462781" cy="1198010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1198010">
                    <a:moveTo>
                      <a:pt x="99133" y="0"/>
                    </a:moveTo>
                    <a:lnTo>
                      <a:pt x="363585" y="0"/>
                    </a:lnTo>
                    <a:lnTo>
                      <a:pt x="462781" y="1198010"/>
                    </a:lnTo>
                    <a:lnTo>
                      <a:pt x="0" y="1198010"/>
                    </a:lnTo>
                    <a:lnTo>
                      <a:pt x="99195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5" name="Rounded Rectangle 65">
                <a:extLst>
                  <a:ext uri="{FF2B5EF4-FFF2-40B4-BE49-F238E27FC236}">
                    <a16:creationId xmlns:a16="http://schemas.microsoft.com/office/drawing/2014/main" id="{197CC850-92C0-1FD7-62AA-85A60403805F}"/>
                  </a:ext>
                </a:extLst>
              </p:cNvPr>
              <p:cNvSpPr/>
              <p:nvPr/>
            </p:nvSpPr>
            <p:spPr>
              <a:xfrm>
                <a:off x="2743849" y="2148787"/>
                <a:ext cx="462781" cy="207103"/>
              </a:xfrm>
              <a:custGeom>
                <a:avLst/>
                <a:gdLst/>
                <a:ahLst/>
                <a:cxnLst/>
                <a:rect l="0" t="0" r="0" b="0"/>
                <a:pathLst>
                  <a:path w="462781" h="207103">
                    <a:moveTo>
                      <a:pt x="0" y="0"/>
                    </a:moveTo>
                    <a:lnTo>
                      <a:pt x="462781" y="0"/>
                    </a:lnTo>
                    <a:lnTo>
                      <a:pt x="462781" y="207103"/>
                    </a:lnTo>
                    <a:lnTo>
                      <a:pt x="0" y="20710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6" name="Rounded Rectangle 66">
                <a:extLst>
                  <a:ext uri="{FF2B5EF4-FFF2-40B4-BE49-F238E27FC236}">
                    <a16:creationId xmlns:a16="http://schemas.microsoft.com/office/drawing/2014/main" id="{5246AC65-6412-132A-E81D-00690AC94DBF}"/>
                  </a:ext>
                </a:extLst>
              </p:cNvPr>
              <p:cNvSpPr/>
              <p:nvPr/>
            </p:nvSpPr>
            <p:spPr>
              <a:xfrm>
                <a:off x="2644660" y="3967046"/>
                <a:ext cx="661165" cy="206545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5">
                    <a:moveTo>
                      <a:pt x="0" y="206545"/>
                    </a:moveTo>
                    <a:lnTo>
                      <a:pt x="661165" y="206545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5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7" name="Rounded Rectangle 67">
                <a:extLst>
                  <a:ext uri="{FF2B5EF4-FFF2-40B4-BE49-F238E27FC236}">
                    <a16:creationId xmlns:a16="http://schemas.microsoft.com/office/drawing/2014/main" id="{8F8A1526-C116-AE38-160D-5682616B10B2}"/>
                  </a:ext>
                </a:extLst>
              </p:cNvPr>
              <p:cNvSpPr/>
              <p:nvPr/>
            </p:nvSpPr>
            <p:spPr>
              <a:xfrm>
                <a:off x="2743787" y="2355821"/>
                <a:ext cx="462836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36" h="103307">
                    <a:moveTo>
                      <a:pt x="61" y="0"/>
                    </a:moveTo>
                    <a:lnTo>
                      <a:pt x="462836" y="0"/>
                    </a:lnTo>
                    <a:cubicBezTo>
                      <a:pt x="408042" y="0"/>
                      <a:pt x="363647" y="46233"/>
                      <a:pt x="363647" y="103307"/>
                    </a:cubicBezTo>
                    <a:lnTo>
                      <a:pt x="99188" y="103307"/>
                    </a:lnTo>
                    <a:cubicBezTo>
                      <a:pt x="99188" y="46233"/>
                      <a:pt x="54794" y="0"/>
                      <a:pt x="0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8" name="Rounded Rectangle 68">
                <a:extLst>
                  <a:ext uri="{FF2B5EF4-FFF2-40B4-BE49-F238E27FC236}">
                    <a16:creationId xmlns:a16="http://schemas.microsoft.com/office/drawing/2014/main" id="{F89962BC-4865-ACDA-25D3-0D64B95B2B57}"/>
                  </a:ext>
                </a:extLst>
              </p:cNvPr>
              <p:cNvSpPr/>
              <p:nvPr/>
            </p:nvSpPr>
            <p:spPr>
              <a:xfrm>
                <a:off x="2644660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71" y="103307"/>
                      <a:pt x="561969" y="57066"/>
                      <a:pt x="561969" y="0"/>
                    </a:cubicBezTo>
                    <a:lnTo>
                      <a:pt x="99195" y="0"/>
                    </a:lnTo>
                    <a:cubicBezTo>
                      <a:pt x="99195" y="57066"/>
                      <a:pt x="54794" y="103307"/>
                      <a:pt x="0" y="103307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9" name="Rounded Rectangle 69">
                <a:extLst>
                  <a:ext uri="{FF2B5EF4-FFF2-40B4-BE49-F238E27FC236}">
                    <a16:creationId xmlns:a16="http://schemas.microsoft.com/office/drawing/2014/main" id="{BE248FE3-80B5-1CA7-5C52-215CB6344F31}"/>
                  </a:ext>
                </a:extLst>
              </p:cNvPr>
              <p:cNvSpPr/>
              <p:nvPr/>
            </p:nvSpPr>
            <p:spPr>
              <a:xfrm>
                <a:off x="2768574" y="2459114"/>
                <a:ext cx="413248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8" h="103307">
                    <a:moveTo>
                      <a:pt x="49601" y="0"/>
                    </a:moveTo>
                    <a:lnTo>
                      <a:pt x="363647" y="0"/>
                    </a:lnTo>
                    <a:cubicBezTo>
                      <a:pt x="391044" y="0"/>
                      <a:pt x="413248" y="23113"/>
                      <a:pt x="413248" y="51653"/>
                    </a:cubicBezTo>
                    <a:cubicBezTo>
                      <a:pt x="413248" y="80186"/>
                      <a:pt x="391044" y="103307"/>
                      <a:pt x="363647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13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10" name="Rounded Rectangle 70">
                <a:extLst>
                  <a:ext uri="{FF2B5EF4-FFF2-40B4-BE49-F238E27FC236}">
                    <a16:creationId xmlns:a16="http://schemas.microsoft.com/office/drawing/2014/main" id="{40E1B96B-903A-D3B0-A349-C5FEC883399A}"/>
                  </a:ext>
                </a:extLst>
              </p:cNvPr>
              <p:cNvSpPr/>
              <p:nvPr/>
            </p:nvSpPr>
            <p:spPr>
              <a:xfrm>
                <a:off x="2694269" y="3760432"/>
                <a:ext cx="561969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69" h="103307">
                    <a:moveTo>
                      <a:pt x="49601" y="0"/>
                    </a:moveTo>
                    <a:lnTo>
                      <a:pt x="512375" y="0"/>
                    </a:lnTo>
                    <a:cubicBezTo>
                      <a:pt x="539772" y="0"/>
                      <a:pt x="561969" y="23120"/>
                      <a:pt x="561969" y="51653"/>
                    </a:cubicBezTo>
                    <a:cubicBezTo>
                      <a:pt x="561969" y="80186"/>
                      <a:pt x="539772" y="103307"/>
                      <a:pt x="512375" y="103307"/>
                    </a:cubicBezTo>
                    <a:lnTo>
                      <a:pt x="49601" y="103307"/>
                    </a:lnTo>
                    <a:cubicBezTo>
                      <a:pt x="22197" y="103307"/>
                      <a:pt x="0" y="80186"/>
                      <a:pt x="0" y="51653"/>
                    </a:cubicBezTo>
                    <a:cubicBezTo>
                      <a:pt x="0" y="23120"/>
                      <a:pt x="22197" y="0"/>
                      <a:pt x="49601" y="0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7591" name="Group 17590">
              <a:extLst>
                <a:ext uri="{FF2B5EF4-FFF2-40B4-BE49-F238E27FC236}">
                  <a16:creationId xmlns:a16="http://schemas.microsoft.com/office/drawing/2014/main" id="{54D64B7C-DCBB-29EE-24E6-F38CE6D8A6CC}"/>
                </a:ext>
              </a:extLst>
            </p:cNvPr>
            <p:cNvGrpSpPr/>
            <p:nvPr/>
          </p:nvGrpSpPr>
          <p:grpSpPr>
            <a:xfrm>
              <a:off x="9939023" y="2386168"/>
              <a:ext cx="661165" cy="2024802"/>
              <a:chOff x="2644660" y="2148787"/>
              <a:chExt cx="661165" cy="2024802"/>
            </a:xfrm>
          </p:grpSpPr>
          <p:sp>
            <p:nvSpPr>
              <p:cNvPr id="17597" name="Rounded Rectangle 72">
                <a:extLst>
                  <a:ext uri="{FF2B5EF4-FFF2-40B4-BE49-F238E27FC236}">
                    <a16:creationId xmlns:a16="http://schemas.microsoft.com/office/drawing/2014/main" id="{33ECC0A4-7FBF-1731-C081-70F65440E520}"/>
                  </a:ext>
                </a:extLst>
              </p:cNvPr>
              <p:cNvSpPr/>
              <p:nvPr/>
            </p:nvSpPr>
            <p:spPr>
              <a:xfrm>
                <a:off x="2743851" y="2562418"/>
                <a:ext cx="462775" cy="1198014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1198014">
                    <a:moveTo>
                      <a:pt x="99127" y="0"/>
                    </a:moveTo>
                    <a:lnTo>
                      <a:pt x="363580" y="0"/>
                    </a:lnTo>
                    <a:lnTo>
                      <a:pt x="462775" y="1198014"/>
                    </a:lnTo>
                    <a:lnTo>
                      <a:pt x="0" y="1198014"/>
                    </a:lnTo>
                    <a:lnTo>
                      <a:pt x="99194" y="0"/>
                    </a:lnTo>
                    <a:lnTo>
                      <a:pt x="99127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598" name="Rounded Rectangle 73">
                <a:extLst>
                  <a:ext uri="{FF2B5EF4-FFF2-40B4-BE49-F238E27FC236}">
                    <a16:creationId xmlns:a16="http://schemas.microsoft.com/office/drawing/2014/main" id="{E4A5945D-D02A-337F-6FD4-8C96C8156732}"/>
                  </a:ext>
                </a:extLst>
              </p:cNvPr>
              <p:cNvSpPr/>
              <p:nvPr/>
            </p:nvSpPr>
            <p:spPr>
              <a:xfrm>
                <a:off x="2743851" y="2148787"/>
                <a:ext cx="462775" cy="207100"/>
              </a:xfrm>
              <a:custGeom>
                <a:avLst/>
                <a:gdLst/>
                <a:ahLst/>
                <a:cxnLst/>
                <a:rect l="0" t="0" r="0" b="0"/>
                <a:pathLst>
                  <a:path w="462775" h="207100">
                    <a:moveTo>
                      <a:pt x="0" y="0"/>
                    </a:moveTo>
                    <a:lnTo>
                      <a:pt x="462775" y="0"/>
                    </a:lnTo>
                    <a:lnTo>
                      <a:pt x="462775" y="207100"/>
                    </a:lnTo>
                    <a:lnTo>
                      <a:pt x="0" y="2071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599" name="Rounded Rectangle 74">
                <a:extLst>
                  <a:ext uri="{FF2B5EF4-FFF2-40B4-BE49-F238E27FC236}">
                    <a16:creationId xmlns:a16="http://schemas.microsoft.com/office/drawing/2014/main" id="{313950B5-AC68-163A-D546-116B743E8A87}"/>
                  </a:ext>
                </a:extLst>
              </p:cNvPr>
              <p:cNvSpPr/>
              <p:nvPr/>
            </p:nvSpPr>
            <p:spPr>
              <a:xfrm>
                <a:off x="2644660" y="3967045"/>
                <a:ext cx="661165" cy="206544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206544">
                    <a:moveTo>
                      <a:pt x="0" y="206544"/>
                    </a:moveTo>
                    <a:lnTo>
                      <a:pt x="661165" y="206544"/>
                    </a:lnTo>
                    <a:lnTo>
                      <a:pt x="661165" y="0"/>
                    </a:lnTo>
                    <a:lnTo>
                      <a:pt x="0" y="0"/>
                    </a:lnTo>
                    <a:lnTo>
                      <a:pt x="0" y="206544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0" name="Rounded Rectangle 75">
                <a:extLst>
                  <a:ext uri="{FF2B5EF4-FFF2-40B4-BE49-F238E27FC236}">
                    <a16:creationId xmlns:a16="http://schemas.microsoft.com/office/drawing/2014/main" id="{E61586B8-17AE-7CA4-6A98-B7D021F4CA93}"/>
                  </a:ext>
                </a:extLst>
              </p:cNvPr>
              <p:cNvSpPr/>
              <p:nvPr/>
            </p:nvSpPr>
            <p:spPr>
              <a:xfrm>
                <a:off x="2743784" y="2355818"/>
                <a:ext cx="462842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62842" h="103307">
                    <a:moveTo>
                      <a:pt x="66" y="0"/>
                    </a:moveTo>
                    <a:lnTo>
                      <a:pt x="462842" y="0"/>
                    </a:lnTo>
                    <a:cubicBezTo>
                      <a:pt x="408045" y="0"/>
                      <a:pt x="363647" y="46238"/>
                      <a:pt x="363647" y="103307"/>
                    </a:cubicBezTo>
                    <a:lnTo>
                      <a:pt x="99194" y="103307"/>
                    </a:lnTo>
                    <a:cubicBezTo>
                      <a:pt x="99194" y="46238"/>
                      <a:pt x="54796" y="0"/>
                      <a:pt x="0" y="0"/>
                    </a:cubicBezTo>
                    <a:lnTo>
                      <a:pt x="66" y="0"/>
                    </a:ln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1" name="Rounded Rectangle 76">
                <a:extLst>
                  <a:ext uri="{FF2B5EF4-FFF2-40B4-BE49-F238E27FC236}">
                    <a16:creationId xmlns:a16="http://schemas.microsoft.com/office/drawing/2014/main" id="{2631E0E2-E4DB-E978-25A6-AED36C552C2C}"/>
                  </a:ext>
                </a:extLst>
              </p:cNvPr>
              <p:cNvSpPr/>
              <p:nvPr/>
            </p:nvSpPr>
            <p:spPr>
              <a:xfrm>
                <a:off x="2644660" y="3863684"/>
                <a:ext cx="661165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661165" h="103307">
                    <a:moveTo>
                      <a:pt x="0" y="103307"/>
                    </a:moveTo>
                    <a:lnTo>
                      <a:pt x="661165" y="103307"/>
                    </a:lnTo>
                    <a:cubicBezTo>
                      <a:pt x="606368" y="103307"/>
                      <a:pt x="561970" y="57068"/>
                      <a:pt x="561970" y="0"/>
                    </a:cubicBezTo>
                    <a:lnTo>
                      <a:pt x="99194" y="0"/>
                    </a:lnTo>
                    <a:cubicBezTo>
                      <a:pt x="99194" y="57068"/>
                      <a:pt x="54796" y="103307"/>
                      <a:pt x="0" y="103307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2" name="Rounded Rectangle 77">
                <a:extLst>
                  <a:ext uri="{FF2B5EF4-FFF2-40B4-BE49-F238E27FC236}">
                    <a16:creationId xmlns:a16="http://schemas.microsoft.com/office/drawing/2014/main" id="{A64A36AC-C817-6B2D-6396-735C6C34189D}"/>
                  </a:ext>
                </a:extLst>
              </p:cNvPr>
              <p:cNvSpPr/>
              <p:nvPr/>
            </p:nvSpPr>
            <p:spPr>
              <a:xfrm>
                <a:off x="2768575" y="2459111"/>
                <a:ext cx="413244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413244" h="103307">
                    <a:moveTo>
                      <a:pt x="49597" y="0"/>
                    </a:moveTo>
                    <a:lnTo>
                      <a:pt x="363647" y="0"/>
                    </a:lnTo>
                    <a:cubicBezTo>
                      <a:pt x="391046" y="0"/>
                      <a:pt x="413244" y="23119"/>
                      <a:pt x="413244" y="51653"/>
                    </a:cubicBezTo>
                    <a:cubicBezTo>
                      <a:pt x="413244" y="80187"/>
                      <a:pt x="391046" y="103307"/>
                      <a:pt x="363647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603" name="Rounded Rectangle 78">
                <a:extLst>
                  <a:ext uri="{FF2B5EF4-FFF2-40B4-BE49-F238E27FC236}">
                    <a16:creationId xmlns:a16="http://schemas.microsoft.com/office/drawing/2014/main" id="{7ED2A2F1-4A19-F860-6487-81B99A097198}"/>
                  </a:ext>
                </a:extLst>
              </p:cNvPr>
              <p:cNvSpPr/>
              <p:nvPr/>
            </p:nvSpPr>
            <p:spPr>
              <a:xfrm>
                <a:off x="2694269" y="3760431"/>
                <a:ext cx="561970" cy="103307"/>
              </a:xfrm>
              <a:custGeom>
                <a:avLst/>
                <a:gdLst/>
                <a:ahLst/>
                <a:cxnLst/>
                <a:rect l="0" t="0" r="0" b="0"/>
                <a:pathLst>
                  <a:path w="561970" h="103307">
                    <a:moveTo>
                      <a:pt x="49597" y="0"/>
                    </a:moveTo>
                    <a:lnTo>
                      <a:pt x="512373" y="0"/>
                    </a:lnTo>
                    <a:cubicBezTo>
                      <a:pt x="539771" y="0"/>
                      <a:pt x="561970" y="23119"/>
                      <a:pt x="561970" y="51653"/>
                    </a:cubicBezTo>
                    <a:cubicBezTo>
                      <a:pt x="561970" y="80187"/>
                      <a:pt x="539771" y="103307"/>
                      <a:pt x="512373" y="103307"/>
                    </a:cubicBezTo>
                    <a:lnTo>
                      <a:pt x="49597" y="103307"/>
                    </a:lnTo>
                    <a:cubicBezTo>
                      <a:pt x="22198" y="103307"/>
                      <a:pt x="0" y="80187"/>
                      <a:pt x="0" y="51653"/>
                    </a:cubicBezTo>
                    <a:cubicBezTo>
                      <a:pt x="0" y="23119"/>
                      <a:pt x="22198" y="0"/>
                      <a:pt x="49597" y="0"/>
                    </a:cubicBezTo>
                    <a:close/>
                  </a:path>
                </a:pathLst>
              </a:custGeom>
              <a:noFill/>
              <a:ln w="10330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17592" name="Rounded Rectangle 80">
              <a:extLst>
                <a:ext uri="{FF2B5EF4-FFF2-40B4-BE49-F238E27FC236}">
                  <a16:creationId xmlns:a16="http://schemas.microsoft.com/office/drawing/2014/main" id="{A8833252-B347-024F-8B16-EE806B674925}"/>
                </a:ext>
              </a:extLst>
            </p:cNvPr>
            <p:cNvSpPr/>
            <p:nvPr/>
          </p:nvSpPr>
          <p:spPr>
            <a:xfrm>
              <a:off x="8915044" y="1389227"/>
              <a:ext cx="469950" cy="501920"/>
            </a:xfrm>
            <a:custGeom>
              <a:avLst/>
              <a:gdLst/>
              <a:ahLst/>
              <a:cxnLst/>
              <a:rect l="0" t="0" r="0" b="0"/>
              <a:pathLst>
                <a:path w="469950" h="501920">
                  <a:moveTo>
                    <a:pt x="234713" y="131434"/>
                  </a:moveTo>
                  <a:cubicBezTo>
                    <a:pt x="260320" y="131516"/>
                    <a:pt x="283453" y="116144"/>
                    <a:pt x="293288" y="92501"/>
                  </a:cubicBezTo>
                  <a:cubicBezTo>
                    <a:pt x="303130" y="68857"/>
                    <a:pt x="297737" y="41612"/>
                    <a:pt x="279624" y="23505"/>
                  </a:cubicBezTo>
                  <a:cubicBezTo>
                    <a:pt x="261518" y="5392"/>
                    <a:pt x="234272" y="0"/>
                    <a:pt x="210629" y="9841"/>
                  </a:cubicBezTo>
                  <a:cubicBezTo>
                    <a:pt x="186985" y="19676"/>
                    <a:pt x="171613" y="42810"/>
                    <a:pt x="171696" y="68416"/>
                  </a:cubicBezTo>
                  <a:cubicBezTo>
                    <a:pt x="171806" y="103176"/>
                    <a:pt x="199954" y="131323"/>
                    <a:pt x="234713" y="131434"/>
                  </a:cubicBezTo>
                  <a:moveTo>
                    <a:pt x="133472" y="470074"/>
                  </a:moveTo>
                  <a:lnTo>
                    <a:pt x="140084" y="470074"/>
                  </a:lnTo>
                  <a:cubicBezTo>
                    <a:pt x="148645" y="470074"/>
                    <a:pt x="155580" y="477010"/>
                    <a:pt x="155580" y="485570"/>
                  </a:cubicBezTo>
                  <a:cubicBezTo>
                    <a:pt x="155580" y="494131"/>
                    <a:pt x="148645" y="501066"/>
                    <a:pt x="140084" y="501066"/>
                  </a:cubicBezTo>
                  <a:lnTo>
                    <a:pt x="133885" y="501066"/>
                  </a:lnTo>
                  <a:cubicBezTo>
                    <a:pt x="111061" y="501066"/>
                    <a:pt x="92563" y="482567"/>
                    <a:pt x="92563" y="459744"/>
                  </a:cubicBezTo>
                  <a:lnTo>
                    <a:pt x="92563" y="422140"/>
                  </a:lnTo>
                  <a:cubicBezTo>
                    <a:pt x="92563" y="413579"/>
                    <a:pt x="99498" y="406644"/>
                    <a:pt x="108059" y="406644"/>
                  </a:cubicBezTo>
                  <a:cubicBezTo>
                    <a:pt x="116619" y="406644"/>
                    <a:pt x="123555" y="413579"/>
                    <a:pt x="123555" y="422140"/>
                  </a:cubicBezTo>
                  <a:lnTo>
                    <a:pt x="123555" y="459744"/>
                  </a:lnTo>
                  <a:cubicBezTo>
                    <a:pt x="123438" y="465336"/>
                    <a:pt x="127880" y="469964"/>
                    <a:pt x="133472" y="470074"/>
                  </a:cubicBezTo>
                  <a:moveTo>
                    <a:pt x="361574" y="406644"/>
                  </a:moveTo>
                  <a:cubicBezTo>
                    <a:pt x="370169" y="406644"/>
                    <a:pt x="377167" y="413551"/>
                    <a:pt x="377277" y="422140"/>
                  </a:cubicBezTo>
                  <a:lnTo>
                    <a:pt x="377277" y="459537"/>
                  </a:lnTo>
                  <a:cubicBezTo>
                    <a:pt x="377277" y="482361"/>
                    <a:pt x="358778" y="500860"/>
                    <a:pt x="335954" y="500860"/>
                  </a:cubicBezTo>
                  <a:lnTo>
                    <a:pt x="329756" y="500860"/>
                  </a:lnTo>
                  <a:cubicBezTo>
                    <a:pt x="321195" y="500860"/>
                    <a:pt x="314260" y="493924"/>
                    <a:pt x="314260" y="485364"/>
                  </a:cubicBezTo>
                  <a:cubicBezTo>
                    <a:pt x="314260" y="476803"/>
                    <a:pt x="321195" y="469868"/>
                    <a:pt x="329756" y="469868"/>
                  </a:cubicBezTo>
                  <a:lnTo>
                    <a:pt x="335954" y="469868"/>
                  </a:lnTo>
                  <a:cubicBezTo>
                    <a:pt x="341546" y="469868"/>
                    <a:pt x="346078" y="465336"/>
                    <a:pt x="346078" y="459744"/>
                  </a:cubicBezTo>
                  <a:lnTo>
                    <a:pt x="346078" y="422140"/>
                  </a:lnTo>
                  <a:cubicBezTo>
                    <a:pt x="346078" y="413579"/>
                    <a:pt x="353014" y="406644"/>
                    <a:pt x="361574" y="406644"/>
                  </a:cubicBezTo>
                  <a:moveTo>
                    <a:pt x="469840" y="284948"/>
                  </a:moveTo>
                  <a:cubicBezTo>
                    <a:pt x="469895" y="273033"/>
                    <a:pt x="463160" y="262131"/>
                    <a:pt x="452484" y="256848"/>
                  </a:cubicBezTo>
                  <a:cubicBezTo>
                    <a:pt x="452794" y="255209"/>
                    <a:pt x="452794" y="253529"/>
                    <a:pt x="452484" y="251890"/>
                  </a:cubicBezTo>
                  <a:cubicBezTo>
                    <a:pt x="451465" y="241834"/>
                    <a:pt x="449599" y="231883"/>
                    <a:pt x="446906" y="222137"/>
                  </a:cubicBezTo>
                  <a:cubicBezTo>
                    <a:pt x="435287" y="183755"/>
                    <a:pt x="402504" y="155559"/>
                    <a:pt x="362814" y="149822"/>
                  </a:cubicBezTo>
                  <a:lnTo>
                    <a:pt x="362814" y="112012"/>
                  </a:lnTo>
                  <a:cubicBezTo>
                    <a:pt x="362814" y="103451"/>
                    <a:pt x="355879" y="96516"/>
                    <a:pt x="347318" y="96516"/>
                  </a:cubicBezTo>
                  <a:lnTo>
                    <a:pt x="317979" y="96516"/>
                  </a:lnTo>
                  <a:cubicBezTo>
                    <a:pt x="309418" y="96516"/>
                    <a:pt x="302483" y="103451"/>
                    <a:pt x="302483" y="112012"/>
                  </a:cubicBezTo>
                  <a:cubicBezTo>
                    <a:pt x="302483" y="120573"/>
                    <a:pt x="309418" y="127508"/>
                    <a:pt x="317979" y="127508"/>
                  </a:cubicBezTo>
                  <a:lnTo>
                    <a:pt x="332028" y="127508"/>
                  </a:lnTo>
                  <a:lnTo>
                    <a:pt x="332028" y="148169"/>
                  </a:lnTo>
                  <a:lnTo>
                    <a:pt x="316326" y="148169"/>
                  </a:lnTo>
                  <a:cubicBezTo>
                    <a:pt x="312558" y="147102"/>
                    <a:pt x="308667" y="146544"/>
                    <a:pt x="304755" y="146516"/>
                  </a:cubicBezTo>
                  <a:cubicBezTo>
                    <a:pt x="290499" y="146572"/>
                    <a:pt x="277042" y="153114"/>
                    <a:pt x="268185" y="164285"/>
                  </a:cubicBezTo>
                  <a:cubicBezTo>
                    <a:pt x="264121" y="164072"/>
                    <a:pt x="260058" y="164072"/>
                    <a:pt x="255994" y="164285"/>
                  </a:cubicBezTo>
                  <a:lnTo>
                    <a:pt x="201242" y="164285"/>
                  </a:lnTo>
                  <a:cubicBezTo>
                    <a:pt x="192467" y="153121"/>
                    <a:pt x="179079" y="146578"/>
                    <a:pt x="164878" y="146516"/>
                  </a:cubicBezTo>
                  <a:cubicBezTo>
                    <a:pt x="160897" y="146530"/>
                    <a:pt x="156930" y="147088"/>
                    <a:pt x="153101" y="148169"/>
                  </a:cubicBezTo>
                  <a:lnTo>
                    <a:pt x="137605" y="148169"/>
                  </a:lnTo>
                  <a:lnTo>
                    <a:pt x="137605" y="127508"/>
                  </a:lnTo>
                  <a:lnTo>
                    <a:pt x="151654" y="127508"/>
                  </a:lnTo>
                  <a:cubicBezTo>
                    <a:pt x="160215" y="127508"/>
                    <a:pt x="167150" y="120573"/>
                    <a:pt x="167150" y="112012"/>
                  </a:cubicBezTo>
                  <a:cubicBezTo>
                    <a:pt x="167150" y="103451"/>
                    <a:pt x="160215" y="96516"/>
                    <a:pt x="151654" y="96516"/>
                  </a:cubicBezTo>
                  <a:lnTo>
                    <a:pt x="122108" y="96516"/>
                  </a:lnTo>
                  <a:cubicBezTo>
                    <a:pt x="117983" y="96461"/>
                    <a:pt x="114009" y="98072"/>
                    <a:pt x="111089" y="100992"/>
                  </a:cubicBezTo>
                  <a:cubicBezTo>
                    <a:pt x="108169" y="103913"/>
                    <a:pt x="106557" y="107887"/>
                    <a:pt x="106612" y="112012"/>
                  </a:cubicBezTo>
                  <a:lnTo>
                    <a:pt x="106612" y="149822"/>
                  </a:lnTo>
                  <a:cubicBezTo>
                    <a:pt x="66846" y="155490"/>
                    <a:pt x="33967" y="183693"/>
                    <a:pt x="22314" y="222137"/>
                  </a:cubicBezTo>
                  <a:cubicBezTo>
                    <a:pt x="19525" y="231855"/>
                    <a:pt x="17658" y="241821"/>
                    <a:pt x="16735" y="251890"/>
                  </a:cubicBezTo>
                  <a:cubicBezTo>
                    <a:pt x="16425" y="253529"/>
                    <a:pt x="16425" y="255209"/>
                    <a:pt x="16735" y="256848"/>
                  </a:cubicBezTo>
                  <a:cubicBezTo>
                    <a:pt x="6432" y="262344"/>
                    <a:pt x="0" y="273068"/>
                    <a:pt x="0" y="284741"/>
                  </a:cubicBezTo>
                  <a:cubicBezTo>
                    <a:pt x="0" y="296415"/>
                    <a:pt x="6432" y="307138"/>
                    <a:pt x="16735" y="312634"/>
                  </a:cubicBezTo>
                  <a:cubicBezTo>
                    <a:pt x="16625" y="313943"/>
                    <a:pt x="16625" y="315251"/>
                    <a:pt x="16735" y="316560"/>
                  </a:cubicBezTo>
                  <a:lnTo>
                    <a:pt x="16735" y="330816"/>
                  </a:lnTo>
                  <a:cubicBezTo>
                    <a:pt x="16735" y="350851"/>
                    <a:pt x="32858" y="367160"/>
                    <a:pt x="52893" y="367387"/>
                  </a:cubicBezTo>
                  <a:lnTo>
                    <a:pt x="68182" y="367387"/>
                  </a:lnTo>
                  <a:cubicBezTo>
                    <a:pt x="76743" y="367387"/>
                    <a:pt x="83678" y="360452"/>
                    <a:pt x="83678" y="351891"/>
                  </a:cubicBezTo>
                  <a:cubicBezTo>
                    <a:pt x="83678" y="343330"/>
                    <a:pt x="76743" y="336395"/>
                    <a:pt x="68182" y="336395"/>
                  </a:cubicBezTo>
                  <a:lnTo>
                    <a:pt x="52893" y="336395"/>
                  </a:lnTo>
                  <a:cubicBezTo>
                    <a:pt x="49814" y="336395"/>
                    <a:pt x="47314" y="333895"/>
                    <a:pt x="47314" y="330816"/>
                  </a:cubicBezTo>
                  <a:lnTo>
                    <a:pt x="47314" y="316560"/>
                  </a:lnTo>
                  <a:cubicBezTo>
                    <a:pt x="47528" y="315258"/>
                    <a:pt x="47528" y="313936"/>
                    <a:pt x="47314" y="312634"/>
                  </a:cubicBezTo>
                  <a:cubicBezTo>
                    <a:pt x="57418" y="307131"/>
                    <a:pt x="63706" y="296553"/>
                    <a:pt x="63706" y="285051"/>
                  </a:cubicBezTo>
                  <a:cubicBezTo>
                    <a:pt x="63706" y="273550"/>
                    <a:pt x="57418" y="262971"/>
                    <a:pt x="47314" y="257468"/>
                  </a:cubicBezTo>
                  <a:cubicBezTo>
                    <a:pt x="47411" y="256642"/>
                    <a:pt x="47411" y="255815"/>
                    <a:pt x="47314" y="254989"/>
                  </a:cubicBezTo>
                  <a:cubicBezTo>
                    <a:pt x="48430" y="246711"/>
                    <a:pt x="50296" y="238549"/>
                    <a:pt x="52893" y="230608"/>
                  </a:cubicBezTo>
                  <a:cubicBezTo>
                    <a:pt x="61874" y="200243"/>
                    <a:pt x="89615" y="179285"/>
                    <a:pt x="121282" y="178955"/>
                  </a:cubicBezTo>
                  <a:cubicBezTo>
                    <a:pt x="119856" y="183432"/>
                    <a:pt x="119161" y="188101"/>
                    <a:pt x="119216" y="192798"/>
                  </a:cubicBezTo>
                  <a:cubicBezTo>
                    <a:pt x="119305" y="199995"/>
                    <a:pt x="121075" y="207068"/>
                    <a:pt x="124381" y="213459"/>
                  </a:cubicBezTo>
                  <a:cubicBezTo>
                    <a:pt x="114154" y="229961"/>
                    <a:pt x="108782" y="249004"/>
                    <a:pt x="108885" y="268419"/>
                  </a:cubicBezTo>
                  <a:lnTo>
                    <a:pt x="108885" y="340940"/>
                  </a:lnTo>
                  <a:cubicBezTo>
                    <a:pt x="108541" y="358324"/>
                    <a:pt x="122294" y="372725"/>
                    <a:pt x="139671" y="373172"/>
                  </a:cubicBezTo>
                  <a:lnTo>
                    <a:pt x="154547" y="373172"/>
                  </a:lnTo>
                  <a:lnTo>
                    <a:pt x="154547" y="279576"/>
                  </a:lnTo>
                  <a:cubicBezTo>
                    <a:pt x="154547" y="273873"/>
                    <a:pt x="159175" y="269245"/>
                    <a:pt x="164878" y="269245"/>
                  </a:cubicBezTo>
                  <a:cubicBezTo>
                    <a:pt x="170580" y="269245"/>
                    <a:pt x="175208" y="273873"/>
                    <a:pt x="175208" y="279576"/>
                  </a:cubicBezTo>
                  <a:lnTo>
                    <a:pt x="175208" y="480405"/>
                  </a:lnTo>
                  <a:cubicBezTo>
                    <a:pt x="176510" y="492781"/>
                    <a:pt x="187378" y="501913"/>
                    <a:pt x="199795" y="501066"/>
                  </a:cubicBezTo>
                  <a:cubicBezTo>
                    <a:pt x="212213" y="501913"/>
                    <a:pt x="223081" y="492781"/>
                    <a:pt x="224382" y="480405"/>
                  </a:cubicBezTo>
                  <a:lnTo>
                    <a:pt x="224382" y="349412"/>
                  </a:lnTo>
                  <a:cubicBezTo>
                    <a:pt x="224382" y="343709"/>
                    <a:pt x="229011" y="339081"/>
                    <a:pt x="234713" y="339081"/>
                  </a:cubicBezTo>
                  <a:cubicBezTo>
                    <a:pt x="240416" y="339081"/>
                    <a:pt x="245044" y="343709"/>
                    <a:pt x="245044" y="349412"/>
                  </a:cubicBezTo>
                  <a:lnTo>
                    <a:pt x="245044" y="480405"/>
                  </a:lnTo>
                  <a:cubicBezTo>
                    <a:pt x="246449" y="492816"/>
                    <a:pt x="257379" y="501920"/>
                    <a:pt x="269838" y="501066"/>
                  </a:cubicBezTo>
                  <a:cubicBezTo>
                    <a:pt x="282255" y="501913"/>
                    <a:pt x="293123" y="492781"/>
                    <a:pt x="294425" y="480405"/>
                  </a:cubicBezTo>
                  <a:lnTo>
                    <a:pt x="294425" y="279576"/>
                  </a:lnTo>
                  <a:cubicBezTo>
                    <a:pt x="294425" y="273873"/>
                    <a:pt x="299053" y="269245"/>
                    <a:pt x="304755" y="269245"/>
                  </a:cubicBezTo>
                  <a:cubicBezTo>
                    <a:pt x="310458" y="269245"/>
                    <a:pt x="315086" y="273873"/>
                    <a:pt x="315086" y="279576"/>
                  </a:cubicBezTo>
                  <a:lnTo>
                    <a:pt x="315086" y="373172"/>
                  </a:lnTo>
                  <a:lnTo>
                    <a:pt x="329756" y="373172"/>
                  </a:lnTo>
                  <a:cubicBezTo>
                    <a:pt x="338179" y="373227"/>
                    <a:pt x="346271" y="369921"/>
                    <a:pt x="352242" y="363985"/>
                  </a:cubicBezTo>
                  <a:cubicBezTo>
                    <a:pt x="358213" y="358055"/>
                    <a:pt x="361574" y="349983"/>
                    <a:pt x="361574" y="341560"/>
                  </a:cubicBezTo>
                  <a:lnTo>
                    <a:pt x="361574" y="269039"/>
                  </a:lnTo>
                  <a:cubicBezTo>
                    <a:pt x="361574" y="249638"/>
                    <a:pt x="356216" y="230622"/>
                    <a:pt x="346078" y="214079"/>
                  </a:cubicBezTo>
                  <a:cubicBezTo>
                    <a:pt x="349384" y="207688"/>
                    <a:pt x="351154" y="200615"/>
                    <a:pt x="351244" y="193418"/>
                  </a:cubicBezTo>
                  <a:cubicBezTo>
                    <a:pt x="351230" y="188714"/>
                    <a:pt x="350458" y="184038"/>
                    <a:pt x="348971" y="179575"/>
                  </a:cubicBezTo>
                  <a:cubicBezTo>
                    <a:pt x="380693" y="179885"/>
                    <a:pt x="408503" y="200828"/>
                    <a:pt x="417567" y="231228"/>
                  </a:cubicBezTo>
                  <a:cubicBezTo>
                    <a:pt x="419715" y="239224"/>
                    <a:pt x="421238" y="247379"/>
                    <a:pt x="422112" y="255609"/>
                  </a:cubicBezTo>
                  <a:cubicBezTo>
                    <a:pt x="422016" y="256435"/>
                    <a:pt x="422016" y="257262"/>
                    <a:pt x="422112" y="258088"/>
                  </a:cubicBezTo>
                  <a:cubicBezTo>
                    <a:pt x="412126" y="263680"/>
                    <a:pt x="405941" y="274225"/>
                    <a:pt x="405941" y="285671"/>
                  </a:cubicBezTo>
                  <a:cubicBezTo>
                    <a:pt x="405941" y="297118"/>
                    <a:pt x="412126" y="307662"/>
                    <a:pt x="422112" y="313254"/>
                  </a:cubicBezTo>
                  <a:cubicBezTo>
                    <a:pt x="422002" y="314563"/>
                    <a:pt x="422002" y="315871"/>
                    <a:pt x="422112" y="317180"/>
                  </a:cubicBezTo>
                  <a:lnTo>
                    <a:pt x="422112" y="331436"/>
                  </a:lnTo>
                  <a:cubicBezTo>
                    <a:pt x="422112" y="334515"/>
                    <a:pt x="419612" y="337015"/>
                    <a:pt x="416534" y="337015"/>
                  </a:cubicBezTo>
                  <a:lnTo>
                    <a:pt x="401038" y="337015"/>
                  </a:lnTo>
                  <a:cubicBezTo>
                    <a:pt x="392477" y="337015"/>
                    <a:pt x="385541" y="343950"/>
                    <a:pt x="385541" y="352511"/>
                  </a:cubicBezTo>
                  <a:cubicBezTo>
                    <a:pt x="385541" y="361071"/>
                    <a:pt x="392477" y="368007"/>
                    <a:pt x="401038" y="368007"/>
                  </a:cubicBezTo>
                  <a:lnTo>
                    <a:pt x="416534" y="368007"/>
                  </a:lnTo>
                  <a:cubicBezTo>
                    <a:pt x="436734" y="368007"/>
                    <a:pt x="453104" y="351636"/>
                    <a:pt x="453104" y="331436"/>
                  </a:cubicBezTo>
                  <a:lnTo>
                    <a:pt x="453104" y="317180"/>
                  </a:lnTo>
                  <a:cubicBezTo>
                    <a:pt x="453214" y="315871"/>
                    <a:pt x="453214" y="314563"/>
                    <a:pt x="453104" y="313254"/>
                  </a:cubicBezTo>
                  <a:cubicBezTo>
                    <a:pt x="463504" y="307655"/>
                    <a:pt x="469950" y="296759"/>
                    <a:pt x="469840" y="284948"/>
                  </a:cubicBezTo>
                  <a:moveTo>
                    <a:pt x="164878" y="208294"/>
                  </a:moveTo>
                  <a:cubicBezTo>
                    <a:pt x="156317" y="208294"/>
                    <a:pt x="149382" y="201359"/>
                    <a:pt x="149382" y="192798"/>
                  </a:cubicBezTo>
                  <a:cubicBezTo>
                    <a:pt x="149382" y="184237"/>
                    <a:pt x="156317" y="177302"/>
                    <a:pt x="164878" y="177302"/>
                  </a:cubicBezTo>
                  <a:cubicBezTo>
                    <a:pt x="173438" y="177302"/>
                    <a:pt x="180374" y="184237"/>
                    <a:pt x="180374" y="192798"/>
                  </a:cubicBezTo>
                  <a:cubicBezTo>
                    <a:pt x="180374" y="201359"/>
                    <a:pt x="173438" y="208294"/>
                    <a:pt x="164878" y="208294"/>
                  </a:cubicBezTo>
                  <a:moveTo>
                    <a:pt x="304755" y="208294"/>
                  </a:moveTo>
                  <a:cubicBezTo>
                    <a:pt x="296195" y="208294"/>
                    <a:pt x="289259" y="201359"/>
                    <a:pt x="289259" y="192798"/>
                  </a:cubicBezTo>
                  <a:cubicBezTo>
                    <a:pt x="289259" y="184237"/>
                    <a:pt x="296195" y="177302"/>
                    <a:pt x="304755" y="177302"/>
                  </a:cubicBezTo>
                  <a:cubicBezTo>
                    <a:pt x="313316" y="177302"/>
                    <a:pt x="320251" y="184237"/>
                    <a:pt x="320251" y="192798"/>
                  </a:cubicBezTo>
                  <a:cubicBezTo>
                    <a:pt x="320251" y="201359"/>
                    <a:pt x="313316" y="208294"/>
                    <a:pt x="304755" y="208294"/>
                  </a:cubicBez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593" name="Rounded Rectangle 81">
              <a:extLst>
                <a:ext uri="{FF2B5EF4-FFF2-40B4-BE49-F238E27FC236}">
                  <a16:creationId xmlns:a16="http://schemas.microsoft.com/office/drawing/2014/main" id="{ABE6325E-C14C-4FC9-73DD-FFD691E2F692}"/>
                </a:ext>
              </a:extLst>
            </p:cNvPr>
            <p:cNvSpPr/>
            <p:nvPr/>
          </p:nvSpPr>
          <p:spPr>
            <a:xfrm>
              <a:off x="7914205" y="3295228"/>
              <a:ext cx="248260" cy="247668"/>
            </a:xfrm>
            <a:custGeom>
              <a:avLst/>
              <a:gdLst/>
              <a:ahLst/>
              <a:cxnLst/>
              <a:rect l="0" t="0" r="0" b="0"/>
              <a:pathLst>
                <a:path w="248260" h="247668">
                  <a:moveTo>
                    <a:pt x="246800" y="156448"/>
                  </a:moveTo>
                  <a:cubicBezTo>
                    <a:pt x="245526" y="152563"/>
                    <a:pt x="242785" y="149340"/>
                    <a:pt x="239155" y="147460"/>
                  </a:cubicBezTo>
                  <a:lnTo>
                    <a:pt x="165291" y="110373"/>
                  </a:lnTo>
                  <a:cubicBezTo>
                    <a:pt x="157694" y="106674"/>
                    <a:pt x="148534" y="109698"/>
                    <a:pt x="144629" y="117191"/>
                  </a:cubicBezTo>
                  <a:lnTo>
                    <a:pt x="138224" y="129795"/>
                  </a:lnTo>
                  <a:cubicBezTo>
                    <a:pt x="137859" y="130518"/>
                    <a:pt x="137164" y="131020"/>
                    <a:pt x="136365" y="131137"/>
                  </a:cubicBezTo>
                  <a:cubicBezTo>
                    <a:pt x="135587" y="131275"/>
                    <a:pt x="134788" y="131048"/>
                    <a:pt x="134195" y="130518"/>
                  </a:cubicBezTo>
                  <a:cubicBezTo>
                    <a:pt x="126730" y="123527"/>
                    <a:pt x="117997" y="118024"/>
                    <a:pt x="108472" y="114298"/>
                  </a:cubicBezTo>
                  <a:cubicBezTo>
                    <a:pt x="107556" y="113947"/>
                    <a:pt x="106915" y="113107"/>
                    <a:pt x="106819" y="112129"/>
                  </a:cubicBezTo>
                  <a:cubicBezTo>
                    <a:pt x="106805" y="111123"/>
                    <a:pt x="107315" y="110187"/>
                    <a:pt x="108162" y="109650"/>
                  </a:cubicBezTo>
                  <a:cubicBezTo>
                    <a:pt x="131179" y="96275"/>
                    <a:pt x="142308" y="69071"/>
                    <a:pt x="135270" y="43395"/>
                  </a:cubicBezTo>
                  <a:cubicBezTo>
                    <a:pt x="128224" y="17720"/>
                    <a:pt x="104780" y="0"/>
                    <a:pt x="78155" y="241"/>
                  </a:cubicBezTo>
                  <a:cubicBezTo>
                    <a:pt x="51536" y="475"/>
                    <a:pt x="28409" y="18609"/>
                    <a:pt x="21825" y="44408"/>
                  </a:cubicBezTo>
                  <a:cubicBezTo>
                    <a:pt x="15241" y="70200"/>
                    <a:pt x="26852" y="97198"/>
                    <a:pt x="50103" y="110166"/>
                  </a:cubicBezTo>
                  <a:cubicBezTo>
                    <a:pt x="50992" y="110600"/>
                    <a:pt x="51564" y="111502"/>
                    <a:pt x="51564" y="112487"/>
                  </a:cubicBezTo>
                  <a:cubicBezTo>
                    <a:pt x="51564" y="113479"/>
                    <a:pt x="50992" y="114381"/>
                    <a:pt x="50103" y="114815"/>
                  </a:cubicBezTo>
                  <a:cubicBezTo>
                    <a:pt x="19862" y="126867"/>
                    <a:pt x="13" y="156124"/>
                    <a:pt x="0" y="188680"/>
                  </a:cubicBezTo>
                  <a:cubicBezTo>
                    <a:pt x="0" y="191531"/>
                    <a:pt x="2314" y="193845"/>
                    <a:pt x="5165" y="193845"/>
                  </a:cubicBezTo>
                  <a:lnTo>
                    <a:pt x="100207" y="193845"/>
                  </a:lnTo>
                  <a:cubicBezTo>
                    <a:pt x="100958" y="193693"/>
                    <a:pt x="101736" y="193879"/>
                    <a:pt x="102335" y="194361"/>
                  </a:cubicBezTo>
                  <a:cubicBezTo>
                    <a:pt x="102935" y="194837"/>
                    <a:pt x="103293" y="195560"/>
                    <a:pt x="103307" y="196324"/>
                  </a:cubicBezTo>
                  <a:lnTo>
                    <a:pt x="103307" y="232172"/>
                  </a:lnTo>
                  <a:cubicBezTo>
                    <a:pt x="103307" y="240733"/>
                    <a:pt x="110242" y="247668"/>
                    <a:pt x="118803" y="247668"/>
                  </a:cubicBezTo>
                  <a:lnTo>
                    <a:pt x="201448" y="247668"/>
                  </a:lnTo>
                  <a:cubicBezTo>
                    <a:pt x="210009" y="247668"/>
                    <a:pt x="216944" y="240733"/>
                    <a:pt x="216944" y="232172"/>
                  </a:cubicBezTo>
                  <a:lnTo>
                    <a:pt x="216944" y="221841"/>
                  </a:lnTo>
                  <a:cubicBezTo>
                    <a:pt x="216951" y="220980"/>
                    <a:pt x="217378" y="220168"/>
                    <a:pt x="218081" y="219672"/>
                  </a:cubicBezTo>
                  <a:cubicBezTo>
                    <a:pt x="220402" y="218239"/>
                    <a:pt x="222296" y="216207"/>
                    <a:pt x="223556" y="213783"/>
                  </a:cubicBezTo>
                  <a:lnTo>
                    <a:pt x="246800" y="167812"/>
                  </a:lnTo>
                  <a:cubicBezTo>
                    <a:pt x="248260" y="164161"/>
                    <a:pt x="248260" y="160098"/>
                    <a:pt x="246800" y="156448"/>
                  </a:cubicBezTo>
                  <a:moveTo>
                    <a:pt x="126034" y="227316"/>
                  </a:moveTo>
                  <a:cubicBezTo>
                    <a:pt x="124608" y="227316"/>
                    <a:pt x="123451" y="226159"/>
                    <a:pt x="123451" y="224734"/>
                  </a:cubicBezTo>
                  <a:lnTo>
                    <a:pt x="123451" y="188576"/>
                  </a:lnTo>
                  <a:cubicBezTo>
                    <a:pt x="123451" y="187151"/>
                    <a:pt x="124608" y="185994"/>
                    <a:pt x="126034" y="185994"/>
                  </a:cubicBezTo>
                  <a:lnTo>
                    <a:pt x="192874" y="185994"/>
                  </a:lnTo>
                  <a:cubicBezTo>
                    <a:pt x="194299" y="185994"/>
                    <a:pt x="195456" y="187151"/>
                    <a:pt x="195456" y="188576"/>
                  </a:cubicBezTo>
                  <a:lnTo>
                    <a:pt x="195456" y="224527"/>
                  </a:lnTo>
                  <a:cubicBezTo>
                    <a:pt x="195456" y="225953"/>
                    <a:pt x="194299" y="227110"/>
                    <a:pt x="192874" y="227110"/>
                  </a:cubicBezTo>
                  <a:lnTo>
                    <a:pt x="126034" y="227110"/>
                  </a:lnTo>
                  <a:moveTo>
                    <a:pt x="87707" y="143844"/>
                  </a:moveTo>
                  <a:lnTo>
                    <a:pt x="87707" y="161200"/>
                  </a:lnTo>
                  <a:cubicBezTo>
                    <a:pt x="87707" y="165477"/>
                    <a:pt x="84236" y="168948"/>
                    <a:pt x="79959" y="168948"/>
                  </a:cubicBezTo>
                  <a:cubicBezTo>
                    <a:pt x="75682" y="168948"/>
                    <a:pt x="72211" y="165477"/>
                    <a:pt x="72211" y="161200"/>
                  </a:cubicBezTo>
                  <a:lnTo>
                    <a:pt x="72211" y="143844"/>
                  </a:lnTo>
                  <a:cubicBezTo>
                    <a:pt x="72211" y="139567"/>
                    <a:pt x="75682" y="136096"/>
                    <a:pt x="79959" y="136096"/>
                  </a:cubicBezTo>
                  <a:cubicBezTo>
                    <a:pt x="84236" y="136096"/>
                    <a:pt x="87707" y="139567"/>
                    <a:pt x="87707" y="143844"/>
                  </a:cubicBezTo>
                  <a:moveTo>
                    <a:pt x="200622" y="165332"/>
                  </a:moveTo>
                  <a:lnTo>
                    <a:pt x="147935" y="165332"/>
                  </a:lnTo>
                  <a:cubicBezTo>
                    <a:pt x="147005" y="165373"/>
                    <a:pt x="146124" y="164905"/>
                    <a:pt x="145628" y="164113"/>
                  </a:cubicBezTo>
                  <a:cubicBezTo>
                    <a:pt x="145139" y="163321"/>
                    <a:pt x="145111" y="162329"/>
                    <a:pt x="145559" y="161510"/>
                  </a:cubicBezTo>
                  <a:lnTo>
                    <a:pt x="159712" y="133514"/>
                  </a:lnTo>
                  <a:cubicBezTo>
                    <a:pt x="160043" y="132887"/>
                    <a:pt x="160594" y="132405"/>
                    <a:pt x="161262" y="132171"/>
                  </a:cubicBezTo>
                  <a:cubicBezTo>
                    <a:pt x="161889" y="131909"/>
                    <a:pt x="162598" y="131909"/>
                    <a:pt x="163225" y="132171"/>
                  </a:cubicBezTo>
                  <a:lnTo>
                    <a:pt x="222833" y="162233"/>
                  </a:lnTo>
                  <a:cubicBezTo>
                    <a:pt x="223473" y="162522"/>
                    <a:pt x="223969" y="163066"/>
                    <a:pt x="224183" y="163734"/>
                  </a:cubicBezTo>
                  <a:cubicBezTo>
                    <a:pt x="224403" y="164402"/>
                    <a:pt x="224320" y="165139"/>
                    <a:pt x="223969" y="165745"/>
                  </a:cubicBezTo>
                  <a:lnTo>
                    <a:pt x="216944" y="180828"/>
                  </a:lnTo>
                  <a:cubicBezTo>
                    <a:pt x="216951" y="176572"/>
                    <a:pt x="215202" y="172502"/>
                    <a:pt x="212116" y="169568"/>
                  </a:cubicBezTo>
                  <a:cubicBezTo>
                    <a:pt x="209031" y="166634"/>
                    <a:pt x="204871" y="165105"/>
                    <a:pt x="200622" y="165332"/>
                  </a:cubicBezTo>
                  <a:moveTo>
                    <a:pt x="41322" y="59029"/>
                  </a:moveTo>
                  <a:cubicBezTo>
                    <a:pt x="41295" y="54050"/>
                    <a:pt x="42321" y="49125"/>
                    <a:pt x="44318" y="44566"/>
                  </a:cubicBezTo>
                  <a:cubicBezTo>
                    <a:pt x="44628" y="43864"/>
                    <a:pt x="45234" y="43333"/>
                    <a:pt x="45971" y="43120"/>
                  </a:cubicBezTo>
                  <a:cubicBezTo>
                    <a:pt x="46660" y="42817"/>
                    <a:pt x="47452" y="42817"/>
                    <a:pt x="48141" y="43120"/>
                  </a:cubicBezTo>
                  <a:cubicBezTo>
                    <a:pt x="61701" y="53237"/>
                    <a:pt x="78120" y="58809"/>
                    <a:pt x="95042" y="59029"/>
                  </a:cubicBezTo>
                  <a:cubicBezTo>
                    <a:pt x="101309" y="58953"/>
                    <a:pt x="107549" y="58154"/>
                    <a:pt x="113637" y="56653"/>
                  </a:cubicBezTo>
                  <a:cubicBezTo>
                    <a:pt x="114292" y="56350"/>
                    <a:pt x="115049" y="56350"/>
                    <a:pt x="115703" y="56653"/>
                  </a:cubicBezTo>
                  <a:cubicBezTo>
                    <a:pt x="116254" y="57163"/>
                    <a:pt x="116592" y="57865"/>
                    <a:pt x="116633" y="58616"/>
                  </a:cubicBezTo>
                  <a:cubicBezTo>
                    <a:pt x="113816" y="77163"/>
                    <a:pt x="97914" y="90910"/>
                    <a:pt x="79153" y="91013"/>
                  </a:cubicBezTo>
                  <a:cubicBezTo>
                    <a:pt x="60393" y="91116"/>
                    <a:pt x="44346" y="77549"/>
                    <a:pt x="41322" y="59029"/>
                  </a:cubicBezTo>
                  <a:moveTo>
                    <a:pt x="150105" y="207481"/>
                  </a:moveTo>
                  <a:cubicBezTo>
                    <a:pt x="150105" y="213184"/>
                    <a:pt x="154733" y="217812"/>
                    <a:pt x="160435" y="217812"/>
                  </a:cubicBezTo>
                  <a:cubicBezTo>
                    <a:pt x="166138" y="217812"/>
                    <a:pt x="170766" y="213184"/>
                    <a:pt x="170766" y="207481"/>
                  </a:cubicBezTo>
                  <a:cubicBezTo>
                    <a:pt x="170766" y="201779"/>
                    <a:pt x="166138" y="197151"/>
                    <a:pt x="160435" y="197151"/>
                  </a:cubicBezTo>
                  <a:cubicBezTo>
                    <a:pt x="154733" y="197151"/>
                    <a:pt x="150105" y="201779"/>
                    <a:pt x="150105" y="207481"/>
                  </a:cubicBezTo>
                </a:path>
              </a:pathLst>
            </a:custGeom>
            <a:solidFill>
              <a:srgbClr val="D5DCD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594" name="Rounded Rectangle 82">
              <a:extLst>
                <a:ext uri="{FF2B5EF4-FFF2-40B4-BE49-F238E27FC236}">
                  <a16:creationId xmlns:a16="http://schemas.microsoft.com/office/drawing/2014/main" id="{578DE92C-9BD6-02FA-CC4B-2693482AA4E2}"/>
                </a:ext>
              </a:extLst>
            </p:cNvPr>
            <p:cNvSpPr/>
            <p:nvPr/>
          </p:nvSpPr>
          <p:spPr>
            <a:xfrm>
              <a:off x="8658016" y="3295270"/>
              <a:ext cx="247936" cy="247936"/>
            </a:xfrm>
            <a:custGeom>
              <a:avLst/>
              <a:gdLst/>
              <a:ahLst/>
              <a:cxnLst/>
              <a:rect l="0" t="0" r="0" b="0"/>
              <a:pathLst>
                <a:path w="247936" h="247936">
                  <a:moveTo>
                    <a:pt x="103307" y="0"/>
                  </a:moveTo>
                  <a:cubicBezTo>
                    <a:pt x="100455" y="0"/>
                    <a:pt x="98141" y="2314"/>
                    <a:pt x="98141" y="5165"/>
                  </a:cubicBezTo>
                  <a:lnTo>
                    <a:pt x="98141" y="113637"/>
                  </a:lnTo>
                  <a:lnTo>
                    <a:pt x="61984" y="113637"/>
                  </a:lnTo>
                  <a:lnTo>
                    <a:pt x="61984" y="72314"/>
                  </a:lnTo>
                  <a:cubicBezTo>
                    <a:pt x="61984" y="69463"/>
                    <a:pt x="59670" y="67149"/>
                    <a:pt x="56818" y="67149"/>
                  </a:cubicBezTo>
                  <a:lnTo>
                    <a:pt x="15496" y="67149"/>
                  </a:lnTo>
                  <a:cubicBezTo>
                    <a:pt x="12644" y="67149"/>
                    <a:pt x="10330" y="69463"/>
                    <a:pt x="10330" y="72314"/>
                  </a:cubicBezTo>
                  <a:lnTo>
                    <a:pt x="10330" y="113637"/>
                  </a:lnTo>
                  <a:cubicBezTo>
                    <a:pt x="4628" y="113637"/>
                    <a:pt x="0" y="118265"/>
                    <a:pt x="0" y="123968"/>
                  </a:cubicBezTo>
                  <a:cubicBezTo>
                    <a:pt x="0" y="129671"/>
                    <a:pt x="4628" y="134299"/>
                    <a:pt x="10330" y="134299"/>
                  </a:cubicBezTo>
                  <a:lnTo>
                    <a:pt x="237606" y="134299"/>
                  </a:lnTo>
                  <a:cubicBezTo>
                    <a:pt x="243308" y="134299"/>
                    <a:pt x="247936" y="129671"/>
                    <a:pt x="247936" y="123968"/>
                  </a:cubicBezTo>
                  <a:cubicBezTo>
                    <a:pt x="247936" y="118265"/>
                    <a:pt x="243308" y="113637"/>
                    <a:pt x="237606" y="113637"/>
                  </a:cubicBezTo>
                  <a:lnTo>
                    <a:pt x="237606" y="51653"/>
                  </a:lnTo>
                  <a:cubicBezTo>
                    <a:pt x="237606" y="48802"/>
                    <a:pt x="235292" y="46488"/>
                    <a:pt x="232440" y="46488"/>
                  </a:cubicBezTo>
                  <a:lnTo>
                    <a:pt x="191118" y="46488"/>
                  </a:lnTo>
                  <a:cubicBezTo>
                    <a:pt x="188266" y="46488"/>
                    <a:pt x="185952" y="48802"/>
                    <a:pt x="185952" y="51653"/>
                  </a:cubicBezTo>
                  <a:lnTo>
                    <a:pt x="185952" y="113637"/>
                  </a:lnTo>
                  <a:lnTo>
                    <a:pt x="149795" y="113637"/>
                  </a:lnTo>
                  <a:lnTo>
                    <a:pt x="149795" y="5165"/>
                  </a:lnTo>
                  <a:cubicBezTo>
                    <a:pt x="149795" y="2314"/>
                    <a:pt x="147481" y="0"/>
                    <a:pt x="144629" y="0"/>
                  </a:cubicBezTo>
                  <a:lnTo>
                    <a:pt x="103307" y="0"/>
                  </a:lnTo>
                  <a:moveTo>
                    <a:pt x="15496" y="175622"/>
                  </a:moveTo>
                  <a:cubicBezTo>
                    <a:pt x="15496" y="187034"/>
                    <a:pt x="24745" y="196283"/>
                    <a:pt x="36157" y="196283"/>
                  </a:cubicBezTo>
                  <a:cubicBezTo>
                    <a:pt x="47569" y="196283"/>
                    <a:pt x="56818" y="187034"/>
                    <a:pt x="56818" y="175622"/>
                  </a:cubicBezTo>
                  <a:cubicBezTo>
                    <a:pt x="56818" y="164210"/>
                    <a:pt x="47569" y="154960"/>
                    <a:pt x="36157" y="154960"/>
                  </a:cubicBezTo>
                  <a:cubicBezTo>
                    <a:pt x="24745" y="154960"/>
                    <a:pt x="15496" y="164210"/>
                    <a:pt x="15496" y="175622"/>
                  </a:cubicBezTo>
                  <a:moveTo>
                    <a:pt x="103307" y="175622"/>
                  </a:moveTo>
                  <a:cubicBezTo>
                    <a:pt x="103307" y="187034"/>
                    <a:pt x="112556" y="196283"/>
                    <a:pt x="123968" y="196283"/>
                  </a:cubicBezTo>
                  <a:cubicBezTo>
                    <a:pt x="135380" y="196283"/>
                    <a:pt x="144629" y="187034"/>
                    <a:pt x="144629" y="175622"/>
                  </a:cubicBezTo>
                  <a:cubicBezTo>
                    <a:pt x="144629" y="164210"/>
                    <a:pt x="135380" y="154960"/>
                    <a:pt x="123968" y="154960"/>
                  </a:cubicBezTo>
                  <a:cubicBezTo>
                    <a:pt x="112556" y="154960"/>
                    <a:pt x="103307" y="164210"/>
                    <a:pt x="103307" y="175622"/>
                  </a:cubicBezTo>
                  <a:moveTo>
                    <a:pt x="191118" y="175622"/>
                  </a:moveTo>
                  <a:cubicBezTo>
                    <a:pt x="191118" y="187034"/>
                    <a:pt x="200367" y="196283"/>
                    <a:pt x="211779" y="196283"/>
                  </a:cubicBezTo>
                  <a:cubicBezTo>
                    <a:pt x="223191" y="196283"/>
                    <a:pt x="232440" y="187034"/>
                    <a:pt x="232440" y="175622"/>
                  </a:cubicBezTo>
                  <a:cubicBezTo>
                    <a:pt x="232440" y="164210"/>
                    <a:pt x="223191" y="154960"/>
                    <a:pt x="211779" y="154960"/>
                  </a:cubicBezTo>
                  <a:cubicBezTo>
                    <a:pt x="200367" y="154960"/>
                    <a:pt x="191118" y="164210"/>
                    <a:pt x="191118" y="175622"/>
                  </a:cubicBezTo>
                  <a:moveTo>
                    <a:pt x="36157" y="206614"/>
                  </a:moveTo>
                  <a:cubicBezTo>
                    <a:pt x="16191" y="206614"/>
                    <a:pt x="0" y="222805"/>
                    <a:pt x="0" y="242771"/>
                  </a:cubicBezTo>
                  <a:cubicBezTo>
                    <a:pt x="0" y="245622"/>
                    <a:pt x="2314" y="247936"/>
                    <a:pt x="5165" y="247936"/>
                  </a:cubicBezTo>
                  <a:lnTo>
                    <a:pt x="67149" y="247936"/>
                  </a:lnTo>
                  <a:cubicBezTo>
                    <a:pt x="70000" y="247936"/>
                    <a:pt x="72314" y="245622"/>
                    <a:pt x="72314" y="242771"/>
                  </a:cubicBezTo>
                  <a:cubicBezTo>
                    <a:pt x="72314" y="222805"/>
                    <a:pt x="56123" y="206614"/>
                    <a:pt x="36157" y="206614"/>
                  </a:cubicBezTo>
                  <a:moveTo>
                    <a:pt x="123968" y="206614"/>
                  </a:moveTo>
                  <a:cubicBezTo>
                    <a:pt x="104002" y="206614"/>
                    <a:pt x="87811" y="222805"/>
                    <a:pt x="87811" y="242771"/>
                  </a:cubicBezTo>
                  <a:cubicBezTo>
                    <a:pt x="87811" y="245622"/>
                    <a:pt x="90125" y="247936"/>
                    <a:pt x="92976" y="247936"/>
                  </a:cubicBezTo>
                  <a:lnTo>
                    <a:pt x="154960" y="247936"/>
                  </a:lnTo>
                  <a:cubicBezTo>
                    <a:pt x="157811" y="247936"/>
                    <a:pt x="160125" y="245622"/>
                    <a:pt x="160125" y="242771"/>
                  </a:cubicBezTo>
                  <a:cubicBezTo>
                    <a:pt x="160125" y="222805"/>
                    <a:pt x="143934" y="206614"/>
                    <a:pt x="123968" y="206614"/>
                  </a:cubicBezTo>
                  <a:moveTo>
                    <a:pt x="211779" y="206614"/>
                  </a:moveTo>
                  <a:cubicBezTo>
                    <a:pt x="191813" y="206614"/>
                    <a:pt x="175622" y="222805"/>
                    <a:pt x="175622" y="242771"/>
                  </a:cubicBezTo>
                  <a:cubicBezTo>
                    <a:pt x="175622" y="245622"/>
                    <a:pt x="177936" y="247936"/>
                    <a:pt x="180787" y="247936"/>
                  </a:cubicBezTo>
                  <a:lnTo>
                    <a:pt x="242771" y="247936"/>
                  </a:lnTo>
                  <a:cubicBezTo>
                    <a:pt x="245622" y="247936"/>
                    <a:pt x="247936" y="245622"/>
                    <a:pt x="247936" y="242771"/>
                  </a:cubicBezTo>
                  <a:cubicBezTo>
                    <a:pt x="247936" y="222805"/>
                    <a:pt x="231745" y="206614"/>
                    <a:pt x="211779" y="206614"/>
                  </a:cubicBezTo>
                </a:path>
              </a:pathLst>
            </a:custGeom>
            <a:solidFill>
              <a:srgbClr val="D5DCD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595" name="Rounded Rectangle 83">
              <a:extLst>
                <a:ext uri="{FF2B5EF4-FFF2-40B4-BE49-F238E27FC236}">
                  <a16:creationId xmlns:a16="http://schemas.microsoft.com/office/drawing/2014/main" id="{46B7B7CD-FE6F-AD69-0A86-FF439DFC1CF0}"/>
                </a:ext>
              </a:extLst>
            </p:cNvPr>
            <p:cNvSpPr/>
            <p:nvPr/>
          </p:nvSpPr>
          <p:spPr>
            <a:xfrm>
              <a:off x="9401489" y="3294244"/>
              <a:ext cx="248611" cy="248963"/>
            </a:xfrm>
            <a:custGeom>
              <a:avLst/>
              <a:gdLst/>
              <a:ahLst/>
              <a:cxnLst/>
              <a:rect l="0" t="0" r="0" b="0"/>
              <a:pathLst>
                <a:path w="248611" h="248963">
                  <a:moveTo>
                    <a:pt x="98479" y="181813"/>
                  </a:moveTo>
                  <a:cubicBezTo>
                    <a:pt x="98520" y="149719"/>
                    <a:pt x="117136" y="120552"/>
                    <a:pt x="146234" y="106998"/>
                  </a:cubicBezTo>
                  <a:cubicBezTo>
                    <a:pt x="175325" y="93451"/>
                    <a:pt x="209630" y="97969"/>
                    <a:pt x="234224" y="118589"/>
                  </a:cubicBezTo>
                  <a:cubicBezTo>
                    <a:pt x="235133" y="119402"/>
                    <a:pt x="236311" y="119843"/>
                    <a:pt x="237530" y="119829"/>
                  </a:cubicBezTo>
                  <a:lnTo>
                    <a:pt x="243109" y="119829"/>
                  </a:lnTo>
                  <a:cubicBezTo>
                    <a:pt x="245202" y="119801"/>
                    <a:pt x="247069" y="118513"/>
                    <a:pt x="247840" y="116564"/>
                  </a:cubicBezTo>
                  <a:cubicBezTo>
                    <a:pt x="248611" y="114615"/>
                    <a:pt x="248129" y="112398"/>
                    <a:pt x="246621" y="110944"/>
                  </a:cubicBezTo>
                  <a:lnTo>
                    <a:pt x="134636" y="5261"/>
                  </a:lnTo>
                  <a:cubicBezTo>
                    <a:pt x="128755" y="0"/>
                    <a:pt x="119856" y="0"/>
                    <a:pt x="113975" y="5261"/>
                  </a:cubicBezTo>
                  <a:lnTo>
                    <a:pt x="1990" y="110944"/>
                  </a:lnTo>
                  <a:cubicBezTo>
                    <a:pt x="482" y="112398"/>
                    <a:pt x="0" y="114615"/>
                    <a:pt x="771" y="116564"/>
                  </a:cubicBezTo>
                  <a:cubicBezTo>
                    <a:pt x="1542" y="118513"/>
                    <a:pt x="3409" y="119801"/>
                    <a:pt x="5502" y="119829"/>
                  </a:cubicBezTo>
                  <a:lnTo>
                    <a:pt x="26164" y="119829"/>
                  </a:lnTo>
                  <a:cubicBezTo>
                    <a:pt x="29015" y="119829"/>
                    <a:pt x="31329" y="122143"/>
                    <a:pt x="31329" y="124994"/>
                  </a:cubicBezTo>
                  <a:lnTo>
                    <a:pt x="31329" y="228301"/>
                  </a:lnTo>
                  <a:cubicBezTo>
                    <a:pt x="31329" y="234004"/>
                    <a:pt x="35957" y="238632"/>
                    <a:pt x="41660" y="238632"/>
                  </a:cubicBezTo>
                  <a:lnTo>
                    <a:pt x="110256" y="238632"/>
                  </a:lnTo>
                  <a:cubicBezTo>
                    <a:pt x="112212" y="238632"/>
                    <a:pt x="114002" y="237530"/>
                    <a:pt x="114877" y="235774"/>
                  </a:cubicBezTo>
                  <a:cubicBezTo>
                    <a:pt x="115752" y="234024"/>
                    <a:pt x="115559" y="231931"/>
                    <a:pt x="114388" y="230367"/>
                  </a:cubicBezTo>
                  <a:cubicBezTo>
                    <a:pt x="104023" y="216304"/>
                    <a:pt x="98451" y="199286"/>
                    <a:pt x="98479" y="181813"/>
                  </a:cubicBezTo>
                  <a:moveTo>
                    <a:pt x="181124" y="114663"/>
                  </a:moveTo>
                  <a:cubicBezTo>
                    <a:pt x="144037" y="114663"/>
                    <a:pt x="113975" y="144726"/>
                    <a:pt x="113975" y="181813"/>
                  </a:cubicBezTo>
                  <a:cubicBezTo>
                    <a:pt x="113975" y="218900"/>
                    <a:pt x="144037" y="248963"/>
                    <a:pt x="181124" y="248963"/>
                  </a:cubicBezTo>
                  <a:cubicBezTo>
                    <a:pt x="218212" y="248963"/>
                    <a:pt x="248274" y="218900"/>
                    <a:pt x="248274" y="181813"/>
                  </a:cubicBezTo>
                  <a:cubicBezTo>
                    <a:pt x="248219" y="144753"/>
                    <a:pt x="218184" y="114719"/>
                    <a:pt x="181124" y="114663"/>
                  </a:cubicBezTo>
                  <a:moveTo>
                    <a:pt x="214906" y="168383"/>
                  </a:moveTo>
                  <a:lnTo>
                    <a:pt x="184947" y="208466"/>
                  </a:lnTo>
                  <a:cubicBezTo>
                    <a:pt x="182247" y="212054"/>
                    <a:pt x="178128" y="214300"/>
                    <a:pt x="173652" y="214616"/>
                  </a:cubicBezTo>
                  <a:cubicBezTo>
                    <a:pt x="169168" y="214933"/>
                    <a:pt x="164774" y="213294"/>
                    <a:pt x="161599" y="210119"/>
                  </a:cubicBezTo>
                  <a:lnTo>
                    <a:pt x="146103" y="194623"/>
                  </a:lnTo>
                  <a:cubicBezTo>
                    <a:pt x="143259" y="191572"/>
                    <a:pt x="143342" y="186813"/>
                    <a:pt x="146296" y="183865"/>
                  </a:cubicBezTo>
                  <a:cubicBezTo>
                    <a:pt x="149244" y="180911"/>
                    <a:pt x="154003" y="180828"/>
                    <a:pt x="157054" y="183673"/>
                  </a:cubicBezTo>
                  <a:lnTo>
                    <a:pt x="168314" y="194933"/>
                  </a:lnTo>
                  <a:cubicBezTo>
                    <a:pt x="169368" y="195980"/>
                    <a:pt x="170821" y="196531"/>
                    <a:pt x="172302" y="196428"/>
                  </a:cubicBezTo>
                  <a:cubicBezTo>
                    <a:pt x="173790" y="196331"/>
                    <a:pt x="175160" y="195594"/>
                    <a:pt x="176062" y="194417"/>
                  </a:cubicBezTo>
                  <a:lnTo>
                    <a:pt x="202509" y="159085"/>
                  </a:lnTo>
                  <a:cubicBezTo>
                    <a:pt x="205078" y="155663"/>
                    <a:pt x="209933" y="154967"/>
                    <a:pt x="213356" y="157536"/>
                  </a:cubicBezTo>
                  <a:cubicBezTo>
                    <a:pt x="216779" y="160105"/>
                    <a:pt x="217475" y="164960"/>
                    <a:pt x="214906" y="168383"/>
                  </a:cubicBezTo>
                </a:path>
              </a:pathLst>
            </a:custGeom>
            <a:solidFill>
              <a:srgbClr val="D5DCD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7596" name="Rounded Rectangle 84">
              <a:extLst>
                <a:ext uri="{FF2B5EF4-FFF2-40B4-BE49-F238E27FC236}">
                  <a16:creationId xmlns:a16="http://schemas.microsoft.com/office/drawing/2014/main" id="{4B38E84B-92DB-897B-C211-820ECF860824}"/>
                </a:ext>
              </a:extLst>
            </p:cNvPr>
            <p:cNvSpPr/>
            <p:nvPr/>
          </p:nvSpPr>
          <p:spPr>
            <a:xfrm>
              <a:off x="10145638" y="3295890"/>
              <a:ext cx="242441" cy="246690"/>
            </a:xfrm>
            <a:custGeom>
              <a:avLst/>
              <a:gdLst/>
              <a:ahLst/>
              <a:cxnLst/>
              <a:rect l="0" t="0" r="0" b="0"/>
              <a:pathLst>
                <a:path w="242441" h="246690">
                  <a:moveTo>
                    <a:pt x="121220" y="13"/>
                  </a:moveTo>
                  <a:cubicBezTo>
                    <a:pt x="115517" y="13"/>
                    <a:pt x="110889" y="4635"/>
                    <a:pt x="110889" y="10344"/>
                  </a:cubicBezTo>
                  <a:lnTo>
                    <a:pt x="110889" y="65599"/>
                  </a:lnTo>
                  <a:cubicBezTo>
                    <a:pt x="85049" y="69725"/>
                    <a:pt x="64098" y="88761"/>
                    <a:pt x="57521" y="114092"/>
                  </a:cubicBezTo>
                  <a:lnTo>
                    <a:pt x="49408" y="114092"/>
                  </a:lnTo>
                  <a:cubicBezTo>
                    <a:pt x="43705" y="114092"/>
                    <a:pt x="39084" y="118720"/>
                    <a:pt x="39084" y="124423"/>
                  </a:cubicBezTo>
                  <a:cubicBezTo>
                    <a:pt x="39084" y="130125"/>
                    <a:pt x="43705" y="134753"/>
                    <a:pt x="49408" y="134753"/>
                  </a:cubicBezTo>
                  <a:lnTo>
                    <a:pt x="55434" y="134753"/>
                  </a:lnTo>
                  <a:lnTo>
                    <a:pt x="55434" y="246690"/>
                  </a:lnTo>
                  <a:lnTo>
                    <a:pt x="95435" y="246690"/>
                  </a:lnTo>
                  <a:lnTo>
                    <a:pt x="95435" y="198962"/>
                  </a:lnTo>
                  <a:cubicBezTo>
                    <a:pt x="95435" y="184719"/>
                    <a:pt x="106977" y="173177"/>
                    <a:pt x="121220" y="173177"/>
                  </a:cubicBezTo>
                  <a:cubicBezTo>
                    <a:pt x="135463" y="173177"/>
                    <a:pt x="147005" y="184719"/>
                    <a:pt x="147005" y="198962"/>
                  </a:cubicBezTo>
                  <a:lnTo>
                    <a:pt x="147005" y="246690"/>
                  </a:lnTo>
                  <a:lnTo>
                    <a:pt x="187006" y="246690"/>
                  </a:lnTo>
                  <a:lnTo>
                    <a:pt x="187006" y="134753"/>
                  </a:lnTo>
                  <a:lnTo>
                    <a:pt x="193032" y="134753"/>
                  </a:lnTo>
                  <a:cubicBezTo>
                    <a:pt x="198735" y="134753"/>
                    <a:pt x="203363" y="130125"/>
                    <a:pt x="203363" y="124423"/>
                  </a:cubicBezTo>
                  <a:cubicBezTo>
                    <a:pt x="203363" y="118720"/>
                    <a:pt x="198735" y="114092"/>
                    <a:pt x="193032" y="114092"/>
                  </a:cubicBezTo>
                  <a:lnTo>
                    <a:pt x="184926" y="114092"/>
                  </a:lnTo>
                  <a:cubicBezTo>
                    <a:pt x="178349" y="88761"/>
                    <a:pt x="157398" y="69725"/>
                    <a:pt x="131551" y="65599"/>
                  </a:cubicBezTo>
                  <a:lnTo>
                    <a:pt x="131551" y="50310"/>
                  </a:lnTo>
                  <a:lnTo>
                    <a:pt x="161386" y="50310"/>
                  </a:lnTo>
                  <a:cubicBezTo>
                    <a:pt x="167088" y="50310"/>
                    <a:pt x="171717" y="45682"/>
                    <a:pt x="171717" y="39979"/>
                  </a:cubicBezTo>
                  <a:lnTo>
                    <a:pt x="171717" y="10330"/>
                  </a:lnTo>
                  <a:cubicBezTo>
                    <a:pt x="171717" y="4628"/>
                    <a:pt x="167088" y="0"/>
                    <a:pt x="161386" y="0"/>
                  </a:cubicBezTo>
                  <a:lnTo>
                    <a:pt x="121220" y="0"/>
                  </a:lnTo>
                  <a:moveTo>
                    <a:pt x="202502" y="245602"/>
                  </a:moveTo>
                  <a:lnTo>
                    <a:pt x="234692" y="245602"/>
                  </a:lnTo>
                  <a:cubicBezTo>
                    <a:pt x="238969" y="245602"/>
                    <a:pt x="242441" y="242131"/>
                    <a:pt x="242441" y="237854"/>
                  </a:cubicBezTo>
                  <a:lnTo>
                    <a:pt x="242441" y="164506"/>
                  </a:lnTo>
                  <a:cubicBezTo>
                    <a:pt x="242441" y="160229"/>
                    <a:pt x="238969" y="156758"/>
                    <a:pt x="234692" y="156758"/>
                  </a:cubicBezTo>
                  <a:lnTo>
                    <a:pt x="202502" y="156758"/>
                  </a:lnTo>
                  <a:lnTo>
                    <a:pt x="202502" y="245602"/>
                  </a:lnTo>
                  <a:moveTo>
                    <a:pt x="39938" y="156758"/>
                  </a:moveTo>
                  <a:lnTo>
                    <a:pt x="39938" y="245602"/>
                  </a:lnTo>
                  <a:lnTo>
                    <a:pt x="7748" y="245602"/>
                  </a:lnTo>
                  <a:cubicBezTo>
                    <a:pt x="3471" y="245602"/>
                    <a:pt x="0" y="242131"/>
                    <a:pt x="0" y="237854"/>
                  </a:cubicBezTo>
                  <a:lnTo>
                    <a:pt x="0" y="164506"/>
                  </a:lnTo>
                  <a:cubicBezTo>
                    <a:pt x="0" y="160229"/>
                    <a:pt x="3471" y="156758"/>
                    <a:pt x="7748" y="156758"/>
                  </a:cubicBezTo>
                  <a:lnTo>
                    <a:pt x="39938" y="156758"/>
                  </a:lnTo>
                </a:path>
              </a:pathLst>
            </a:custGeom>
            <a:solidFill>
              <a:srgbClr val="D5DCD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17808" name="Group 17807">
            <a:extLst>
              <a:ext uri="{FF2B5EF4-FFF2-40B4-BE49-F238E27FC236}">
                <a16:creationId xmlns:a16="http://schemas.microsoft.com/office/drawing/2014/main" id="{922D143A-6FFC-3D6F-CFF3-2C1CFEBA96C3}"/>
              </a:ext>
            </a:extLst>
          </p:cNvPr>
          <p:cNvGrpSpPr/>
          <p:nvPr/>
        </p:nvGrpSpPr>
        <p:grpSpPr>
          <a:xfrm>
            <a:off x="7018824" y="1184663"/>
            <a:ext cx="1605921" cy="2580573"/>
            <a:chOff x="6862114" y="1136697"/>
            <a:chExt cx="1605921" cy="2580573"/>
          </a:xfrm>
        </p:grpSpPr>
        <p:grpSp>
          <p:nvGrpSpPr>
            <p:cNvPr id="17725" name="Group 17724">
              <a:extLst>
                <a:ext uri="{FF2B5EF4-FFF2-40B4-BE49-F238E27FC236}">
                  <a16:creationId xmlns:a16="http://schemas.microsoft.com/office/drawing/2014/main" id="{6412AF6F-EE81-9BD4-EF01-5B7C7E6AC605}"/>
                </a:ext>
              </a:extLst>
            </p:cNvPr>
            <p:cNvGrpSpPr/>
            <p:nvPr/>
          </p:nvGrpSpPr>
          <p:grpSpPr>
            <a:xfrm>
              <a:off x="6862114" y="1136697"/>
              <a:ext cx="1605921" cy="2580573"/>
              <a:chOff x="1881753" y="1720752"/>
              <a:chExt cx="2377355" cy="3912927"/>
            </a:xfrm>
          </p:grpSpPr>
          <p:grpSp>
            <p:nvGrpSpPr>
              <p:cNvPr id="17727" name="Group 17726">
                <a:extLst>
                  <a:ext uri="{FF2B5EF4-FFF2-40B4-BE49-F238E27FC236}">
                    <a16:creationId xmlns:a16="http://schemas.microsoft.com/office/drawing/2014/main" id="{7DF5827F-B78B-4A62-CE32-5C4872A83F50}"/>
                  </a:ext>
                </a:extLst>
              </p:cNvPr>
              <p:cNvGrpSpPr/>
              <p:nvPr/>
            </p:nvGrpSpPr>
            <p:grpSpPr>
              <a:xfrm>
                <a:off x="1881756" y="3676900"/>
                <a:ext cx="2377350" cy="1956779"/>
                <a:chOff x="386681" y="3219700"/>
                <a:chExt cx="2377350" cy="1956779"/>
              </a:xfrm>
            </p:grpSpPr>
            <p:sp>
              <p:nvSpPr>
                <p:cNvPr id="17762" name="Rounded Rectangle 2">
                  <a:extLst>
                    <a:ext uri="{FF2B5EF4-FFF2-40B4-BE49-F238E27FC236}">
                      <a16:creationId xmlns:a16="http://schemas.microsoft.com/office/drawing/2014/main" id="{F3DB5080-082E-F62B-646D-060A8D080646}"/>
                    </a:ext>
                  </a:extLst>
                </p:cNvPr>
                <p:cNvSpPr/>
                <p:nvPr/>
              </p:nvSpPr>
              <p:spPr>
                <a:xfrm>
                  <a:off x="2063488" y="3865499"/>
                  <a:ext cx="621441" cy="111805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21441" h="1118059">
                      <a:moveTo>
                        <a:pt x="472593" y="35394"/>
                      </a:moveTo>
                      <a:cubicBezTo>
                        <a:pt x="481763" y="60576"/>
                        <a:pt x="468533" y="88507"/>
                        <a:pt x="443052" y="97782"/>
                      </a:cubicBezTo>
                      <a:lnTo>
                        <a:pt x="329615" y="139047"/>
                      </a:lnTo>
                      <a:cubicBezTo>
                        <a:pt x="304433" y="148209"/>
                        <a:pt x="291446" y="176051"/>
                        <a:pt x="300608" y="201233"/>
                      </a:cubicBezTo>
                      <a:lnTo>
                        <a:pt x="621441" y="1082705"/>
                      </a:lnTo>
                      <a:lnTo>
                        <a:pt x="615781" y="1094867"/>
                      </a:lnTo>
                      <a:cubicBezTo>
                        <a:pt x="608228" y="1111056"/>
                        <a:pt x="588982" y="1118059"/>
                        <a:pt x="572793" y="1110515"/>
                      </a:cubicBezTo>
                      <a:lnTo>
                        <a:pt x="560655" y="1104838"/>
                      </a:lnTo>
                      <a:lnTo>
                        <a:pt x="248119" y="246170"/>
                      </a:lnTo>
                      <a:cubicBezTo>
                        <a:pt x="238956" y="220988"/>
                        <a:pt x="211115" y="208001"/>
                        <a:pt x="185933" y="217171"/>
                      </a:cubicBezTo>
                      <a:cubicBezTo>
                        <a:pt x="160752" y="226333"/>
                        <a:pt x="147773" y="254175"/>
                        <a:pt x="156935" y="279357"/>
                      </a:cubicBezTo>
                      <a:lnTo>
                        <a:pt x="436276" y="1046841"/>
                      </a:lnTo>
                      <a:lnTo>
                        <a:pt x="371576" y="1016679"/>
                      </a:lnTo>
                      <a:cubicBezTo>
                        <a:pt x="359915" y="1011244"/>
                        <a:pt x="350890" y="1001395"/>
                        <a:pt x="346483" y="989306"/>
                      </a:cubicBezTo>
                      <a:lnTo>
                        <a:pt x="71250" y="233102"/>
                      </a:lnTo>
                      <a:cubicBezTo>
                        <a:pt x="45915" y="241997"/>
                        <a:pt x="18162" y="229107"/>
                        <a:pt x="9065" y="204104"/>
                      </a:cubicBezTo>
                      <a:cubicBezTo>
                        <a:pt x="0" y="179197"/>
                        <a:pt x="12841" y="151598"/>
                        <a:pt x="37788" y="142031"/>
                      </a:cubicBezTo>
                      <a:lnTo>
                        <a:pt x="394145" y="12323"/>
                      </a:lnTo>
                      <a:cubicBezTo>
                        <a:pt x="423224" y="1738"/>
                        <a:pt x="459711" y="0"/>
                        <a:pt x="472593" y="35394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3" name="Rounded Rectangle 3">
                  <a:extLst>
                    <a:ext uri="{FF2B5EF4-FFF2-40B4-BE49-F238E27FC236}">
                      <a16:creationId xmlns:a16="http://schemas.microsoft.com/office/drawing/2014/main" id="{53C7F1EC-3D74-26D6-1A99-041B4B44CFC3}"/>
                    </a:ext>
                  </a:extLst>
                </p:cNvPr>
                <p:cNvSpPr/>
                <p:nvPr/>
              </p:nvSpPr>
              <p:spPr>
                <a:xfrm>
                  <a:off x="2211261" y="4073493"/>
                  <a:ext cx="412882" cy="8968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12882" h="896828">
                      <a:moveTo>
                        <a:pt x="412882" y="896828"/>
                      </a:moveTo>
                      <a:lnTo>
                        <a:pt x="100353" y="38160"/>
                      </a:lnTo>
                      <a:cubicBezTo>
                        <a:pt x="91183" y="12978"/>
                        <a:pt x="63341" y="0"/>
                        <a:pt x="38160" y="9162"/>
                      </a:cubicBezTo>
                      <a:cubicBezTo>
                        <a:pt x="12978" y="18324"/>
                        <a:pt x="0" y="46166"/>
                        <a:pt x="9162" y="71347"/>
                      </a:cubicBezTo>
                      <a:lnTo>
                        <a:pt x="288503" y="838831"/>
                      </a:lnTo>
                      <a:lnTo>
                        <a:pt x="412882" y="896828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4" name="Rounded Rectangle 4">
                  <a:extLst>
                    <a:ext uri="{FF2B5EF4-FFF2-40B4-BE49-F238E27FC236}">
                      <a16:creationId xmlns:a16="http://schemas.microsoft.com/office/drawing/2014/main" id="{C3FCF827-5451-0580-738F-D641F375C969}"/>
                    </a:ext>
                  </a:extLst>
                </p:cNvPr>
                <p:cNvSpPr/>
                <p:nvPr/>
              </p:nvSpPr>
              <p:spPr>
                <a:xfrm>
                  <a:off x="2354934" y="3982390"/>
                  <a:ext cx="409097" cy="96578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09097" h="965782">
                      <a:moveTo>
                        <a:pt x="38168" y="22132"/>
                      </a:moveTo>
                      <a:cubicBezTo>
                        <a:pt x="12986" y="31294"/>
                        <a:pt x="0" y="59136"/>
                        <a:pt x="9170" y="84318"/>
                      </a:cubicBezTo>
                      <a:lnTo>
                        <a:pt x="329995" y="965782"/>
                      </a:lnTo>
                      <a:lnTo>
                        <a:pt x="405321" y="804245"/>
                      </a:lnTo>
                      <a:cubicBezTo>
                        <a:pt x="409097" y="796151"/>
                        <a:pt x="405596" y="786528"/>
                        <a:pt x="397501" y="782751"/>
                      </a:cubicBezTo>
                      <a:lnTo>
                        <a:pt x="318876" y="746087"/>
                      </a:lnTo>
                      <a:lnTo>
                        <a:pt x="341041" y="698554"/>
                      </a:lnTo>
                      <a:cubicBezTo>
                        <a:pt x="344817" y="690460"/>
                        <a:pt x="341316" y="680837"/>
                        <a:pt x="333221" y="677069"/>
                      </a:cubicBezTo>
                      <a:lnTo>
                        <a:pt x="285689" y="654903"/>
                      </a:lnTo>
                      <a:lnTo>
                        <a:pt x="269095" y="609311"/>
                      </a:lnTo>
                      <a:lnTo>
                        <a:pt x="304926" y="532465"/>
                      </a:lnTo>
                      <a:cubicBezTo>
                        <a:pt x="306738" y="528576"/>
                        <a:pt x="306932" y="524128"/>
                        <a:pt x="305468" y="520093"/>
                      </a:cubicBezTo>
                      <a:lnTo>
                        <a:pt x="287920" y="471897"/>
                      </a:lnTo>
                      <a:cubicBezTo>
                        <a:pt x="286457" y="467862"/>
                        <a:pt x="283449" y="464579"/>
                        <a:pt x="279559" y="462767"/>
                      </a:cubicBezTo>
                      <a:lnTo>
                        <a:pt x="202713" y="426936"/>
                      </a:lnTo>
                      <a:lnTo>
                        <a:pt x="228881" y="370824"/>
                      </a:lnTo>
                      <a:cubicBezTo>
                        <a:pt x="230692" y="366934"/>
                        <a:pt x="230886" y="362486"/>
                        <a:pt x="229422" y="358451"/>
                      </a:cubicBezTo>
                      <a:lnTo>
                        <a:pt x="217414" y="325450"/>
                      </a:lnTo>
                      <a:cubicBezTo>
                        <a:pt x="215942" y="321423"/>
                        <a:pt x="212934" y="318140"/>
                        <a:pt x="209044" y="316320"/>
                      </a:cubicBezTo>
                      <a:lnTo>
                        <a:pt x="184025" y="304660"/>
                      </a:lnTo>
                      <a:lnTo>
                        <a:pt x="195694" y="279632"/>
                      </a:lnTo>
                      <a:cubicBezTo>
                        <a:pt x="197505" y="275742"/>
                        <a:pt x="197699" y="271295"/>
                        <a:pt x="196235" y="267267"/>
                      </a:cubicBezTo>
                      <a:lnTo>
                        <a:pt x="184219" y="234266"/>
                      </a:lnTo>
                      <a:cubicBezTo>
                        <a:pt x="182755" y="230231"/>
                        <a:pt x="179747" y="226948"/>
                        <a:pt x="175857" y="225137"/>
                      </a:cubicBezTo>
                      <a:lnTo>
                        <a:pt x="119745" y="198969"/>
                      </a:lnTo>
                      <a:lnTo>
                        <a:pt x="141910" y="151444"/>
                      </a:lnTo>
                      <a:cubicBezTo>
                        <a:pt x="145678" y="143341"/>
                        <a:pt x="142177" y="133718"/>
                        <a:pt x="134082" y="129950"/>
                      </a:cubicBezTo>
                      <a:lnTo>
                        <a:pt x="86550" y="107785"/>
                      </a:lnTo>
                      <a:lnTo>
                        <a:pt x="112718" y="51664"/>
                      </a:lnTo>
                      <a:cubicBezTo>
                        <a:pt x="114537" y="47783"/>
                        <a:pt x="114731" y="43335"/>
                        <a:pt x="113259" y="39300"/>
                      </a:cubicBezTo>
                      <a:lnTo>
                        <a:pt x="98954" y="0"/>
                      </a:lnTo>
                      <a:lnTo>
                        <a:pt x="38168" y="22132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5" name="Rounded Rectangle 5">
                  <a:extLst>
                    <a:ext uri="{FF2B5EF4-FFF2-40B4-BE49-F238E27FC236}">
                      <a16:creationId xmlns:a16="http://schemas.microsoft.com/office/drawing/2014/main" id="{6D5A6BBF-F6B6-4B7E-5482-86031CF4222E}"/>
                    </a:ext>
                  </a:extLst>
                </p:cNvPr>
                <p:cNvSpPr/>
                <p:nvPr/>
              </p:nvSpPr>
              <p:spPr>
                <a:xfrm>
                  <a:off x="1786589" y="3243693"/>
                  <a:ext cx="745764" cy="67414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45764" h="674149">
                      <a:moveTo>
                        <a:pt x="440586" y="32410"/>
                      </a:moveTo>
                      <a:lnTo>
                        <a:pt x="270292" y="2935"/>
                      </a:lnTo>
                      <a:cubicBezTo>
                        <a:pt x="253318" y="0"/>
                        <a:pt x="236062" y="6283"/>
                        <a:pt x="224951" y="19440"/>
                      </a:cubicBezTo>
                      <a:lnTo>
                        <a:pt x="14474" y="268683"/>
                      </a:lnTo>
                      <a:cubicBezTo>
                        <a:pt x="3250" y="281969"/>
                        <a:pt x="0" y="300244"/>
                        <a:pt x="5951" y="316579"/>
                      </a:cubicBezTo>
                      <a:lnTo>
                        <a:pt x="116704" y="620891"/>
                      </a:lnTo>
                      <a:cubicBezTo>
                        <a:pt x="122656" y="637226"/>
                        <a:pt x="136888" y="649138"/>
                        <a:pt x="154024" y="652105"/>
                      </a:cubicBezTo>
                      <a:lnTo>
                        <a:pt x="280513" y="673996"/>
                      </a:lnTo>
                      <a:cubicBezTo>
                        <a:pt x="281370" y="674149"/>
                        <a:pt x="282074" y="673308"/>
                        <a:pt x="281775" y="672483"/>
                      </a:cubicBezTo>
                      <a:cubicBezTo>
                        <a:pt x="272613" y="647302"/>
                        <a:pt x="285592" y="619460"/>
                        <a:pt x="310773" y="610298"/>
                      </a:cubicBezTo>
                      <a:lnTo>
                        <a:pt x="584332" y="510729"/>
                      </a:lnTo>
                      <a:cubicBezTo>
                        <a:pt x="609514" y="501567"/>
                        <a:pt x="637356" y="514545"/>
                        <a:pt x="646518" y="539727"/>
                      </a:cubicBezTo>
                      <a:cubicBezTo>
                        <a:pt x="646817" y="540552"/>
                        <a:pt x="647900" y="540746"/>
                        <a:pt x="648466" y="540075"/>
                      </a:cubicBezTo>
                      <a:lnTo>
                        <a:pt x="731289" y="441993"/>
                      </a:lnTo>
                      <a:cubicBezTo>
                        <a:pt x="742505" y="428715"/>
                        <a:pt x="745764" y="410439"/>
                        <a:pt x="739812" y="394097"/>
                      </a:cubicBezTo>
                      <a:lnTo>
                        <a:pt x="629051" y="89792"/>
                      </a:lnTo>
                      <a:cubicBezTo>
                        <a:pt x="623107" y="73449"/>
                        <a:pt x="608867" y="61538"/>
                        <a:pt x="591739" y="58578"/>
                      </a:cubicBezTo>
                      <a:lnTo>
                        <a:pt x="555391" y="52287"/>
                      </a:lnTo>
                      <a:cubicBezTo>
                        <a:pt x="515249" y="88215"/>
                        <a:pt x="472601" y="121394"/>
                        <a:pt x="427737" y="151541"/>
                      </a:cubicBezTo>
                      <a:cubicBezTo>
                        <a:pt x="436446" y="178817"/>
                        <a:pt x="422124" y="208349"/>
                        <a:pt x="394970" y="218231"/>
                      </a:cubicBezTo>
                      <a:lnTo>
                        <a:pt x="267825" y="264502"/>
                      </a:lnTo>
                      <a:cubicBezTo>
                        <a:pt x="252631" y="270033"/>
                        <a:pt x="236555" y="268270"/>
                        <a:pt x="223438" y="261000"/>
                      </a:cubicBezTo>
                      <a:cubicBezTo>
                        <a:pt x="212522" y="254952"/>
                        <a:pt x="203667" y="245094"/>
                        <a:pt x="199066" y="232455"/>
                      </a:cubicBezTo>
                      <a:cubicBezTo>
                        <a:pt x="196898" y="226495"/>
                        <a:pt x="195839" y="220309"/>
                        <a:pt x="195831" y="214163"/>
                      </a:cubicBezTo>
                      <a:cubicBezTo>
                        <a:pt x="195831" y="214018"/>
                        <a:pt x="195831" y="213872"/>
                        <a:pt x="195831" y="213727"/>
                      </a:cubicBezTo>
                      <a:cubicBezTo>
                        <a:pt x="195920" y="201281"/>
                        <a:pt x="200335" y="189046"/>
                        <a:pt x="208664" y="179278"/>
                      </a:cubicBezTo>
                      <a:lnTo>
                        <a:pt x="261008" y="117909"/>
                      </a:lnTo>
                      <a:cubicBezTo>
                        <a:pt x="272071" y="104930"/>
                        <a:pt x="289141" y="98720"/>
                        <a:pt x="305961" y="101542"/>
                      </a:cubicBezTo>
                      <a:lnTo>
                        <a:pt x="333423" y="106159"/>
                      </a:lnTo>
                      <a:cubicBezTo>
                        <a:pt x="370678" y="83711"/>
                        <a:pt x="406453" y="59072"/>
                        <a:pt x="440586" y="32410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6" name="Rounded Rectangle 6">
                  <a:extLst>
                    <a:ext uri="{FF2B5EF4-FFF2-40B4-BE49-F238E27FC236}">
                      <a16:creationId xmlns:a16="http://schemas.microsoft.com/office/drawing/2014/main" id="{11A92C6A-D0F4-D30E-3A7C-F58939624B2A}"/>
                    </a:ext>
                  </a:extLst>
                </p:cNvPr>
                <p:cNvSpPr/>
                <p:nvPr/>
              </p:nvSpPr>
              <p:spPr>
                <a:xfrm>
                  <a:off x="1707616" y="4014267"/>
                  <a:ext cx="454729" cy="11165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54729" h="1116563">
                      <a:moveTo>
                        <a:pt x="381522" y="0"/>
                      </a:moveTo>
                      <a:lnTo>
                        <a:pt x="36413" y="60851"/>
                      </a:lnTo>
                      <a:lnTo>
                        <a:pt x="37060" y="60851"/>
                      </a:lnTo>
                      <a:cubicBezTo>
                        <a:pt x="14369" y="68816"/>
                        <a:pt x="0" y="91814"/>
                        <a:pt x="4229" y="115791"/>
                      </a:cubicBezTo>
                      <a:cubicBezTo>
                        <a:pt x="8846" y="141999"/>
                        <a:pt x="33939" y="159506"/>
                        <a:pt x="60430" y="155148"/>
                      </a:cubicBezTo>
                      <a:lnTo>
                        <a:pt x="200173" y="947652"/>
                      </a:lnTo>
                      <a:cubicBezTo>
                        <a:pt x="202405" y="960324"/>
                        <a:pt x="209586" y="971588"/>
                        <a:pt x="220123" y="978971"/>
                      </a:cubicBezTo>
                      <a:lnTo>
                        <a:pt x="278613" y="1019921"/>
                      </a:lnTo>
                      <a:lnTo>
                        <a:pt x="136783" y="215594"/>
                      </a:lnTo>
                      <a:cubicBezTo>
                        <a:pt x="132133" y="189208"/>
                        <a:pt x="149754" y="164043"/>
                        <a:pt x="176140" y="159385"/>
                      </a:cubicBezTo>
                      <a:cubicBezTo>
                        <a:pt x="202527" y="154735"/>
                        <a:pt x="227692" y="172356"/>
                        <a:pt x="232350" y="198742"/>
                      </a:cubicBezTo>
                      <a:lnTo>
                        <a:pt x="391024" y="1098636"/>
                      </a:lnTo>
                      <a:lnTo>
                        <a:pt x="401997" y="1106318"/>
                      </a:lnTo>
                      <a:cubicBezTo>
                        <a:pt x="416626" y="1116563"/>
                        <a:pt x="436802" y="1113005"/>
                        <a:pt x="447047" y="1098377"/>
                      </a:cubicBezTo>
                      <a:lnTo>
                        <a:pt x="454729" y="1087403"/>
                      </a:lnTo>
                      <a:lnTo>
                        <a:pt x="291842" y="163614"/>
                      </a:lnTo>
                      <a:cubicBezTo>
                        <a:pt x="287193" y="137228"/>
                        <a:pt x="304813" y="112063"/>
                        <a:pt x="331200" y="107405"/>
                      </a:cubicBezTo>
                      <a:lnTo>
                        <a:pt x="429233" y="90124"/>
                      </a:lnTo>
                      <a:lnTo>
                        <a:pt x="427130" y="84342"/>
                      </a:lnTo>
                      <a:cubicBezTo>
                        <a:pt x="401795" y="93245"/>
                        <a:pt x="374042" y="80355"/>
                        <a:pt x="364945" y="55352"/>
                      </a:cubicBezTo>
                      <a:cubicBezTo>
                        <a:pt x="357497" y="34885"/>
                        <a:pt x="364831" y="12606"/>
                        <a:pt x="381522" y="0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7" name="Rounded Rectangle 7">
                  <a:extLst>
                    <a:ext uri="{FF2B5EF4-FFF2-40B4-BE49-F238E27FC236}">
                      <a16:creationId xmlns:a16="http://schemas.microsoft.com/office/drawing/2014/main" id="{8F2A1542-9557-2B7B-122A-1F1E4D6ADA89}"/>
                    </a:ext>
                  </a:extLst>
                </p:cNvPr>
                <p:cNvSpPr/>
                <p:nvPr/>
              </p:nvSpPr>
              <p:spPr>
                <a:xfrm>
                  <a:off x="1994809" y="4110448"/>
                  <a:ext cx="255218" cy="9912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5218" h="991230">
                      <a:moveTo>
                        <a:pt x="44006" y="11240"/>
                      </a:moveTo>
                      <a:cubicBezTo>
                        <a:pt x="17620" y="15890"/>
                        <a:pt x="0" y="41055"/>
                        <a:pt x="4649" y="67441"/>
                      </a:cubicBezTo>
                      <a:lnTo>
                        <a:pt x="167536" y="991230"/>
                      </a:lnTo>
                      <a:lnTo>
                        <a:pt x="250092" y="873329"/>
                      </a:lnTo>
                      <a:cubicBezTo>
                        <a:pt x="255218" y="866010"/>
                        <a:pt x="253439" y="855926"/>
                        <a:pt x="246121" y="850800"/>
                      </a:cubicBezTo>
                      <a:lnTo>
                        <a:pt x="203165" y="820726"/>
                      </a:lnTo>
                      <a:lnTo>
                        <a:pt x="238682" y="769999"/>
                      </a:lnTo>
                      <a:cubicBezTo>
                        <a:pt x="241140" y="766489"/>
                        <a:pt x="242102" y="762139"/>
                        <a:pt x="241358" y="757918"/>
                      </a:cubicBezTo>
                      <a:lnTo>
                        <a:pt x="235261" y="723332"/>
                      </a:lnTo>
                      <a:cubicBezTo>
                        <a:pt x="234517" y="719110"/>
                        <a:pt x="232123" y="715350"/>
                        <a:pt x="228606" y="712892"/>
                      </a:cubicBezTo>
                      <a:lnTo>
                        <a:pt x="177887" y="677376"/>
                      </a:lnTo>
                      <a:lnTo>
                        <a:pt x="169461" y="629593"/>
                      </a:lnTo>
                      <a:lnTo>
                        <a:pt x="204977" y="578874"/>
                      </a:lnTo>
                      <a:cubicBezTo>
                        <a:pt x="207435" y="575364"/>
                        <a:pt x="208406" y="571014"/>
                        <a:pt x="207654" y="566793"/>
                      </a:cubicBezTo>
                      <a:lnTo>
                        <a:pt x="201556" y="532206"/>
                      </a:lnTo>
                      <a:cubicBezTo>
                        <a:pt x="200812" y="527977"/>
                        <a:pt x="198419" y="524225"/>
                        <a:pt x="194909" y="521759"/>
                      </a:cubicBezTo>
                      <a:lnTo>
                        <a:pt x="144190" y="486251"/>
                      </a:lnTo>
                      <a:lnTo>
                        <a:pt x="193947" y="415186"/>
                      </a:lnTo>
                      <a:cubicBezTo>
                        <a:pt x="199074" y="407868"/>
                        <a:pt x="197295" y="397784"/>
                        <a:pt x="189976" y="392657"/>
                      </a:cubicBezTo>
                      <a:lnTo>
                        <a:pt x="118912" y="342901"/>
                      </a:lnTo>
                      <a:lnTo>
                        <a:pt x="148994" y="299945"/>
                      </a:lnTo>
                      <a:cubicBezTo>
                        <a:pt x="154113" y="292627"/>
                        <a:pt x="152334" y="282543"/>
                        <a:pt x="145023" y="277416"/>
                      </a:cubicBezTo>
                      <a:lnTo>
                        <a:pt x="130168" y="267017"/>
                      </a:lnTo>
                      <a:lnTo>
                        <a:pt x="159118" y="225662"/>
                      </a:lnTo>
                      <a:cubicBezTo>
                        <a:pt x="161576" y="222153"/>
                        <a:pt x="162547" y="217802"/>
                        <a:pt x="161803" y="213581"/>
                      </a:cubicBezTo>
                      <a:lnTo>
                        <a:pt x="152892" y="163064"/>
                      </a:lnTo>
                      <a:cubicBezTo>
                        <a:pt x="152148" y="158843"/>
                        <a:pt x="149754" y="155083"/>
                        <a:pt x="146244" y="152625"/>
                      </a:cubicBezTo>
                      <a:lnTo>
                        <a:pt x="76789" y="103992"/>
                      </a:lnTo>
                      <a:lnTo>
                        <a:pt x="112297" y="53274"/>
                      </a:lnTo>
                      <a:cubicBezTo>
                        <a:pt x="114764" y="49756"/>
                        <a:pt x="115726" y="45413"/>
                        <a:pt x="114982" y="41184"/>
                      </a:cubicBezTo>
                      <a:lnTo>
                        <a:pt x="107720" y="0"/>
                      </a:lnTo>
                      <a:lnTo>
                        <a:pt x="44006" y="11240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8" name="Rounded Rectangle 8">
                  <a:extLst>
                    <a:ext uri="{FF2B5EF4-FFF2-40B4-BE49-F238E27FC236}">
                      <a16:creationId xmlns:a16="http://schemas.microsoft.com/office/drawing/2014/main" id="{42E8E492-8C5C-153B-C68E-AFD995B50946}"/>
                    </a:ext>
                  </a:extLst>
                </p:cNvPr>
                <p:cNvSpPr/>
                <p:nvPr/>
              </p:nvSpPr>
              <p:spPr>
                <a:xfrm>
                  <a:off x="1839749" y="4168994"/>
                  <a:ext cx="258890" cy="9439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8890" h="943900">
                      <a:moveTo>
                        <a:pt x="44006" y="4649"/>
                      </a:moveTo>
                      <a:cubicBezTo>
                        <a:pt x="17620" y="9307"/>
                        <a:pt x="0" y="34464"/>
                        <a:pt x="4649" y="60859"/>
                      </a:cubicBezTo>
                      <a:lnTo>
                        <a:pt x="146479" y="865185"/>
                      </a:lnTo>
                      <a:lnTo>
                        <a:pt x="258890" y="943900"/>
                      </a:lnTo>
                      <a:lnTo>
                        <a:pt x="100216" y="44006"/>
                      </a:lnTo>
                      <a:cubicBezTo>
                        <a:pt x="95566" y="17620"/>
                        <a:pt x="70401" y="0"/>
                        <a:pt x="44006" y="4649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9" name="Rounded Rectangle 9">
                  <a:extLst>
                    <a:ext uri="{FF2B5EF4-FFF2-40B4-BE49-F238E27FC236}">
                      <a16:creationId xmlns:a16="http://schemas.microsoft.com/office/drawing/2014/main" id="{6F1A2979-5655-C1BF-DD8C-8563BD90E579}"/>
                    </a:ext>
                  </a:extLst>
                </p:cNvPr>
                <p:cNvSpPr/>
                <p:nvPr/>
              </p:nvSpPr>
              <p:spPr>
                <a:xfrm>
                  <a:off x="1486514" y="3336543"/>
                  <a:ext cx="398876" cy="6816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8876" h="681605">
                      <a:moveTo>
                        <a:pt x="354966" y="0"/>
                      </a:moveTo>
                      <a:cubicBezTo>
                        <a:pt x="347429" y="533"/>
                        <a:pt x="339852" y="1463"/>
                        <a:pt x="332251" y="2806"/>
                      </a:cubicBezTo>
                      <a:cubicBezTo>
                        <a:pt x="213492" y="23742"/>
                        <a:pt x="134204" y="136985"/>
                        <a:pt x="155140" y="255736"/>
                      </a:cubicBezTo>
                      <a:lnTo>
                        <a:pt x="166372" y="319450"/>
                      </a:lnTo>
                      <a:cubicBezTo>
                        <a:pt x="168701" y="332639"/>
                        <a:pt x="159894" y="345222"/>
                        <a:pt x="146697" y="347550"/>
                      </a:cubicBezTo>
                      <a:cubicBezTo>
                        <a:pt x="58732" y="363060"/>
                        <a:pt x="0" y="446942"/>
                        <a:pt x="15509" y="534907"/>
                      </a:cubicBezTo>
                      <a:cubicBezTo>
                        <a:pt x="31019" y="622873"/>
                        <a:pt x="114901" y="681605"/>
                        <a:pt x="202866" y="666095"/>
                      </a:cubicBezTo>
                      <a:lnTo>
                        <a:pt x="398876" y="631533"/>
                      </a:lnTo>
                      <a:cubicBezTo>
                        <a:pt x="373330" y="621457"/>
                        <a:pt x="352912" y="600845"/>
                        <a:pt x="343305" y="574450"/>
                      </a:cubicBezTo>
                      <a:lnTo>
                        <a:pt x="219961" y="235560"/>
                      </a:lnTo>
                      <a:cubicBezTo>
                        <a:pt x="208066" y="202891"/>
                        <a:pt x="214559" y="166356"/>
                        <a:pt x="236991" y="139783"/>
                      </a:cubicBezTo>
                      <a:lnTo>
                        <a:pt x="354966" y="0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0" name="Rounded Rectangle 10">
                  <a:extLst>
                    <a:ext uri="{FF2B5EF4-FFF2-40B4-BE49-F238E27FC236}">
                      <a16:creationId xmlns:a16="http://schemas.microsoft.com/office/drawing/2014/main" id="{2D51FE0F-0644-56F1-46E5-3F2A27C5B663}"/>
                    </a:ext>
                  </a:extLst>
                </p:cNvPr>
                <p:cNvSpPr/>
                <p:nvPr/>
              </p:nvSpPr>
              <p:spPr>
                <a:xfrm>
                  <a:off x="1617176" y="4167814"/>
                  <a:ext cx="132352" cy="9865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2352" h="986556">
                      <a:moveTo>
                        <a:pt x="113211" y="41823"/>
                      </a:moveTo>
                      <a:cubicBezTo>
                        <a:pt x="113211" y="46117"/>
                        <a:pt x="111513" y="50225"/>
                        <a:pt x="108480" y="53257"/>
                      </a:cubicBezTo>
                      <a:lnTo>
                        <a:pt x="64692" y="97038"/>
                      </a:lnTo>
                      <a:lnTo>
                        <a:pt x="101777" y="134123"/>
                      </a:lnTo>
                      <a:cubicBezTo>
                        <a:pt x="108092" y="140438"/>
                        <a:pt x="108092" y="150676"/>
                        <a:pt x="101777" y="156991"/>
                      </a:cubicBezTo>
                      <a:lnTo>
                        <a:pt x="64692" y="194076"/>
                      </a:lnTo>
                      <a:lnTo>
                        <a:pt x="108480" y="237857"/>
                      </a:lnTo>
                      <a:cubicBezTo>
                        <a:pt x="111513" y="240889"/>
                        <a:pt x="113211" y="245005"/>
                        <a:pt x="113211" y="249291"/>
                      </a:cubicBezTo>
                      <a:lnTo>
                        <a:pt x="113211" y="284419"/>
                      </a:lnTo>
                      <a:cubicBezTo>
                        <a:pt x="113211" y="288713"/>
                        <a:pt x="111513" y="292821"/>
                        <a:pt x="108480" y="295853"/>
                      </a:cubicBezTo>
                      <a:lnTo>
                        <a:pt x="64692" y="339634"/>
                      </a:lnTo>
                      <a:lnTo>
                        <a:pt x="101777" y="376719"/>
                      </a:lnTo>
                      <a:cubicBezTo>
                        <a:pt x="108092" y="383034"/>
                        <a:pt x="108092" y="393272"/>
                        <a:pt x="101777" y="399587"/>
                      </a:cubicBezTo>
                      <a:lnTo>
                        <a:pt x="64692" y="436672"/>
                      </a:lnTo>
                      <a:lnTo>
                        <a:pt x="124653" y="496626"/>
                      </a:lnTo>
                      <a:cubicBezTo>
                        <a:pt x="127686" y="499658"/>
                        <a:pt x="129384" y="503774"/>
                        <a:pt x="129384" y="508060"/>
                      </a:cubicBezTo>
                      <a:lnTo>
                        <a:pt x="129384" y="559361"/>
                      </a:lnTo>
                      <a:cubicBezTo>
                        <a:pt x="129384" y="563655"/>
                        <a:pt x="127686" y="567763"/>
                        <a:pt x="124653" y="570795"/>
                      </a:cubicBezTo>
                      <a:lnTo>
                        <a:pt x="64692" y="630749"/>
                      </a:lnTo>
                      <a:lnTo>
                        <a:pt x="108480" y="674529"/>
                      </a:lnTo>
                      <a:cubicBezTo>
                        <a:pt x="111513" y="677562"/>
                        <a:pt x="113211" y="681678"/>
                        <a:pt x="113211" y="685964"/>
                      </a:cubicBezTo>
                      <a:lnTo>
                        <a:pt x="113211" y="721092"/>
                      </a:lnTo>
                      <a:cubicBezTo>
                        <a:pt x="113211" y="725386"/>
                        <a:pt x="111513" y="729494"/>
                        <a:pt x="108480" y="732526"/>
                      </a:cubicBezTo>
                      <a:lnTo>
                        <a:pt x="64692" y="776306"/>
                      </a:lnTo>
                      <a:lnTo>
                        <a:pt x="126036" y="837651"/>
                      </a:lnTo>
                      <a:cubicBezTo>
                        <a:pt x="132352" y="843966"/>
                        <a:pt x="132352" y="854204"/>
                        <a:pt x="126036" y="860520"/>
                      </a:cubicBezTo>
                      <a:lnTo>
                        <a:pt x="0" y="986556"/>
                      </a:lnTo>
                      <a:lnTo>
                        <a:pt x="0" y="48519"/>
                      </a:lnTo>
                      <a:cubicBezTo>
                        <a:pt x="0" y="21728"/>
                        <a:pt x="21728" y="0"/>
                        <a:pt x="48519" y="0"/>
                      </a:cubicBezTo>
                      <a:lnTo>
                        <a:pt x="113211" y="0"/>
                      </a:lnTo>
                      <a:lnTo>
                        <a:pt x="113211" y="41823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1" name="Rounded Rectangle 11">
                  <a:extLst>
                    <a:ext uri="{FF2B5EF4-FFF2-40B4-BE49-F238E27FC236}">
                      <a16:creationId xmlns:a16="http://schemas.microsoft.com/office/drawing/2014/main" id="{7302C20C-0453-5BB2-9D58-B57A03732F7C}"/>
                    </a:ext>
                  </a:extLst>
                </p:cNvPr>
                <p:cNvSpPr/>
                <p:nvPr/>
              </p:nvSpPr>
              <p:spPr>
                <a:xfrm>
                  <a:off x="1455453" y="4192073"/>
                  <a:ext cx="97038" cy="96228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7038" h="962289">
                      <a:moveTo>
                        <a:pt x="48519" y="0"/>
                      </a:moveTo>
                      <a:cubicBezTo>
                        <a:pt x="75317" y="0"/>
                        <a:pt x="97038" y="21728"/>
                        <a:pt x="97038" y="48519"/>
                      </a:cubicBezTo>
                      <a:lnTo>
                        <a:pt x="97038" y="962289"/>
                      </a:lnTo>
                      <a:lnTo>
                        <a:pt x="0" y="865258"/>
                      </a:lnTo>
                      <a:lnTo>
                        <a:pt x="0" y="48519"/>
                      </a:lnTo>
                      <a:cubicBezTo>
                        <a:pt x="0" y="21728"/>
                        <a:pt x="21728" y="0"/>
                        <a:pt x="48519" y="0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2" name="Rounded Rectangle 12">
                  <a:extLst>
                    <a:ext uri="{FF2B5EF4-FFF2-40B4-BE49-F238E27FC236}">
                      <a16:creationId xmlns:a16="http://schemas.microsoft.com/office/drawing/2014/main" id="{DC2A0BE4-4F40-D678-2C22-399552568176}"/>
                    </a:ext>
                  </a:extLst>
                </p:cNvPr>
                <p:cNvSpPr/>
                <p:nvPr/>
              </p:nvSpPr>
              <p:spPr>
                <a:xfrm>
                  <a:off x="1342242" y="4070970"/>
                  <a:ext cx="402959" cy="110550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02959" h="1105509">
                      <a:moveTo>
                        <a:pt x="234978" y="0"/>
                      </a:moveTo>
                      <a:cubicBezTo>
                        <a:pt x="273995" y="14450"/>
                        <a:pt x="317250" y="19051"/>
                        <a:pt x="361184" y="11304"/>
                      </a:cubicBezTo>
                      <a:lnTo>
                        <a:pt x="401803" y="4156"/>
                      </a:lnTo>
                      <a:lnTo>
                        <a:pt x="402442" y="4156"/>
                      </a:lnTo>
                      <a:cubicBezTo>
                        <a:pt x="379751" y="12113"/>
                        <a:pt x="365381" y="35119"/>
                        <a:pt x="369611" y="59088"/>
                      </a:cubicBezTo>
                      <a:cubicBezTo>
                        <a:pt x="372845" y="77468"/>
                        <a:pt x="386156" y="91563"/>
                        <a:pt x="402959" y="96844"/>
                      </a:cubicBezTo>
                      <a:lnTo>
                        <a:pt x="323461" y="96844"/>
                      </a:lnTo>
                      <a:cubicBezTo>
                        <a:pt x="296670" y="96852"/>
                        <a:pt x="274950" y="118580"/>
                        <a:pt x="274942" y="145371"/>
                      </a:cubicBezTo>
                      <a:lnTo>
                        <a:pt x="274942" y="1083401"/>
                      </a:lnTo>
                      <a:lnTo>
                        <a:pt x="265472" y="1092878"/>
                      </a:lnTo>
                      <a:cubicBezTo>
                        <a:pt x="252841" y="1105509"/>
                        <a:pt x="232358" y="1105509"/>
                        <a:pt x="219727" y="1092878"/>
                      </a:cubicBezTo>
                      <a:lnTo>
                        <a:pt x="210249" y="1083401"/>
                      </a:lnTo>
                      <a:lnTo>
                        <a:pt x="210249" y="169639"/>
                      </a:lnTo>
                      <a:cubicBezTo>
                        <a:pt x="210249" y="142848"/>
                        <a:pt x="188529" y="121120"/>
                        <a:pt x="161730" y="121120"/>
                      </a:cubicBezTo>
                      <a:cubicBezTo>
                        <a:pt x="134939" y="121128"/>
                        <a:pt x="113211" y="142848"/>
                        <a:pt x="113211" y="169639"/>
                      </a:cubicBezTo>
                      <a:lnTo>
                        <a:pt x="113211" y="986362"/>
                      </a:lnTo>
                      <a:lnTo>
                        <a:pt x="62727" y="935878"/>
                      </a:lnTo>
                      <a:cubicBezTo>
                        <a:pt x="53629" y="926781"/>
                        <a:pt x="48519" y="914441"/>
                        <a:pt x="48519" y="901575"/>
                      </a:cubicBezTo>
                      <a:lnTo>
                        <a:pt x="48519" y="96844"/>
                      </a:lnTo>
                      <a:cubicBezTo>
                        <a:pt x="21671" y="96545"/>
                        <a:pt x="0" y="74937"/>
                        <a:pt x="0" y="48325"/>
                      </a:cubicBezTo>
                      <a:cubicBezTo>
                        <a:pt x="0" y="23556"/>
                        <a:pt x="18793" y="3113"/>
                        <a:pt x="43060" y="169"/>
                      </a:cubicBezTo>
                      <a:lnTo>
                        <a:pt x="234978" y="169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3" name="Rounded Rectangle 13">
                  <a:extLst>
                    <a:ext uri="{FF2B5EF4-FFF2-40B4-BE49-F238E27FC236}">
                      <a16:creationId xmlns:a16="http://schemas.microsoft.com/office/drawing/2014/main" id="{1752C448-1820-7D2B-CE58-753CFC9E4FEE}"/>
                    </a:ext>
                  </a:extLst>
                </p:cNvPr>
                <p:cNvSpPr/>
                <p:nvPr/>
              </p:nvSpPr>
              <p:spPr>
                <a:xfrm>
                  <a:off x="1230049" y="3327834"/>
                  <a:ext cx="425262" cy="6343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5262" h="634307">
                      <a:moveTo>
                        <a:pt x="425262" y="6994"/>
                      </a:moveTo>
                      <a:cubicBezTo>
                        <a:pt x="356616" y="71978"/>
                        <a:pt x="320889" y="169105"/>
                        <a:pt x="338534" y="269160"/>
                      </a:cubicBezTo>
                      <a:lnTo>
                        <a:pt x="342189" y="289869"/>
                      </a:lnTo>
                      <a:cubicBezTo>
                        <a:pt x="238698" y="330577"/>
                        <a:pt x="174022" y="438637"/>
                        <a:pt x="191440" y="552237"/>
                      </a:cubicBezTo>
                      <a:cubicBezTo>
                        <a:pt x="173447" y="559337"/>
                        <a:pt x="160719" y="576876"/>
                        <a:pt x="160719" y="597392"/>
                      </a:cubicBezTo>
                      <a:cubicBezTo>
                        <a:pt x="160719" y="620794"/>
                        <a:pt x="135004" y="634307"/>
                        <a:pt x="117602" y="618660"/>
                      </a:cubicBezTo>
                      <a:cubicBezTo>
                        <a:pt x="45397" y="553709"/>
                        <a:pt x="0" y="459557"/>
                        <a:pt x="0" y="354796"/>
                      </a:cubicBezTo>
                      <a:cubicBezTo>
                        <a:pt x="0" y="158843"/>
                        <a:pt x="158843" y="0"/>
                        <a:pt x="354796" y="0"/>
                      </a:cubicBezTo>
                      <a:cubicBezTo>
                        <a:pt x="378918" y="0"/>
                        <a:pt x="402490" y="2401"/>
                        <a:pt x="425262" y="6994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4" name="Rounded Rectangle 14">
                  <a:extLst>
                    <a:ext uri="{FF2B5EF4-FFF2-40B4-BE49-F238E27FC236}">
                      <a16:creationId xmlns:a16="http://schemas.microsoft.com/office/drawing/2014/main" id="{46F44642-ECB0-4581-29C0-F5301E60F1D5}"/>
                    </a:ext>
                  </a:extLst>
                </p:cNvPr>
                <p:cNvSpPr/>
                <p:nvPr/>
              </p:nvSpPr>
              <p:spPr>
                <a:xfrm>
                  <a:off x="1069976" y="4133301"/>
                  <a:ext cx="282785" cy="9677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2785" h="967795">
                      <a:moveTo>
                        <a:pt x="282648" y="15857"/>
                      </a:moveTo>
                      <a:cubicBezTo>
                        <a:pt x="282697" y="15914"/>
                        <a:pt x="282737" y="15970"/>
                        <a:pt x="282785" y="16027"/>
                      </a:cubicBezTo>
                      <a:lnTo>
                        <a:pt x="258696" y="152633"/>
                      </a:lnTo>
                      <a:cubicBezTo>
                        <a:pt x="257952" y="156854"/>
                        <a:pt x="255558" y="160614"/>
                        <a:pt x="252049" y="163072"/>
                      </a:cubicBezTo>
                      <a:lnTo>
                        <a:pt x="201322" y="198589"/>
                      </a:lnTo>
                      <a:lnTo>
                        <a:pt x="231404" y="241544"/>
                      </a:lnTo>
                      <a:cubicBezTo>
                        <a:pt x="236531" y="248862"/>
                        <a:pt x="234751" y="258946"/>
                        <a:pt x="227433" y="264073"/>
                      </a:cubicBezTo>
                      <a:lnTo>
                        <a:pt x="184478" y="294147"/>
                      </a:lnTo>
                      <a:lnTo>
                        <a:pt x="219985" y="344874"/>
                      </a:lnTo>
                      <a:cubicBezTo>
                        <a:pt x="222452" y="348383"/>
                        <a:pt x="223414" y="352734"/>
                        <a:pt x="222670" y="356955"/>
                      </a:cubicBezTo>
                      <a:lnTo>
                        <a:pt x="216573" y="391541"/>
                      </a:lnTo>
                      <a:cubicBezTo>
                        <a:pt x="215821" y="395770"/>
                        <a:pt x="213435" y="399523"/>
                        <a:pt x="209918" y="401981"/>
                      </a:cubicBezTo>
                      <a:lnTo>
                        <a:pt x="159199" y="437497"/>
                      </a:lnTo>
                      <a:lnTo>
                        <a:pt x="194715" y="488216"/>
                      </a:lnTo>
                      <a:cubicBezTo>
                        <a:pt x="197173" y="491733"/>
                        <a:pt x="198136" y="496076"/>
                        <a:pt x="197392" y="500305"/>
                      </a:cubicBezTo>
                      <a:lnTo>
                        <a:pt x="191294" y="534891"/>
                      </a:lnTo>
                      <a:cubicBezTo>
                        <a:pt x="190551" y="539112"/>
                        <a:pt x="188157" y="542873"/>
                        <a:pt x="184639" y="545331"/>
                      </a:cubicBezTo>
                      <a:lnTo>
                        <a:pt x="133921" y="580847"/>
                      </a:lnTo>
                      <a:lnTo>
                        <a:pt x="182553" y="650302"/>
                      </a:lnTo>
                      <a:cubicBezTo>
                        <a:pt x="185019" y="653812"/>
                        <a:pt x="185982" y="658162"/>
                        <a:pt x="185238" y="662383"/>
                      </a:cubicBezTo>
                      <a:lnTo>
                        <a:pt x="176326" y="712900"/>
                      </a:lnTo>
                      <a:cubicBezTo>
                        <a:pt x="175582" y="717121"/>
                        <a:pt x="173189" y="720881"/>
                        <a:pt x="169679" y="723340"/>
                      </a:cubicBezTo>
                      <a:lnTo>
                        <a:pt x="100224" y="771972"/>
                      </a:lnTo>
                      <a:lnTo>
                        <a:pt x="149980" y="843036"/>
                      </a:lnTo>
                      <a:cubicBezTo>
                        <a:pt x="155107" y="850355"/>
                        <a:pt x="153328" y="860439"/>
                        <a:pt x="146010" y="865557"/>
                      </a:cubicBezTo>
                      <a:lnTo>
                        <a:pt x="0" y="967795"/>
                      </a:lnTo>
                      <a:lnTo>
                        <a:pt x="162895" y="44006"/>
                      </a:lnTo>
                      <a:cubicBezTo>
                        <a:pt x="167544" y="17620"/>
                        <a:pt x="192710" y="0"/>
                        <a:pt x="219096" y="4649"/>
                      </a:cubicBezTo>
                      <a:lnTo>
                        <a:pt x="282648" y="15857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5" name="Rounded Rectangle 15">
                  <a:extLst>
                    <a:ext uri="{FF2B5EF4-FFF2-40B4-BE49-F238E27FC236}">
                      <a16:creationId xmlns:a16="http://schemas.microsoft.com/office/drawing/2014/main" id="{30706C9B-BF26-B7CA-571A-5E7866EC8639}"/>
                    </a:ext>
                  </a:extLst>
                </p:cNvPr>
                <p:cNvSpPr/>
                <p:nvPr/>
              </p:nvSpPr>
              <p:spPr>
                <a:xfrm>
                  <a:off x="927565" y="4129096"/>
                  <a:ext cx="242046" cy="9607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046" h="960760">
                      <a:moveTo>
                        <a:pt x="198031" y="4657"/>
                      </a:moveTo>
                      <a:cubicBezTo>
                        <a:pt x="171644" y="0"/>
                        <a:pt x="146479" y="17620"/>
                        <a:pt x="141829" y="44014"/>
                      </a:cubicBezTo>
                      <a:lnTo>
                        <a:pt x="0" y="848341"/>
                      </a:lnTo>
                      <a:lnTo>
                        <a:pt x="78714" y="960760"/>
                      </a:lnTo>
                      <a:lnTo>
                        <a:pt x="237388" y="60859"/>
                      </a:lnTo>
                      <a:cubicBezTo>
                        <a:pt x="242046" y="34472"/>
                        <a:pt x="224425" y="9307"/>
                        <a:pt x="198031" y="4657"/>
                      </a:cubicBezTo>
                      <a:moveTo>
                        <a:pt x="237388" y="60859"/>
                      </a:moveTo>
                      <a:lnTo>
                        <a:pt x="78714" y="960760"/>
                      </a:lnTo>
                      <a:lnTo>
                        <a:pt x="0" y="848341"/>
                      </a:lnTo>
                      <a:lnTo>
                        <a:pt x="141829" y="44014"/>
                      </a:lnTo>
                      <a:cubicBezTo>
                        <a:pt x="146479" y="17620"/>
                        <a:pt x="171644" y="0"/>
                        <a:pt x="198031" y="4657"/>
                      </a:cubicBezTo>
                      <a:cubicBezTo>
                        <a:pt x="224425" y="9307"/>
                        <a:pt x="242046" y="34472"/>
                        <a:pt x="237388" y="60859"/>
                      </a:cubicBezTo>
                      <a:moveTo>
                        <a:pt x="78714" y="960760"/>
                      </a:moveTo>
                      <a:lnTo>
                        <a:pt x="0" y="848341"/>
                      </a:lnTo>
                      <a:lnTo>
                        <a:pt x="141829" y="44014"/>
                      </a:lnTo>
                      <a:cubicBezTo>
                        <a:pt x="146479" y="17620"/>
                        <a:pt x="171644" y="0"/>
                        <a:pt x="198031" y="4657"/>
                      </a:cubicBezTo>
                      <a:cubicBezTo>
                        <a:pt x="224425" y="9307"/>
                        <a:pt x="242046" y="34472"/>
                        <a:pt x="237388" y="60859"/>
                      </a:cubicBezTo>
                      <a:lnTo>
                        <a:pt x="78714" y="960760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6" name="Rounded Rectangle 16">
                  <a:extLst>
                    <a:ext uri="{FF2B5EF4-FFF2-40B4-BE49-F238E27FC236}">
                      <a16:creationId xmlns:a16="http://schemas.microsoft.com/office/drawing/2014/main" id="{4A7488DF-F482-14F0-000F-5C9FADE75921}"/>
                    </a:ext>
                  </a:extLst>
                </p:cNvPr>
                <p:cNvSpPr/>
                <p:nvPr/>
              </p:nvSpPr>
              <p:spPr>
                <a:xfrm>
                  <a:off x="876336" y="3995692"/>
                  <a:ext cx="508950" cy="11233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8950" h="1123332">
                      <a:moveTo>
                        <a:pt x="476620" y="57026"/>
                      </a:moveTo>
                      <a:cubicBezTo>
                        <a:pt x="487108" y="63608"/>
                        <a:pt x="497895" y="69762"/>
                        <a:pt x="508950" y="75447"/>
                      </a:cubicBezTo>
                      <a:cubicBezTo>
                        <a:pt x="484690" y="78390"/>
                        <a:pt x="465897" y="98833"/>
                        <a:pt x="465897" y="123602"/>
                      </a:cubicBezTo>
                      <a:cubicBezTo>
                        <a:pt x="465897" y="134867"/>
                        <a:pt x="469778" y="145234"/>
                        <a:pt x="476288" y="153466"/>
                      </a:cubicBezTo>
                      <a:lnTo>
                        <a:pt x="412752" y="142250"/>
                      </a:lnTo>
                      <a:cubicBezTo>
                        <a:pt x="386366" y="137600"/>
                        <a:pt x="361192" y="155220"/>
                        <a:pt x="356543" y="181607"/>
                      </a:cubicBezTo>
                      <a:lnTo>
                        <a:pt x="193648" y="1105404"/>
                      </a:lnTo>
                      <a:lnTo>
                        <a:pt x="182666" y="1113086"/>
                      </a:lnTo>
                      <a:cubicBezTo>
                        <a:pt x="168030" y="1123332"/>
                        <a:pt x="147862" y="1119774"/>
                        <a:pt x="137616" y="1105137"/>
                      </a:cubicBezTo>
                      <a:lnTo>
                        <a:pt x="129942" y="1094172"/>
                      </a:lnTo>
                      <a:lnTo>
                        <a:pt x="288616" y="194278"/>
                      </a:lnTo>
                      <a:cubicBezTo>
                        <a:pt x="293274" y="167884"/>
                        <a:pt x="275645" y="142727"/>
                        <a:pt x="249259" y="138069"/>
                      </a:cubicBezTo>
                      <a:cubicBezTo>
                        <a:pt x="222872" y="133419"/>
                        <a:pt x="197715" y="151040"/>
                        <a:pt x="193057" y="177426"/>
                      </a:cubicBezTo>
                      <a:lnTo>
                        <a:pt x="51228" y="981761"/>
                      </a:lnTo>
                      <a:lnTo>
                        <a:pt x="10261" y="923271"/>
                      </a:lnTo>
                      <a:cubicBezTo>
                        <a:pt x="2886" y="912734"/>
                        <a:pt x="0" y="899691"/>
                        <a:pt x="2231" y="887019"/>
                      </a:cubicBezTo>
                      <a:lnTo>
                        <a:pt x="141975" y="94515"/>
                      </a:lnTo>
                      <a:cubicBezTo>
                        <a:pt x="115580" y="89550"/>
                        <a:pt x="97992" y="64506"/>
                        <a:pt x="102609" y="38305"/>
                      </a:cubicBezTo>
                      <a:cubicBezTo>
                        <a:pt x="105973" y="19254"/>
                        <a:pt x="120157" y="4795"/>
                        <a:pt x="137826" y="0"/>
                      </a:cubicBezTo>
                      <a:lnTo>
                        <a:pt x="476620" y="57026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7" name="Rounded Rectangle 17">
                  <a:extLst>
                    <a:ext uri="{FF2B5EF4-FFF2-40B4-BE49-F238E27FC236}">
                      <a16:creationId xmlns:a16="http://schemas.microsoft.com/office/drawing/2014/main" id="{6A0EC487-FDD8-C1DE-AECD-029EED885475}"/>
                    </a:ext>
                  </a:extLst>
                </p:cNvPr>
                <p:cNvSpPr/>
                <p:nvPr/>
              </p:nvSpPr>
              <p:spPr>
                <a:xfrm>
                  <a:off x="927193" y="3264548"/>
                  <a:ext cx="448406" cy="60409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48406" h="604096">
                      <a:moveTo>
                        <a:pt x="448406" y="34683"/>
                      </a:moveTo>
                      <a:cubicBezTo>
                        <a:pt x="312875" y="108804"/>
                        <a:pt x="220964" y="252704"/>
                        <a:pt x="220964" y="418065"/>
                      </a:cubicBezTo>
                      <a:cubicBezTo>
                        <a:pt x="220964" y="466608"/>
                        <a:pt x="228881" y="513300"/>
                        <a:pt x="243501" y="556919"/>
                      </a:cubicBezTo>
                      <a:lnTo>
                        <a:pt x="189459" y="547393"/>
                      </a:lnTo>
                      <a:cubicBezTo>
                        <a:pt x="163064" y="542743"/>
                        <a:pt x="137899" y="560364"/>
                        <a:pt x="133249" y="586750"/>
                      </a:cubicBezTo>
                      <a:cubicBezTo>
                        <a:pt x="130516" y="602244"/>
                        <a:pt x="109022" y="604096"/>
                        <a:pt x="103685" y="589289"/>
                      </a:cubicBezTo>
                      <a:lnTo>
                        <a:pt x="5838" y="317808"/>
                      </a:lnTo>
                      <a:cubicBezTo>
                        <a:pt x="0" y="301603"/>
                        <a:pt x="3186" y="283521"/>
                        <a:pt x="14216" y="270292"/>
                      </a:cubicBezTo>
                      <a:lnTo>
                        <a:pt x="223123" y="19731"/>
                      </a:lnTo>
                      <a:cubicBezTo>
                        <a:pt x="234258" y="6372"/>
                        <a:pt x="251693" y="0"/>
                        <a:pt x="268812" y="3016"/>
                      </a:cubicBezTo>
                      <a:lnTo>
                        <a:pt x="448406" y="34683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8" name="Rounded Rectangle 18">
                  <a:extLst>
                    <a:ext uri="{FF2B5EF4-FFF2-40B4-BE49-F238E27FC236}">
                      <a16:creationId xmlns:a16="http://schemas.microsoft.com/office/drawing/2014/main" id="{46112FD5-D49F-023D-68A9-9A2F3E8E7C72}"/>
                    </a:ext>
                  </a:extLst>
                </p:cNvPr>
                <p:cNvSpPr/>
                <p:nvPr/>
              </p:nvSpPr>
              <p:spPr>
                <a:xfrm>
                  <a:off x="386681" y="3828519"/>
                  <a:ext cx="627474" cy="11177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27474" h="1117784">
                      <a:moveTo>
                        <a:pt x="250633" y="37885"/>
                      </a:moveTo>
                      <a:cubicBezTo>
                        <a:pt x="259731" y="12889"/>
                        <a:pt x="287468" y="0"/>
                        <a:pt x="312795" y="8879"/>
                      </a:cubicBezTo>
                      <a:lnTo>
                        <a:pt x="578057" y="105416"/>
                      </a:lnTo>
                      <a:lnTo>
                        <a:pt x="581025" y="113769"/>
                      </a:lnTo>
                      <a:cubicBezTo>
                        <a:pt x="589346" y="137131"/>
                        <a:pt x="606125" y="156053"/>
                        <a:pt x="627474" y="167221"/>
                      </a:cubicBezTo>
                      <a:cubicBezTo>
                        <a:pt x="609805" y="172024"/>
                        <a:pt x="595637" y="186483"/>
                        <a:pt x="592281" y="205519"/>
                      </a:cubicBezTo>
                      <a:cubicBezTo>
                        <a:pt x="591804" y="208228"/>
                        <a:pt x="591553" y="210929"/>
                        <a:pt x="591537" y="213589"/>
                      </a:cubicBezTo>
                      <a:lnTo>
                        <a:pt x="553199" y="199640"/>
                      </a:lnTo>
                      <a:lnTo>
                        <a:pt x="537972" y="194109"/>
                      </a:lnTo>
                      <a:cubicBezTo>
                        <a:pt x="512791" y="184947"/>
                        <a:pt x="484957" y="197925"/>
                        <a:pt x="475795" y="223107"/>
                      </a:cubicBezTo>
                      <a:lnTo>
                        <a:pt x="154962" y="1104571"/>
                      </a:lnTo>
                      <a:lnTo>
                        <a:pt x="142832" y="1110232"/>
                      </a:lnTo>
                      <a:cubicBezTo>
                        <a:pt x="126643" y="1117784"/>
                        <a:pt x="107397" y="1110773"/>
                        <a:pt x="99852" y="1094592"/>
                      </a:cubicBezTo>
                      <a:lnTo>
                        <a:pt x="94175" y="1082430"/>
                      </a:lnTo>
                      <a:lnTo>
                        <a:pt x="406712" y="223770"/>
                      </a:lnTo>
                      <a:cubicBezTo>
                        <a:pt x="415874" y="198597"/>
                        <a:pt x="402887" y="170747"/>
                        <a:pt x="377713" y="161585"/>
                      </a:cubicBezTo>
                      <a:cubicBezTo>
                        <a:pt x="352532" y="152414"/>
                        <a:pt x="324690" y="165401"/>
                        <a:pt x="315520" y="190583"/>
                      </a:cubicBezTo>
                      <a:lnTo>
                        <a:pt x="36179" y="958059"/>
                      </a:lnTo>
                      <a:lnTo>
                        <a:pt x="6016" y="893367"/>
                      </a:lnTo>
                      <a:cubicBezTo>
                        <a:pt x="582" y="881706"/>
                        <a:pt x="0" y="868355"/>
                        <a:pt x="4399" y="856266"/>
                      </a:cubicBezTo>
                      <a:lnTo>
                        <a:pt x="279632" y="100062"/>
                      </a:lnTo>
                      <a:cubicBezTo>
                        <a:pt x="254507" y="90593"/>
                        <a:pt x="241536" y="62888"/>
                        <a:pt x="250633" y="37885"/>
                      </a:cubicBez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79" name="Rounded Rectangle 19">
                  <a:extLst>
                    <a:ext uri="{FF2B5EF4-FFF2-40B4-BE49-F238E27FC236}">
                      <a16:creationId xmlns:a16="http://schemas.microsoft.com/office/drawing/2014/main" id="{CB9BE1CE-E602-344A-66E8-3A5B1A76C4D7}"/>
                    </a:ext>
                  </a:extLst>
                </p:cNvPr>
                <p:cNvSpPr/>
                <p:nvPr/>
              </p:nvSpPr>
              <p:spPr>
                <a:xfrm>
                  <a:off x="422860" y="3980934"/>
                  <a:ext cx="379694" cy="9300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694" h="930015">
                      <a:moveTo>
                        <a:pt x="279341" y="38168"/>
                      </a:moveTo>
                      <a:cubicBezTo>
                        <a:pt x="288503" y="12986"/>
                        <a:pt x="316353" y="0"/>
                        <a:pt x="341526" y="9170"/>
                      </a:cubicBezTo>
                      <a:cubicBezTo>
                        <a:pt x="366707" y="18332"/>
                        <a:pt x="379694" y="46174"/>
                        <a:pt x="370524" y="71355"/>
                      </a:cubicBezTo>
                      <a:lnTo>
                        <a:pt x="58004" y="930015"/>
                      </a:lnTo>
                      <a:lnTo>
                        <a:pt x="0" y="805652"/>
                      </a:lnTo>
                      <a:lnTo>
                        <a:pt x="279341" y="38168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80" name="Rounded Rectangle 20">
                  <a:extLst>
                    <a:ext uri="{FF2B5EF4-FFF2-40B4-BE49-F238E27FC236}">
                      <a16:creationId xmlns:a16="http://schemas.microsoft.com/office/drawing/2014/main" id="{AEABAF35-E547-5297-9C5C-C222146E639F}"/>
                    </a:ext>
                  </a:extLst>
                </p:cNvPr>
                <p:cNvSpPr/>
                <p:nvPr/>
              </p:nvSpPr>
              <p:spPr>
                <a:xfrm>
                  <a:off x="541651" y="4013474"/>
                  <a:ext cx="443796" cy="91963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43796" h="919632">
                      <a:moveTo>
                        <a:pt x="320825" y="38160"/>
                      </a:moveTo>
                      <a:cubicBezTo>
                        <a:pt x="329995" y="12986"/>
                        <a:pt x="357828" y="0"/>
                        <a:pt x="383010" y="9162"/>
                      </a:cubicBezTo>
                      <a:lnTo>
                        <a:pt x="443796" y="31294"/>
                      </a:lnTo>
                      <a:lnTo>
                        <a:pt x="429499" y="70587"/>
                      </a:lnTo>
                      <a:cubicBezTo>
                        <a:pt x="428028" y="74614"/>
                        <a:pt x="425019" y="77905"/>
                        <a:pt x="421138" y="79717"/>
                      </a:cubicBezTo>
                      <a:lnTo>
                        <a:pt x="365017" y="105885"/>
                      </a:lnTo>
                      <a:lnTo>
                        <a:pt x="391194" y="162005"/>
                      </a:lnTo>
                      <a:cubicBezTo>
                        <a:pt x="393005" y="165887"/>
                        <a:pt x="393191" y="170342"/>
                        <a:pt x="391727" y="174369"/>
                      </a:cubicBezTo>
                      <a:lnTo>
                        <a:pt x="379719" y="207370"/>
                      </a:lnTo>
                      <a:cubicBezTo>
                        <a:pt x="378247" y="211398"/>
                        <a:pt x="375239" y="214681"/>
                        <a:pt x="371349" y="216492"/>
                      </a:cubicBezTo>
                      <a:lnTo>
                        <a:pt x="315237" y="242660"/>
                      </a:lnTo>
                      <a:lnTo>
                        <a:pt x="337402" y="290193"/>
                      </a:lnTo>
                      <a:cubicBezTo>
                        <a:pt x="341178" y="298287"/>
                        <a:pt x="337669" y="307910"/>
                        <a:pt x="329574" y="311679"/>
                      </a:cubicBezTo>
                      <a:lnTo>
                        <a:pt x="282042" y="333852"/>
                      </a:lnTo>
                      <a:lnTo>
                        <a:pt x="318714" y="412469"/>
                      </a:lnTo>
                      <a:cubicBezTo>
                        <a:pt x="322482" y="420564"/>
                        <a:pt x="318981" y="430195"/>
                        <a:pt x="310886" y="433963"/>
                      </a:cubicBezTo>
                      <a:lnTo>
                        <a:pt x="232261" y="470627"/>
                      </a:lnTo>
                      <a:lnTo>
                        <a:pt x="254426" y="518160"/>
                      </a:lnTo>
                      <a:cubicBezTo>
                        <a:pt x="258202" y="526255"/>
                        <a:pt x="254701" y="535878"/>
                        <a:pt x="246606" y="539654"/>
                      </a:cubicBezTo>
                      <a:lnTo>
                        <a:pt x="199074" y="561811"/>
                      </a:lnTo>
                      <a:lnTo>
                        <a:pt x="225242" y="617932"/>
                      </a:lnTo>
                      <a:cubicBezTo>
                        <a:pt x="227053" y="621813"/>
                        <a:pt x="227247" y="626261"/>
                        <a:pt x="225775" y="630296"/>
                      </a:cubicBezTo>
                      <a:lnTo>
                        <a:pt x="213767" y="663297"/>
                      </a:lnTo>
                      <a:cubicBezTo>
                        <a:pt x="212303" y="667324"/>
                        <a:pt x="209295" y="670615"/>
                        <a:pt x="205405" y="672427"/>
                      </a:cubicBezTo>
                      <a:lnTo>
                        <a:pt x="149285" y="698595"/>
                      </a:lnTo>
                      <a:lnTo>
                        <a:pt x="185124" y="775441"/>
                      </a:lnTo>
                      <a:cubicBezTo>
                        <a:pt x="186936" y="779331"/>
                        <a:pt x="187130" y="783778"/>
                        <a:pt x="185666" y="787805"/>
                      </a:cubicBezTo>
                      <a:lnTo>
                        <a:pt x="168127" y="836001"/>
                      </a:lnTo>
                      <a:cubicBezTo>
                        <a:pt x="166655" y="840036"/>
                        <a:pt x="163647" y="843320"/>
                        <a:pt x="159757" y="845131"/>
                      </a:cubicBezTo>
                      <a:lnTo>
                        <a:pt x="0" y="919632"/>
                      </a:lnTo>
                      <a:lnTo>
                        <a:pt x="320825" y="38160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81" name="Rounded Rectangle 21">
                  <a:extLst>
                    <a:ext uri="{FF2B5EF4-FFF2-40B4-BE49-F238E27FC236}">
                      <a16:creationId xmlns:a16="http://schemas.microsoft.com/office/drawing/2014/main" id="{3EEB34D4-AF5C-779F-E9D0-EFB037B71D93}"/>
                    </a:ext>
                  </a:extLst>
                </p:cNvPr>
                <p:cNvSpPr/>
                <p:nvPr/>
              </p:nvSpPr>
              <p:spPr>
                <a:xfrm>
                  <a:off x="618667" y="3219700"/>
                  <a:ext cx="475835" cy="6081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5835" h="608107">
                      <a:moveTo>
                        <a:pt x="242490" y="282114"/>
                      </a:moveTo>
                      <a:cubicBezTo>
                        <a:pt x="220705" y="308452"/>
                        <a:pt x="214382" y="344300"/>
                        <a:pt x="225848" y="376500"/>
                      </a:cubicBezTo>
                      <a:lnTo>
                        <a:pt x="308290" y="608107"/>
                      </a:lnTo>
                      <a:lnTo>
                        <a:pt x="174717" y="559482"/>
                      </a:lnTo>
                      <a:cubicBezTo>
                        <a:pt x="150530" y="550684"/>
                        <a:pt x="130856" y="532643"/>
                        <a:pt x="119979" y="509313"/>
                      </a:cubicBezTo>
                      <a:lnTo>
                        <a:pt x="15105" y="284403"/>
                      </a:lnTo>
                      <a:cubicBezTo>
                        <a:pt x="0" y="252024"/>
                        <a:pt x="14013" y="213532"/>
                        <a:pt x="46392" y="198435"/>
                      </a:cubicBezTo>
                      <a:lnTo>
                        <a:pt x="461934" y="4665"/>
                      </a:lnTo>
                      <a:cubicBezTo>
                        <a:pt x="466471" y="2547"/>
                        <a:pt x="471137" y="1002"/>
                        <a:pt x="475835" y="0"/>
                      </a:cubicBezTo>
                      <a:lnTo>
                        <a:pt x="242490" y="282114"/>
                      </a:lnTo>
                    </a:path>
                  </a:pathLst>
                </a:custGeom>
                <a:solidFill>
                  <a:srgbClr val="047857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7728" name="Group 17727">
                <a:extLst>
                  <a:ext uri="{FF2B5EF4-FFF2-40B4-BE49-F238E27FC236}">
                    <a16:creationId xmlns:a16="http://schemas.microsoft.com/office/drawing/2014/main" id="{47A592E4-3563-6566-65FE-96982FDEF200}"/>
                  </a:ext>
                </a:extLst>
              </p:cNvPr>
              <p:cNvGrpSpPr/>
              <p:nvPr/>
            </p:nvGrpSpPr>
            <p:grpSpPr>
              <a:xfrm>
                <a:off x="1881753" y="3676900"/>
                <a:ext cx="2377355" cy="1956776"/>
                <a:chOff x="386678" y="3219700"/>
                <a:chExt cx="2377355" cy="1956776"/>
              </a:xfrm>
            </p:grpSpPr>
            <p:sp>
              <p:nvSpPr>
                <p:cNvPr id="17742" name="Rounded Rectangle 23">
                  <a:extLst>
                    <a:ext uri="{FF2B5EF4-FFF2-40B4-BE49-F238E27FC236}">
                      <a16:creationId xmlns:a16="http://schemas.microsoft.com/office/drawing/2014/main" id="{CA98F351-DEEA-8404-A57C-202873172D55}"/>
                    </a:ext>
                  </a:extLst>
                </p:cNvPr>
                <p:cNvSpPr/>
                <p:nvPr/>
              </p:nvSpPr>
              <p:spPr>
                <a:xfrm>
                  <a:off x="2063487" y="3865499"/>
                  <a:ext cx="621440" cy="11180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21440" h="1118062">
                      <a:moveTo>
                        <a:pt x="472595" y="35397"/>
                      </a:moveTo>
                      <a:cubicBezTo>
                        <a:pt x="481759" y="60577"/>
                        <a:pt x="468534" y="88507"/>
                        <a:pt x="443054" y="97781"/>
                      </a:cubicBezTo>
                      <a:lnTo>
                        <a:pt x="329611" y="139048"/>
                      </a:lnTo>
                      <a:cubicBezTo>
                        <a:pt x="304431" y="148213"/>
                        <a:pt x="291448" y="176055"/>
                        <a:pt x="300612" y="201236"/>
                      </a:cubicBezTo>
                      <a:lnTo>
                        <a:pt x="621440" y="1082703"/>
                      </a:lnTo>
                      <a:lnTo>
                        <a:pt x="615780" y="1094866"/>
                      </a:lnTo>
                      <a:cubicBezTo>
                        <a:pt x="608230" y="1111057"/>
                        <a:pt x="588984" y="1118062"/>
                        <a:pt x="572794" y="1110512"/>
                      </a:cubicBezTo>
                      <a:lnTo>
                        <a:pt x="560653" y="1104836"/>
                      </a:lnTo>
                      <a:lnTo>
                        <a:pt x="248123" y="246166"/>
                      </a:lnTo>
                      <a:cubicBezTo>
                        <a:pt x="238958" y="220986"/>
                        <a:pt x="211115" y="208003"/>
                        <a:pt x="185936" y="217168"/>
                      </a:cubicBezTo>
                      <a:cubicBezTo>
                        <a:pt x="160755" y="226333"/>
                        <a:pt x="147772" y="254175"/>
                        <a:pt x="156936" y="279355"/>
                      </a:cubicBezTo>
                      <a:lnTo>
                        <a:pt x="436278" y="1046840"/>
                      </a:lnTo>
                      <a:lnTo>
                        <a:pt x="371574" y="1016682"/>
                      </a:lnTo>
                      <a:cubicBezTo>
                        <a:pt x="359912" y="1011244"/>
                        <a:pt x="350887" y="1001395"/>
                        <a:pt x="346486" y="989303"/>
                      </a:cubicBezTo>
                      <a:lnTo>
                        <a:pt x="71252" y="233103"/>
                      </a:lnTo>
                      <a:cubicBezTo>
                        <a:pt x="45917" y="241999"/>
                        <a:pt x="18165" y="229109"/>
                        <a:pt x="9065" y="204108"/>
                      </a:cubicBezTo>
                      <a:cubicBezTo>
                        <a:pt x="0" y="179198"/>
                        <a:pt x="12843" y="151598"/>
                        <a:pt x="37786" y="142029"/>
                      </a:cubicBezTo>
                      <a:lnTo>
                        <a:pt x="394145" y="12325"/>
                      </a:lnTo>
                      <a:cubicBezTo>
                        <a:pt x="423223" y="1741"/>
                        <a:pt x="459711" y="0"/>
                        <a:pt x="472595" y="35397"/>
                      </a:cubicBez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3" name="Rounded Rectangle 24">
                  <a:extLst>
                    <a:ext uri="{FF2B5EF4-FFF2-40B4-BE49-F238E27FC236}">
                      <a16:creationId xmlns:a16="http://schemas.microsoft.com/office/drawing/2014/main" id="{BDCC4BB4-4185-BF50-F42C-82F2C58D37EA}"/>
                    </a:ext>
                  </a:extLst>
                </p:cNvPr>
                <p:cNvSpPr/>
                <p:nvPr/>
              </p:nvSpPr>
              <p:spPr>
                <a:xfrm>
                  <a:off x="2211260" y="4073490"/>
                  <a:ext cx="412882" cy="8968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12882" h="896834">
                      <a:moveTo>
                        <a:pt x="412882" y="896834"/>
                      </a:moveTo>
                      <a:lnTo>
                        <a:pt x="100351" y="38163"/>
                      </a:lnTo>
                      <a:cubicBezTo>
                        <a:pt x="91186" y="12982"/>
                        <a:pt x="63344" y="0"/>
                        <a:pt x="38163" y="9165"/>
                      </a:cubicBezTo>
                      <a:cubicBezTo>
                        <a:pt x="12982" y="18329"/>
                        <a:pt x="0" y="46172"/>
                        <a:pt x="9165" y="71353"/>
                      </a:cubicBezTo>
                      <a:lnTo>
                        <a:pt x="288506" y="838836"/>
                      </a:lnTo>
                      <a:lnTo>
                        <a:pt x="412882" y="896834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4" name="Rounded Rectangle 25">
                  <a:extLst>
                    <a:ext uri="{FF2B5EF4-FFF2-40B4-BE49-F238E27FC236}">
                      <a16:creationId xmlns:a16="http://schemas.microsoft.com/office/drawing/2014/main" id="{C57FB9B3-5665-E95F-5346-C1C0A96DC277}"/>
                    </a:ext>
                  </a:extLst>
                </p:cNvPr>
                <p:cNvSpPr/>
                <p:nvPr/>
              </p:nvSpPr>
              <p:spPr>
                <a:xfrm>
                  <a:off x="2354938" y="3982393"/>
                  <a:ext cx="409095" cy="9657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09095" h="965780">
                      <a:moveTo>
                        <a:pt x="38163" y="22126"/>
                      </a:moveTo>
                      <a:cubicBezTo>
                        <a:pt x="12982" y="31290"/>
                        <a:pt x="0" y="59133"/>
                        <a:pt x="9165" y="84313"/>
                      </a:cubicBezTo>
                      <a:lnTo>
                        <a:pt x="329992" y="965780"/>
                      </a:lnTo>
                      <a:lnTo>
                        <a:pt x="405320" y="804240"/>
                      </a:lnTo>
                      <a:cubicBezTo>
                        <a:pt x="409095" y="796144"/>
                        <a:pt x="405592" y="786521"/>
                        <a:pt x="397497" y="782747"/>
                      </a:cubicBezTo>
                      <a:lnTo>
                        <a:pt x="318873" y="746084"/>
                      </a:lnTo>
                      <a:lnTo>
                        <a:pt x="341037" y="698554"/>
                      </a:lnTo>
                      <a:cubicBezTo>
                        <a:pt x="344812" y="690459"/>
                        <a:pt x="341309" y="680836"/>
                        <a:pt x="333214" y="677061"/>
                      </a:cubicBezTo>
                      <a:lnTo>
                        <a:pt x="285684" y="654898"/>
                      </a:lnTo>
                      <a:lnTo>
                        <a:pt x="269090" y="609304"/>
                      </a:lnTo>
                      <a:lnTo>
                        <a:pt x="304923" y="532459"/>
                      </a:lnTo>
                      <a:cubicBezTo>
                        <a:pt x="306736" y="528572"/>
                        <a:pt x="306930" y="524123"/>
                        <a:pt x="305463" y="520093"/>
                      </a:cubicBezTo>
                      <a:lnTo>
                        <a:pt x="287920" y="471892"/>
                      </a:lnTo>
                      <a:cubicBezTo>
                        <a:pt x="286453" y="467861"/>
                        <a:pt x="283445" y="464579"/>
                        <a:pt x="279557" y="462766"/>
                      </a:cubicBezTo>
                      <a:lnTo>
                        <a:pt x="202712" y="426932"/>
                      </a:lnTo>
                      <a:lnTo>
                        <a:pt x="228879" y="370816"/>
                      </a:lnTo>
                      <a:cubicBezTo>
                        <a:pt x="230692" y="366928"/>
                        <a:pt x="230886" y="362480"/>
                        <a:pt x="229419" y="358450"/>
                      </a:cubicBezTo>
                      <a:lnTo>
                        <a:pt x="217407" y="325447"/>
                      </a:lnTo>
                      <a:cubicBezTo>
                        <a:pt x="215940" y="321416"/>
                        <a:pt x="212932" y="318133"/>
                        <a:pt x="209044" y="316320"/>
                      </a:cubicBezTo>
                      <a:lnTo>
                        <a:pt x="184022" y="304652"/>
                      </a:lnTo>
                      <a:lnTo>
                        <a:pt x="195690" y="279629"/>
                      </a:lnTo>
                      <a:cubicBezTo>
                        <a:pt x="197502" y="275742"/>
                        <a:pt x="197697" y="271294"/>
                        <a:pt x="196230" y="267263"/>
                      </a:cubicBezTo>
                      <a:lnTo>
                        <a:pt x="184218" y="234260"/>
                      </a:lnTo>
                      <a:cubicBezTo>
                        <a:pt x="182751" y="230229"/>
                        <a:pt x="179743" y="226946"/>
                        <a:pt x="175855" y="225134"/>
                      </a:cubicBezTo>
                      <a:lnTo>
                        <a:pt x="119739" y="198966"/>
                      </a:lnTo>
                      <a:lnTo>
                        <a:pt x="141903" y="151437"/>
                      </a:lnTo>
                      <a:cubicBezTo>
                        <a:pt x="145678" y="143341"/>
                        <a:pt x="142175" y="133718"/>
                        <a:pt x="134080" y="129944"/>
                      </a:cubicBezTo>
                      <a:lnTo>
                        <a:pt x="86550" y="107780"/>
                      </a:lnTo>
                      <a:lnTo>
                        <a:pt x="112718" y="51664"/>
                      </a:lnTo>
                      <a:cubicBezTo>
                        <a:pt x="114530" y="47776"/>
                        <a:pt x="114724" y="43328"/>
                        <a:pt x="113257" y="39298"/>
                      </a:cubicBezTo>
                      <a:lnTo>
                        <a:pt x="98954" y="0"/>
                      </a:lnTo>
                      <a:lnTo>
                        <a:pt x="38163" y="22126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5" name="Rounded Rectangle 26">
                  <a:extLst>
                    <a:ext uri="{FF2B5EF4-FFF2-40B4-BE49-F238E27FC236}">
                      <a16:creationId xmlns:a16="http://schemas.microsoft.com/office/drawing/2014/main" id="{D1C2D81E-2E97-9C36-C036-9889EE3E845C}"/>
                    </a:ext>
                  </a:extLst>
                </p:cNvPr>
                <p:cNvSpPr/>
                <p:nvPr/>
              </p:nvSpPr>
              <p:spPr>
                <a:xfrm>
                  <a:off x="1786590" y="3243692"/>
                  <a:ext cx="745759" cy="67414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45759" h="674148">
                      <a:moveTo>
                        <a:pt x="440584" y="32414"/>
                      </a:moveTo>
                      <a:lnTo>
                        <a:pt x="270291" y="2937"/>
                      </a:lnTo>
                      <a:cubicBezTo>
                        <a:pt x="253318" y="0"/>
                        <a:pt x="236060" y="6281"/>
                        <a:pt x="224946" y="19442"/>
                      </a:cubicBezTo>
                      <a:lnTo>
                        <a:pt x="14470" y="268683"/>
                      </a:lnTo>
                      <a:cubicBezTo>
                        <a:pt x="3251" y="281969"/>
                        <a:pt x="0" y="300243"/>
                        <a:pt x="5946" y="316582"/>
                      </a:cubicBezTo>
                      <a:lnTo>
                        <a:pt x="116706" y="620891"/>
                      </a:lnTo>
                      <a:cubicBezTo>
                        <a:pt x="122653" y="637231"/>
                        <a:pt x="136890" y="649139"/>
                        <a:pt x="154024" y="652105"/>
                      </a:cubicBezTo>
                      <a:lnTo>
                        <a:pt x="280508" y="673998"/>
                      </a:lnTo>
                      <a:cubicBezTo>
                        <a:pt x="281372" y="674148"/>
                        <a:pt x="282074" y="673307"/>
                        <a:pt x="281774" y="672484"/>
                      </a:cubicBezTo>
                      <a:cubicBezTo>
                        <a:pt x="272609" y="647304"/>
                        <a:pt x="285592" y="619462"/>
                        <a:pt x="310773" y="610297"/>
                      </a:cubicBezTo>
                      <a:lnTo>
                        <a:pt x="584331" y="510729"/>
                      </a:lnTo>
                      <a:cubicBezTo>
                        <a:pt x="609512" y="501565"/>
                        <a:pt x="637354" y="514548"/>
                        <a:pt x="646519" y="539729"/>
                      </a:cubicBezTo>
                      <a:cubicBezTo>
                        <a:pt x="646819" y="540553"/>
                        <a:pt x="647900" y="540746"/>
                        <a:pt x="648466" y="540075"/>
                      </a:cubicBezTo>
                      <a:lnTo>
                        <a:pt x="731289" y="441998"/>
                      </a:lnTo>
                      <a:cubicBezTo>
                        <a:pt x="742507" y="428713"/>
                        <a:pt x="745759" y="410439"/>
                        <a:pt x="739812" y="394099"/>
                      </a:cubicBezTo>
                      <a:lnTo>
                        <a:pt x="629052" y="89791"/>
                      </a:lnTo>
                      <a:cubicBezTo>
                        <a:pt x="623105" y="73450"/>
                        <a:pt x="608868" y="61542"/>
                        <a:pt x="591735" y="58577"/>
                      </a:cubicBezTo>
                      <a:lnTo>
                        <a:pt x="555393" y="52286"/>
                      </a:lnTo>
                      <a:cubicBezTo>
                        <a:pt x="515251" y="88213"/>
                        <a:pt x="472601" y="121396"/>
                        <a:pt x="427739" y="151541"/>
                      </a:cubicBezTo>
                      <a:cubicBezTo>
                        <a:pt x="436447" y="178822"/>
                        <a:pt x="422121" y="208347"/>
                        <a:pt x="394968" y="218229"/>
                      </a:cubicBezTo>
                      <a:lnTo>
                        <a:pt x="267825" y="264505"/>
                      </a:lnTo>
                      <a:cubicBezTo>
                        <a:pt x="252628" y="270037"/>
                        <a:pt x="236554" y="268272"/>
                        <a:pt x="223440" y="261000"/>
                      </a:cubicBezTo>
                      <a:lnTo>
                        <a:pt x="223425" y="261005"/>
                      </a:lnTo>
                      <a:cubicBezTo>
                        <a:pt x="212522" y="254955"/>
                        <a:pt x="203666" y="245095"/>
                        <a:pt x="199066" y="232457"/>
                      </a:cubicBezTo>
                      <a:cubicBezTo>
                        <a:pt x="196898" y="226499"/>
                        <a:pt x="195835" y="220310"/>
                        <a:pt x="195829" y="214164"/>
                      </a:cubicBezTo>
                      <a:cubicBezTo>
                        <a:pt x="195829" y="214018"/>
                        <a:pt x="195830" y="213871"/>
                        <a:pt x="195831" y="213725"/>
                      </a:cubicBezTo>
                      <a:cubicBezTo>
                        <a:pt x="195918" y="201285"/>
                        <a:pt x="200331" y="189046"/>
                        <a:pt x="208660" y="179280"/>
                      </a:cubicBezTo>
                      <a:lnTo>
                        <a:pt x="261006" y="117908"/>
                      </a:lnTo>
                      <a:cubicBezTo>
                        <a:pt x="272073" y="104931"/>
                        <a:pt x="289142" y="98719"/>
                        <a:pt x="305961" y="101545"/>
                      </a:cubicBezTo>
                      <a:lnTo>
                        <a:pt x="333425" y="106160"/>
                      </a:lnTo>
                      <a:cubicBezTo>
                        <a:pt x="370676" y="83712"/>
                        <a:pt x="406455" y="59071"/>
                        <a:pt x="440584" y="32414"/>
                      </a:cubicBez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6" name="Rounded Rectangle 27">
                  <a:extLst>
                    <a:ext uri="{FF2B5EF4-FFF2-40B4-BE49-F238E27FC236}">
                      <a16:creationId xmlns:a16="http://schemas.microsoft.com/office/drawing/2014/main" id="{7E5545E5-382D-7401-371D-0C639078FE29}"/>
                    </a:ext>
                  </a:extLst>
                </p:cNvPr>
                <p:cNvSpPr/>
                <p:nvPr/>
              </p:nvSpPr>
              <p:spPr>
                <a:xfrm>
                  <a:off x="1707615" y="4014265"/>
                  <a:ext cx="454731" cy="111656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54731" h="1116567">
                      <a:moveTo>
                        <a:pt x="381522" y="0"/>
                      </a:moveTo>
                      <a:lnTo>
                        <a:pt x="36417" y="60851"/>
                      </a:lnTo>
                      <a:lnTo>
                        <a:pt x="37058" y="61278"/>
                      </a:lnTo>
                      <a:cubicBezTo>
                        <a:pt x="14368" y="68816"/>
                        <a:pt x="0" y="91819"/>
                        <a:pt x="4227" y="115795"/>
                      </a:cubicBezTo>
                      <a:cubicBezTo>
                        <a:pt x="8847" y="141997"/>
                        <a:pt x="33939" y="159510"/>
                        <a:pt x="60433" y="155148"/>
                      </a:cubicBezTo>
                      <a:lnTo>
                        <a:pt x="200173" y="947654"/>
                      </a:lnTo>
                      <a:cubicBezTo>
                        <a:pt x="202408" y="960327"/>
                        <a:pt x="209585" y="971593"/>
                        <a:pt x="220126" y="978973"/>
                      </a:cubicBezTo>
                      <a:lnTo>
                        <a:pt x="278610" y="1019926"/>
                      </a:lnTo>
                      <a:lnTo>
                        <a:pt x="136785" y="215594"/>
                      </a:lnTo>
                      <a:cubicBezTo>
                        <a:pt x="132132" y="189206"/>
                        <a:pt x="149752" y="164040"/>
                        <a:pt x="176142" y="159387"/>
                      </a:cubicBezTo>
                      <a:cubicBezTo>
                        <a:pt x="202531" y="154734"/>
                        <a:pt x="227696" y="172355"/>
                        <a:pt x="232349" y="198745"/>
                      </a:cubicBezTo>
                      <a:lnTo>
                        <a:pt x="391025" y="1098640"/>
                      </a:lnTo>
                      <a:lnTo>
                        <a:pt x="401996" y="1106320"/>
                      </a:lnTo>
                      <a:cubicBezTo>
                        <a:pt x="416630" y="1116567"/>
                        <a:pt x="436799" y="1113010"/>
                        <a:pt x="447046" y="1098377"/>
                      </a:cubicBezTo>
                      <a:lnTo>
                        <a:pt x="454731" y="1087402"/>
                      </a:lnTo>
                      <a:lnTo>
                        <a:pt x="291842" y="163615"/>
                      </a:lnTo>
                      <a:cubicBezTo>
                        <a:pt x="287189" y="137226"/>
                        <a:pt x="304810" y="112061"/>
                        <a:pt x="331200" y="107408"/>
                      </a:cubicBezTo>
                      <a:lnTo>
                        <a:pt x="429230" y="90123"/>
                      </a:lnTo>
                      <a:lnTo>
                        <a:pt x="427128" y="84347"/>
                      </a:lnTo>
                      <a:cubicBezTo>
                        <a:pt x="401793" y="93243"/>
                        <a:pt x="374042" y="80353"/>
                        <a:pt x="364942" y="55351"/>
                      </a:cubicBezTo>
                      <a:cubicBezTo>
                        <a:pt x="357494" y="34886"/>
                        <a:pt x="364834" y="12606"/>
                        <a:pt x="381522" y="0"/>
                      </a:cubicBez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7" name="Rounded Rectangle 28">
                  <a:extLst>
                    <a:ext uri="{FF2B5EF4-FFF2-40B4-BE49-F238E27FC236}">
                      <a16:creationId xmlns:a16="http://schemas.microsoft.com/office/drawing/2014/main" id="{4520C026-1570-B69C-0483-32E7AA580E99}"/>
                    </a:ext>
                  </a:extLst>
                </p:cNvPr>
                <p:cNvSpPr/>
                <p:nvPr/>
              </p:nvSpPr>
              <p:spPr>
                <a:xfrm>
                  <a:off x="1994807" y="4110451"/>
                  <a:ext cx="255221" cy="9912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5221" h="991227">
                      <a:moveTo>
                        <a:pt x="44010" y="11233"/>
                      </a:moveTo>
                      <a:cubicBezTo>
                        <a:pt x="17621" y="15886"/>
                        <a:pt x="0" y="41052"/>
                        <a:pt x="4653" y="67440"/>
                      </a:cubicBezTo>
                      <a:lnTo>
                        <a:pt x="167542" y="991227"/>
                      </a:lnTo>
                      <a:lnTo>
                        <a:pt x="250097" y="873325"/>
                      </a:lnTo>
                      <a:cubicBezTo>
                        <a:pt x="255221" y="866008"/>
                        <a:pt x="253443" y="855923"/>
                        <a:pt x="246126" y="850800"/>
                      </a:cubicBezTo>
                      <a:lnTo>
                        <a:pt x="203167" y="820720"/>
                      </a:lnTo>
                      <a:lnTo>
                        <a:pt x="238681" y="770000"/>
                      </a:lnTo>
                      <a:cubicBezTo>
                        <a:pt x="241141" y="766486"/>
                        <a:pt x="242105" y="762140"/>
                        <a:pt x="241361" y="757915"/>
                      </a:cubicBezTo>
                      <a:lnTo>
                        <a:pt x="235262" y="723328"/>
                      </a:lnTo>
                      <a:cubicBezTo>
                        <a:pt x="234517" y="719104"/>
                        <a:pt x="232124" y="715349"/>
                        <a:pt x="228611" y="712888"/>
                      </a:cubicBezTo>
                      <a:lnTo>
                        <a:pt x="177891" y="677373"/>
                      </a:lnTo>
                      <a:lnTo>
                        <a:pt x="169466" y="629592"/>
                      </a:lnTo>
                      <a:lnTo>
                        <a:pt x="204980" y="578872"/>
                      </a:lnTo>
                      <a:cubicBezTo>
                        <a:pt x="207440" y="575359"/>
                        <a:pt x="208404" y="571011"/>
                        <a:pt x="207659" y="566787"/>
                      </a:cubicBezTo>
                      <a:lnTo>
                        <a:pt x="201560" y="532200"/>
                      </a:lnTo>
                      <a:cubicBezTo>
                        <a:pt x="200816" y="527976"/>
                        <a:pt x="198424" y="524220"/>
                        <a:pt x="194910" y="521759"/>
                      </a:cubicBezTo>
                      <a:lnTo>
                        <a:pt x="144190" y="486246"/>
                      </a:lnTo>
                      <a:lnTo>
                        <a:pt x="193948" y="415183"/>
                      </a:lnTo>
                      <a:cubicBezTo>
                        <a:pt x="199072" y="407866"/>
                        <a:pt x="197294" y="397781"/>
                        <a:pt x="189977" y="392658"/>
                      </a:cubicBezTo>
                      <a:lnTo>
                        <a:pt x="118914" y="342899"/>
                      </a:lnTo>
                      <a:lnTo>
                        <a:pt x="148995" y="299940"/>
                      </a:lnTo>
                      <a:cubicBezTo>
                        <a:pt x="154117" y="292624"/>
                        <a:pt x="152339" y="282539"/>
                        <a:pt x="145023" y="277415"/>
                      </a:cubicBezTo>
                      <a:lnTo>
                        <a:pt x="130167" y="267014"/>
                      </a:lnTo>
                      <a:lnTo>
                        <a:pt x="159122" y="225661"/>
                      </a:lnTo>
                      <a:cubicBezTo>
                        <a:pt x="161582" y="222148"/>
                        <a:pt x="162546" y="217800"/>
                        <a:pt x="161801" y="213577"/>
                      </a:cubicBezTo>
                      <a:lnTo>
                        <a:pt x="152894" y="163062"/>
                      </a:lnTo>
                      <a:cubicBezTo>
                        <a:pt x="152149" y="158838"/>
                        <a:pt x="149757" y="155082"/>
                        <a:pt x="146244" y="152622"/>
                      </a:cubicBezTo>
                      <a:lnTo>
                        <a:pt x="76788" y="103989"/>
                      </a:lnTo>
                      <a:lnTo>
                        <a:pt x="112302" y="53270"/>
                      </a:lnTo>
                      <a:cubicBezTo>
                        <a:pt x="114762" y="49755"/>
                        <a:pt x="115726" y="45409"/>
                        <a:pt x="114981" y="41184"/>
                      </a:cubicBezTo>
                      <a:lnTo>
                        <a:pt x="107719" y="0"/>
                      </a:lnTo>
                      <a:lnTo>
                        <a:pt x="44010" y="11233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8" name="Rounded Rectangle 29">
                  <a:extLst>
                    <a:ext uri="{FF2B5EF4-FFF2-40B4-BE49-F238E27FC236}">
                      <a16:creationId xmlns:a16="http://schemas.microsoft.com/office/drawing/2014/main" id="{BF615286-F109-48E5-3D48-73687F123BDD}"/>
                    </a:ext>
                  </a:extLst>
                </p:cNvPr>
                <p:cNvSpPr/>
                <p:nvPr/>
              </p:nvSpPr>
              <p:spPr>
                <a:xfrm>
                  <a:off x="1839749" y="4168992"/>
                  <a:ext cx="258893" cy="9439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8893" h="943905">
                      <a:moveTo>
                        <a:pt x="44010" y="4653"/>
                      </a:moveTo>
                      <a:cubicBezTo>
                        <a:pt x="17620" y="9306"/>
                        <a:pt x="0" y="34471"/>
                        <a:pt x="4653" y="60860"/>
                      </a:cubicBezTo>
                      <a:lnTo>
                        <a:pt x="146478" y="865192"/>
                      </a:lnTo>
                      <a:lnTo>
                        <a:pt x="258893" y="943905"/>
                      </a:lnTo>
                      <a:lnTo>
                        <a:pt x="100217" y="44010"/>
                      </a:lnTo>
                      <a:cubicBezTo>
                        <a:pt x="95564" y="17620"/>
                        <a:pt x="70399" y="0"/>
                        <a:pt x="44010" y="4653"/>
                      </a:cubicBez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49" name="Rounded Rectangle 30">
                  <a:extLst>
                    <a:ext uri="{FF2B5EF4-FFF2-40B4-BE49-F238E27FC236}">
                      <a16:creationId xmlns:a16="http://schemas.microsoft.com/office/drawing/2014/main" id="{116CB27A-B464-1512-0697-DE8E39DFC258}"/>
                    </a:ext>
                  </a:extLst>
                </p:cNvPr>
                <p:cNvSpPr/>
                <p:nvPr/>
              </p:nvSpPr>
              <p:spPr>
                <a:xfrm>
                  <a:off x="1486510" y="3336544"/>
                  <a:ext cx="398882" cy="68160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8882" h="681608">
                      <a:moveTo>
                        <a:pt x="354971" y="0"/>
                      </a:moveTo>
                      <a:cubicBezTo>
                        <a:pt x="347435" y="534"/>
                        <a:pt x="339854" y="1464"/>
                        <a:pt x="332250" y="2805"/>
                      </a:cubicBezTo>
                      <a:cubicBezTo>
                        <a:pt x="213498" y="23744"/>
                        <a:pt x="134205" y="136986"/>
                        <a:pt x="155144" y="255738"/>
                      </a:cubicBezTo>
                      <a:lnTo>
                        <a:pt x="166378" y="319447"/>
                      </a:lnTo>
                      <a:cubicBezTo>
                        <a:pt x="168705" y="332642"/>
                        <a:pt x="159894" y="345225"/>
                        <a:pt x="146700" y="347551"/>
                      </a:cubicBezTo>
                      <a:cubicBezTo>
                        <a:pt x="58735" y="363061"/>
                        <a:pt x="0" y="446944"/>
                        <a:pt x="15510" y="534909"/>
                      </a:cubicBezTo>
                      <a:cubicBezTo>
                        <a:pt x="31021" y="622873"/>
                        <a:pt x="114903" y="681608"/>
                        <a:pt x="202868" y="666098"/>
                      </a:cubicBezTo>
                      <a:lnTo>
                        <a:pt x="398882" y="631536"/>
                      </a:lnTo>
                      <a:cubicBezTo>
                        <a:pt x="373331" y="621457"/>
                        <a:pt x="352913" y="600846"/>
                        <a:pt x="343307" y="574454"/>
                      </a:cubicBezTo>
                      <a:lnTo>
                        <a:pt x="219961" y="235563"/>
                      </a:lnTo>
                      <a:cubicBezTo>
                        <a:pt x="208069" y="202892"/>
                        <a:pt x="214566" y="166356"/>
                        <a:pt x="236991" y="139786"/>
                      </a:cubicBezTo>
                      <a:lnTo>
                        <a:pt x="354971" y="0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0" name="Rounded Rectangle 31">
                  <a:extLst>
                    <a:ext uri="{FF2B5EF4-FFF2-40B4-BE49-F238E27FC236}">
                      <a16:creationId xmlns:a16="http://schemas.microsoft.com/office/drawing/2014/main" id="{FBA689D5-0DAA-9E47-D994-69774BC9F8B1}"/>
                    </a:ext>
                  </a:extLst>
                </p:cNvPr>
                <p:cNvSpPr/>
                <p:nvPr/>
              </p:nvSpPr>
              <p:spPr>
                <a:xfrm>
                  <a:off x="1617179" y="4167815"/>
                  <a:ext cx="132350" cy="9865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2350" h="986556">
                      <a:moveTo>
                        <a:pt x="0" y="48519"/>
                      </a:moveTo>
                      <a:cubicBezTo>
                        <a:pt x="0" y="21722"/>
                        <a:pt x="21722" y="0"/>
                        <a:pt x="48519" y="0"/>
                      </a:cubicBezTo>
                      <a:lnTo>
                        <a:pt x="113211" y="0"/>
                      </a:lnTo>
                      <a:lnTo>
                        <a:pt x="113211" y="41820"/>
                      </a:lnTo>
                      <a:cubicBezTo>
                        <a:pt x="113211" y="46109"/>
                        <a:pt x="111507" y="50223"/>
                        <a:pt x="108474" y="53256"/>
                      </a:cubicBezTo>
                      <a:lnTo>
                        <a:pt x="64692" y="97038"/>
                      </a:lnTo>
                      <a:lnTo>
                        <a:pt x="101775" y="134121"/>
                      </a:lnTo>
                      <a:cubicBezTo>
                        <a:pt x="108091" y="140437"/>
                        <a:pt x="108091" y="150677"/>
                        <a:pt x="101775" y="156993"/>
                      </a:cubicBezTo>
                      <a:lnTo>
                        <a:pt x="64692" y="194076"/>
                      </a:lnTo>
                      <a:lnTo>
                        <a:pt x="108474" y="237858"/>
                      </a:lnTo>
                      <a:cubicBezTo>
                        <a:pt x="111507" y="240892"/>
                        <a:pt x="113211" y="245005"/>
                        <a:pt x="113211" y="249294"/>
                      </a:cubicBezTo>
                      <a:lnTo>
                        <a:pt x="113211" y="284416"/>
                      </a:lnTo>
                      <a:cubicBezTo>
                        <a:pt x="113211" y="288705"/>
                        <a:pt x="111507" y="292818"/>
                        <a:pt x="108474" y="295852"/>
                      </a:cubicBezTo>
                      <a:lnTo>
                        <a:pt x="64692" y="339634"/>
                      </a:lnTo>
                      <a:lnTo>
                        <a:pt x="101775" y="376717"/>
                      </a:lnTo>
                      <a:cubicBezTo>
                        <a:pt x="108091" y="383033"/>
                        <a:pt x="108091" y="393273"/>
                        <a:pt x="101775" y="399589"/>
                      </a:cubicBezTo>
                      <a:lnTo>
                        <a:pt x="64692" y="436672"/>
                      </a:lnTo>
                      <a:lnTo>
                        <a:pt x="124647" y="496627"/>
                      </a:lnTo>
                      <a:cubicBezTo>
                        <a:pt x="127680" y="499661"/>
                        <a:pt x="129384" y="503774"/>
                        <a:pt x="129384" y="508063"/>
                      </a:cubicBezTo>
                      <a:lnTo>
                        <a:pt x="129384" y="559358"/>
                      </a:lnTo>
                      <a:cubicBezTo>
                        <a:pt x="129384" y="563647"/>
                        <a:pt x="127680" y="567760"/>
                        <a:pt x="124647" y="570794"/>
                      </a:cubicBezTo>
                      <a:lnTo>
                        <a:pt x="64692" y="630749"/>
                      </a:lnTo>
                      <a:lnTo>
                        <a:pt x="108474" y="674531"/>
                      </a:lnTo>
                      <a:cubicBezTo>
                        <a:pt x="111507" y="677564"/>
                        <a:pt x="113211" y="681678"/>
                        <a:pt x="113211" y="685967"/>
                      </a:cubicBezTo>
                      <a:lnTo>
                        <a:pt x="113211" y="721088"/>
                      </a:lnTo>
                      <a:cubicBezTo>
                        <a:pt x="113211" y="725377"/>
                        <a:pt x="111507" y="729491"/>
                        <a:pt x="108474" y="732524"/>
                      </a:cubicBezTo>
                      <a:lnTo>
                        <a:pt x="64692" y="776306"/>
                      </a:lnTo>
                      <a:lnTo>
                        <a:pt x="126035" y="837649"/>
                      </a:lnTo>
                      <a:cubicBezTo>
                        <a:pt x="132350" y="843965"/>
                        <a:pt x="132350" y="854206"/>
                        <a:pt x="126035" y="860521"/>
                      </a:cubicBezTo>
                      <a:lnTo>
                        <a:pt x="0" y="986556"/>
                      </a:lnTo>
                      <a:lnTo>
                        <a:pt x="0" y="986544"/>
                      </a:lnTo>
                      <a:lnTo>
                        <a:pt x="0" y="48519"/>
                      </a:lnTo>
                      <a:close/>
                      <a:moveTo>
                        <a:pt x="0" y="986544"/>
                      </a:moveTo>
                      <a:lnTo>
                        <a:pt x="64690" y="921853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1" name="Rounded Rectangle 32">
                  <a:extLst>
                    <a:ext uri="{FF2B5EF4-FFF2-40B4-BE49-F238E27FC236}">
                      <a16:creationId xmlns:a16="http://schemas.microsoft.com/office/drawing/2014/main" id="{B0347529-0FC7-48DA-0DEF-75B1388A23A3}"/>
                    </a:ext>
                  </a:extLst>
                </p:cNvPr>
                <p:cNvSpPr/>
                <p:nvPr/>
              </p:nvSpPr>
              <p:spPr>
                <a:xfrm>
                  <a:off x="1455457" y="4192074"/>
                  <a:ext cx="97038" cy="9622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7038" h="962297">
                      <a:moveTo>
                        <a:pt x="48519" y="0"/>
                      </a:moveTo>
                      <a:cubicBezTo>
                        <a:pt x="21722" y="0"/>
                        <a:pt x="0" y="21722"/>
                        <a:pt x="0" y="48519"/>
                      </a:cubicBezTo>
                      <a:lnTo>
                        <a:pt x="0" y="865248"/>
                      </a:lnTo>
                      <a:lnTo>
                        <a:pt x="0" y="865258"/>
                      </a:lnTo>
                      <a:lnTo>
                        <a:pt x="97038" y="962286"/>
                      </a:lnTo>
                      <a:lnTo>
                        <a:pt x="97038" y="48519"/>
                      </a:lnTo>
                      <a:cubicBezTo>
                        <a:pt x="97038" y="21722"/>
                        <a:pt x="75315" y="0"/>
                        <a:pt x="48519" y="0"/>
                      </a:cubicBezTo>
                      <a:close/>
                      <a:moveTo>
                        <a:pt x="97038" y="962297"/>
                      </a:moveTo>
                      <a:lnTo>
                        <a:pt x="97038" y="962286"/>
                      </a:lnTo>
                      <a:lnTo>
                        <a:pt x="0" y="865248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2" name="Rounded Rectangle 33">
                  <a:extLst>
                    <a:ext uri="{FF2B5EF4-FFF2-40B4-BE49-F238E27FC236}">
                      <a16:creationId xmlns:a16="http://schemas.microsoft.com/office/drawing/2014/main" id="{BBF8833A-BA00-F0AC-6AD7-F7FF45404B1C}"/>
                    </a:ext>
                  </a:extLst>
                </p:cNvPr>
                <p:cNvSpPr/>
                <p:nvPr/>
              </p:nvSpPr>
              <p:spPr>
                <a:xfrm>
                  <a:off x="1342245" y="4070966"/>
                  <a:ext cx="402950" cy="11055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02950" h="1105510">
                      <a:moveTo>
                        <a:pt x="234975" y="0"/>
                      </a:moveTo>
                      <a:cubicBezTo>
                        <a:pt x="273991" y="14455"/>
                        <a:pt x="317247" y="19055"/>
                        <a:pt x="361182" y="11309"/>
                      </a:cubicBezTo>
                      <a:lnTo>
                        <a:pt x="401796" y="4150"/>
                      </a:lnTo>
                      <a:lnTo>
                        <a:pt x="402437" y="4577"/>
                      </a:lnTo>
                      <a:cubicBezTo>
                        <a:pt x="379746" y="12116"/>
                        <a:pt x="365377" y="35118"/>
                        <a:pt x="369605" y="59094"/>
                      </a:cubicBezTo>
                      <a:cubicBezTo>
                        <a:pt x="372845" y="77468"/>
                        <a:pt x="386152" y="91570"/>
                        <a:pt x="402950" y="96851"/>
                      </a:cubicBezTo>
                      <a:lnTo>
                        <a:pt x="323462" y="96858"/>
                      </a:lnTo>
                      <a:cubicBezTo>
                        <a:pt x="296665" y="96858"/>
                        <a:pt x="274942" y="118580"/>
                        <a:pt x="274942" y="145377"/>
                      </a:cubicBezTo>
                      <a:lnTo>
                        <a:pt x="274942" y="1083402"/>
                      </a:lnTo>
                      <a:lnTo>
                        <a:pt x="265467" y="1092878"/>
                      </a:lnTo>
                      <a:cubicBezTo>
                        <a:pt x="252835" y="1105510"/>
                        <a:pt x="232355" y="1105510"/>
                        <a:pt x="219723" y="1092878"/>
                      </a:cubicBezTo>
                      <a:lnTo>
                        <a:pt x="210253" y="1083408"/>
                      </a:lnTo>
                      <a:lnTo>
                        <a:pt x="210253" y="169640"/>
                      </a:lnTo>
                      <a:cubicBezTo>
                        <a:pt x="210253" y="142844"/>
                        <a:pt x="188530" y="121121"/>
                        <a:pt x="161733" y="121121"/>
                      </a:cubicBezTo>
                      <a:cubicBezTo>
                        <a:pt x="134937" y="121121"/>
                        <a:pt x="113214" y="142844"/>
                        <a:pt x="113214" y="169640"/>
                      </a:cubicBezTo>
                      <a:lnTo>
                        <a:pt x="113214" y="986369"/>
                      </a:lnTo>
                      <a:lnTo>
                        <a:pt x="62729" y="935885"/>
                      </a:lnTo>
                      <a:cubicBezTo>
                        <a:pt x="53630" y="926785"/>
                        <a:pt x="48518" y="914445"/>
                        <a:pt x="48518" y="901577"/>
                      </a:cubicBezTo>
                      <a:lnTo>
                        <a:pt x="48518" y="96845"/>
                      </a:lnTo>
                      <a:cubicBezTo>
                        <a:pt x="21669" y="96539"/>
                        <a:pt x="0" y="74935"/>
                        <a:pt x="0" y="48329"/>
                      </a:cubicBezTo>
                      <a:cubicBezTo>
                        <a:pt x="0" y="23555"/>
                        <a:pt x="18789" y="3117"/>
                        <a:pt x="43052" y="173"/>
                      </a:cubicBezTo>
                      <a:lnTo>
                        <a:pt x="234975" y="0"/>
                      </a:lnTo>
                      <a:close/>
                      <a:moveTo>
                        <a:pt x="274942" y="1083402"/>
                      </a:moveTo>
                      <a:lnTo>
                        <a:pt x="274942" y="1083414"/>
                      </a:lnTo>
                      <a:moveTo>
                        <a:pt x="210253" y="1083408"/>
                      </a:moveTo>
                      <a:lnTo>
                        <a:pt x="210253" y="1083418"/>
                      </a:lnTo>
                      <a:moveTo>
                        <a:pt x="113214" y="986369"/>
                      </a:moveTo>
                      <a:lnTo>
                        <a:pt x="113214" y="986380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3" name="Rounded Rectangle 34">
                  <a:extLst>
                    <a:ext uri="{FF2B5EF4-FFF2-40B4-BE49-F238E27FC236}">
                      <a16:creationId xmlns:a16="http://schemas.microsoft.com/office/drawing/2014/main" id="{8CF20CFF-C843-247E-45ED-54BA834B0279}"/>
                    </a:ext>
                  </a:extLst>
                </p:cNvPr>
                <p:cNvSpPr/>
                <p:nvPr/>
              </p:nvSpPr>
              <p:spPr>
                <a:xfrm>
                  <a:off x="1230046" y="3327830"/>
                  <a:ext cx="425265" cy="63431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5265" h="634310">
                      <a:moveTo>
                        <a:pt x="425265" y="6998"/>
                      </a:moveTo>
                      <a:cubicBezTo>
                        <a:pt x="356620" y="71984"/>
                        <a:pt x="320894" y="169107"/>
                        <a:pt x="338537" y="269165"/>
                      </a:cubicBezTo>
                      <a:lnTo>
                        <a:pt x="342188" y="289872"/>
                      </a:lnTo>
                      <a:cubicBezTo>
                        <a:pt x="238699" y="330584"/>
                        <a:pt x="174026" y="438641"/>
                        <a:pt x="191443" y="552240"/>
                      </a:cubicBezTo>
                      <a:cubicBezTo>
                        <a:pt x="173451" y="559338"/>
                        <a:pt x="160719" y="576878"/>
                        <a:pt x="160719" y="597392"/>
                      </a:cubicBezTo>
                      <a:cubicBezTo>
                        <a:pt x="160719" y="620795"/>
                        <a:pt x="135006" y="634310"/>
                        <a:pt x="117607" y="618660"/>
                      </a:cubicBezTo>
                      <a:cubicBezTo>
                        <a:pt x="45404" y="553713"/>
                        <a:pt x="0" y="459557"/>
                        <a:pt x="0" y="354796"/>
                      </a:cubicBezTo>
                      <a:cubicBezTo>
                        <a:pt x="0" y="158847"/>
                        <a:pt x="158847" y="0"/>
                        <a:pt x="354796" y="0"/>
                      </a:cubicBezTo>
                      <a:cubicBezTo>
                        <a:pt x="378924" y="0"/>
                        <a:pt x="402490" y="2408"/>
                        <a:pt x="425265" y="6998"/>
                      </a:cubicBez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4" name="Rounded Rectangle 35">
                  <a:extLst>
                    <a:ext uri="{FF2B5EF4-FFF2-40B4-BE49-F238E27FC236}">
                      <a16:creationId xmlns:a16="http://schemas.microsoft.com/office/drawing/2014/main" id="{37E2E6B8-F4B0-9F7C-3A63-34907DD26335}"/>
                    </a:ext>
                  </a:extLst>
                </p:cNvPr>
                <p:cNvSpPr/>
                <p:nvPr/>
              </p:nvSpPr>
              <p:spPr>
                <a:xfrm>
                  <a:off x="1069980" y="4133298"/>
                  <a:ext cx="282780" cy="96779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82780" h="967796">
                      <a:moveTo>
                        <a:pt x="282647" y="15859"/>
                      </a:moveTo>
                      <a:cubicBezTo>
                        <a:pt x="282692" y="15915"/>
                        <a:pt x="282735" y="15970"/>
                        <a:pt x="282780" y="16026"/>
                      </a:cubicBezTo>
                      <a:lnTo>
                        <a:pt x="258692" y="152635"/>
                      </a:lnTo>
                      <a:cubicBezTo>
                        <a:pt x="257948" y="156860"/>
                        <a:pt x="255555" y="160615"/>
                        <a:pt x="252041" y="163075"/>
                      </a:cubicBezTo>
                      <a:lnTo>
                        <a:pt x="201322" y="198590"/>
                      </a:lnTo>
                      <a:lnTo>
                        <a:pt x="231402" y="241549"/>
                      </a:lnTo>
                      <a:cubicBezTo>
                        <a:pt x="236525" y="248866"/>
                        <a:pt x="234747" y="258950"/>
                        <a:pt x="227430" y="264073"/>
                      </a:cubicBezTo>
                      <a:lnTo>
                        <a:pt x="184471" y="294154"/>
                      </a:lnTo>
                      <a:lnTo>
                        <a:pt x="219985" y="344874"/>
                      </a:lnTo>
                      <a:cubicBezTo>
                        <a:pt x="222445" y="348387"/>
                        <a:pt x="223409" y="352735"/>
                        <a:pt x="222665" y="356958"/>
                      </a:cubicBezTo>
                      <a:lnTo>
                        <a:pt x="216566" y="391546"/>
                      </a:lnTo>
                      <a:cubicBezTo>
                        <a:pt x="215821" y="395770"/>
                        <a:pt x="213429" y="399525"/>
                        <a:pt x="209915" y="401986"/>
                      </a:cubicBezTo>
                      <a:lnTo>
                        <a:pt x="159195" y="437500"/>
                      </a:lnTo>
                      <a:lnTo>
                        <a:pt x="194709" y="488220"/>
                      </a:lnTo>
                      <a:cubicBezTo>
                        <a:pt x="197170" y="491733"/>
                        <a:pt x="198133" y="496081"/>
                        <a:pt x="197388" y="500305"/>
                      </a:cubicBezTo>
                      <a:lnTo>
                        <a:pt x="191290" y="534892"/>
                      </a:lnTo>
                      <a:cubicBezTo>
                        <a:pt x="190546" y="539116"/>
                        <a:pt x="188153" y="542872"/>
                        <a:pt x="184639" y="545332"/>
                      </a:cubicBezTo>
                      <a:lnTo>
                        <a:pt x="133920" y="580846"/>
                      </a:lnTo>
                      <a:lnTo>
                        <a:pt x="182553" y="650302"/>
                      </a:lnTo>
                      <a:cubicBezTo>
                        <a:pt x="185013" y="653816"/>
                        <a:pt x="185977" y="658162"/>
                        <a:pt x="185232" y="662387"/>
                      </a:cubicBezTo>
                      <a:lnTo>
                        <a:pt x="176325" y="712902"/>
                      </a:lnTo>
                      <a:cubicBezTo>
                        <a:pt x="175580" y="717126"/>
                        <a:pt x="173188" y="720881"/>
                        <a:pt x="169674" y="723341"/>
                      </a:cubicBezTo>
                      <a:lnTo>
                        <a:pt x="100218" y="771974"/>
                      </a:lnTo>
                      <a:lnTo>
                        <a:pt x="149977" y="843037"/>
                      </a:lnTo>
                      <a:cubicBezTo>
                        <a:pt x="155100" y="850354"/>
                        <a:pt x="153323" y="860439"/>
                        <a:pt x="146005" y="865562"/>
                      </a:cubicBezTo>
                      <a:lnTo>
                        <a:pt x="0" y="967796"/>
                      </a:lnTo>
                      <a:lnTo>
                        <a:pt x="162888" y="44010"/>
                      </a:lnTo>
                      <a:cubicBezTo>
                        <a:pt x="167541" y="17620"/>
                        <a:pt x="192706" y="0"/>
                        <a:pt x="219095" y="4653"/>
                      </a:cubicBezTo>
                      <a:lnTo>
                        <a:pt x="282647" y="15859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5" name="Rounded Rectangle 36">
                  <a:extLst>
                    <a:ext uri="{FF2B5EF4-FFF2-40B4-BE49-F238E27FC236}">
                      <a16:creationId xmlns:a16="http://schemas.microsoft.com/office/drawing/2014/main" id="{F7AF0527-E3EE-4147-3825-E56EB9C8AFBD}"/>
                    </a:ext>
                  </a:extLst>
                </p:cNvPr>
                <p:cNvSpPr/>
                <p:nvPr/>
              </p:nvSpPr>
              <p:spPr>
                <a:xfrm>
                  <a:off x="927566" y="4129096"/>
                  <a:ext cx="242042" cy="9607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042" h="960756">
                      <a:moveTo>
                        <a:pt x="198032" y="4653"/>
                      </a:moveTo>
                      <a:cubicBezTo>
                        <a:pt x="171643" y="0"/>
                        <a:pt x="146478" y="17620"/>
                        <a:pt x="141825" y="44010"/>
                      </a:cubicBezTo>
                      <a:lnTo>
                        <a:pt x="0" y="848341"/>
                      </a:lnTo>
                      <a:lnTo>
                        <a:pt x="78713" y="960756"/>
                      </a:lnTo>
                      <a:lnTo>
                        <a:pt x="237389" y="60860"/>
                      </a:lnTo>
                      <a:cubicBezTo>
                        <a:pt x="242042" y="34471"/>
                        <a:pt x="224422" y="9306"/>
                        <a:pt x="198032" y="4653"/>
                      </a:cubicBezTo>
                      <a:close/>
                      <a:moveTo>
                        <a:pt x="237389" y="60860"/>
                      </a:moveTo>
                      <a:lnTo>
                        <a:pt x="78713" y="960756"/>
                      </a:lnTo>
                      <a:lnTo>
                        <a:pt x="0" y="848341"/>
                      </a:lnTo>
                      <a:lnTo>
                        <a:pt x="141825" y="44010"/>
                      </a:lnTo>
                      <a:cubicBezTo>
                        <a:pt x="146478" y="17620"/>
                        <a:pt x="171643" y="0"/>
                        <a:pt x="198032" y="4653"/>
                      </a:cubicBezTo>
                      <a:cubicBezTo>
                        <a:pt x="224422" y="9306"/>
                        <a:pt x="242042" y="34471"/>
                        <a:pt x="237389" y="60860"/>
                      </a:cubicBezTo>
                      <a:close/>
                      <a:moveTo>
                        <a:pt x="78713" y="960756"/>
                      </a:moveTo>
                      <a:lnTo>
                        <a:pt x="237389" y="60860"/>
                      </a:lnTo>
                      <a:cubicBezTo>
                        <a:pt x="242042" y="34471"/>
                        <a:pt x="224422" y="9306"/>
                        <a:pt x="198032" y="4653"/>
                      </a:cubicBezTo>
                      <a:cubicBezTo>
                        <a:pt x="171643" y="0"/>
                        <a:pt x="146478" y="17620"/>
                        <a:pt x="141825" y="44010"/>
                      </a:cubicBezTo>
                      <a:lnTo>
                        <a:pt x="0" y="848341"/>
                      </a:lnTo>
                      <a:lnTo>
                        <a:pt x="78713" y="960756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6" name="Rounded Rectangle 37">
                  <a:extLst>
                    <a:ext uri="{FF2B5EF4-FFF2-40B4-BE49-F238E27FC236}">
                      <a16:creationId xmlns:a16="http://schemas.microsoft.com/office/drawing/2014/main" id="{6D24070A-4660-3459-D35E-FA9839C8A67E}"/>
                    </a:ext>
                  </a:extLst>
                </p:cNvPr>
                <p:cNvSpPr/>
                <p:nvPr/>
              </p:nvSpPr>
              <p:spPr>
                <a:xfrm>
                  <a:off x="876333" y="3995692"/>
                  <a:ext cx="508956" cy="11233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8956" h="1123328">
                      <a:moveTo>
                        <a:pt x="476629" y="57025"/>
                      </a:moveTo>
                      <a:lnTo>
                        <a:pt x="137830" y="0"/>
                      </a:lnTo>
                      <a:cubicBezTo>
                        <a:pt x="120157" y="4796"/>
                        <a:pt x="105976" y="19254"/>
                        <a:pt x="102617" y="38304"/>
                      </a:cubicBezTo>
                      <a:cubicBezTo>
                        <a:pt x="97997" y="64506"/>
                        <a:pt x="115586" y="89544"/>
                        <a:pt x="141974" y="94508"/>
                      </a:cubicBezTo>
                      <a:lnTo>
                        <a:pt x="2234" y="887013"/>
                      </a:lnTo>
                      <a:cubicBezTo>
                        <a:pt x="0" y="899687"/>
                        <a:pt x="2890" y="912728"/>
                        <a:pt x="10271" y="923269"/>
                      </a:cubicBezTo>
                      <a:lnTo>
                        <a:pt x="51233" y="981756"/>
                      </a:lnTo>
                      <a:lnTo>
                        <a:pt x="193058" y="177424"/>
                      </a:lnTo>
                      <a:cubicBezTo>
                        <a:pt x="197711" y="151036"/>
                        <a:pt x="222876" y="133415"/>
                        <a:pt x="249265" y="138068"/>
                      </a:cubicBezTo>
                      <a:cubicBezTo>
                        <a:pt x="275655" y="142721"/>
                        <a:pt x="293275" y="167886"/>
                        <a:pt x="288622" y="194275"/>
                      </a:cubicBezTo>
                      <a:lnTo>
                        <a:pt x="129946" y="1094171"/>
                      </a:lnTo>
                      <a:lnTo>
                        <a:pt x="137619" y="1105138"/>
                      </a:lnTo>
                      <a:cubicBezTo>
                        <a:pt x="147865" y="1119771"/>
                        <a:pt x="168034" y="1123328"/>
                        <a:pt x="182668" y="1113081"/>
                      </a:cubicBezTo>
                      <a:lnTo>
                        <a:pt x="193654" y="1105395"/>
                      </a:lnTo>
                      <a:lnTo>
                        <a:pt x="356543" y="181608"/>
                      </a:lnTo>
                      <a:cubicBezTo>
                        <a:pt x="361196" y="155219"/>
                        <a:pt x="386361" y="137598"/>
                        <a:pt x="412751" y="142251"/>
                      </a:cubicBezTo>
                      <a:lnTo>
                        <a:pt x="476296" y="153458"/>
                      </a:lnTo>
                      <a:cubicBezTo>
                        <a:pt x="469784" y="145226"/>
                        <a:pt x="465903" y="134863"/>
                        <a:pt x="465903" y="123603"/>
                      </a:cubicBezTo>
                      <a:cubicBezTo>
                        <a:pt x="465903" y="98829"/>
                        <a:pt x="484692" y="78391"/>
                        <a:pt x="508956" y="75448"/>
                      </a:cubicBezTo>
                      <a:cubicBezTo>
                        <a:pt x="497898" y="69756"/>
                        <a:pt x="487114" y="63607"/>
                        <a:pt x="476629" y="57025"/>
                      </a:cubicBezTo>
                      <a:close/>
                      <a:moveTo>
                        <a:pt x="476296" y="153458"/>
                      </a:moveTo>
                      <a:lnTo>
                        <a:pt x="428666" y="145062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7" name="Rounded Rectangle 38">
                  <a:extLst>
                    <a:ext uri="{FF2B5EF4-FFF2-40B4-BE49-F238E27FC236}">
                      <a16:creationId xmlns:a16="http://schemas.microsoft.com/office/drawing/2014/main" id="{E5BA8FA1-47F0-F5D5-F137-55E4FCF51F0D}"/>
                    </a:ext>
                  </a:extLst>
                </p:cNvPr>
                <p:cNvSpPr/>
                <p:nvPr/>
              </p:nvSpPr>
              <p:spPr>
                <a:xfrm>
                  <a:off x="927191" y="3264549"/>
                  <a:ext cx="448407" cy="60409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48407" h="604092">
                      <a:moveTo>
                        <a:pt x="448407" y="34685"/>
                      </a:moveTo>
                      <a:cubicBezTo>
                        <a:pt x="312879" y="108807"/>
                        <a:pt x="220962" y="252701"/>
                        <a:pt x="220962" y="418063"/>
                      </a:cubicBezTo>
                      <a:cubicBezTo>
                        <a:pt x="220962" y="466607"/>
                        <a:pt x="228884" y="513301"/>
                        <a:pt x="243504" y="556922"/>
                      </a:cubicBezTo>
                      <a:lnTo>
                        <a:pt x="189458" y="547393"/>
                      </a:lnTo>
                      <a:cubicBezTo>
                        <a:pt x="163068" y="542740"/>
                        <a:pt x="137904" y="560360"/>
                        <a:pt x="133250" y="586749"/>
                      </a:cubicBezTo>
                      <a:cubicBezTo>
                        <a:pt x="130519" y="602245"/>
                        <a:pt x="109020" y="604092"/>
                        <a:pt x="103685" y="589289"/>
                      </a:cubicBezTo>
                      <a:lnTo>
                        <a:pt x="5840" y="317811"/>
                      </a:lnTo>
                      <a:cubicBezTo>
                        <a:pt x="0" y="301606"/>
                        <a:pt x="3188" y="283520"/>
                        <a:pt x="14219" y="270289"/>
                      </a:cubicBezTo>
                      <a:lnTo>
                        <a:pt x="223125" y="19731"/>
                      </a:lnTo>
                      <a:cubicBezTo>
                        <a:pt x="234261" y="6375"/>
                        <a:pt x="251692" y="0"/>
                        <a:pt x="268817" y="3019"/>
                      </a:cubicBezTo>
                      <a:lnTo>
                        <a:pt x="448407" y="34685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8" name="Rounded Rectangle 39">
                  <a:extLst>
                    <a:ext uri="{FF2B5EF4-FFF2-40B4-BE49-F238E27FC236}">
                      <a16:creationId xmlns:a16="http://schemas.microsoft.com/office/drawing/2014/main" id="{B194053E-50C5-A7EE-4C96-6E8C957227F5}"/>
                    </a:ext>
                  </a:extLst>
                </p:cNvPr>
                <p:cNvSpPr/>
                <p:nvPr/>
              </p:nvSpPr>
              <p:spPr>
                <a:xfrm>
                  <a:off x="386678" y="3828520"/>
                  <a:ext cx="627476" cy="11177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27476" h="1117780">
                      <a:moveTo>
                        <a:pt x="578060" y="105422"/>
                      </a:moveTo>
                      <a:lnTo>
                        <a:pt x="312792" y="8874"/>
                      </a:lnTo>
                      <a:cubicBezTo>
                        <a:pt x="287466" y="0"/>
                        <a:pt x="259732" y="12889"/>
                        <a:pt x="250636" y="37881"/>
                      </a:cubicBezTo>
                      <a:cubicBezTo>
                        <a:pt x="241536" y="62882"/>
                        <a:pt x="254510" y="90595"/>
                        <a:pt x="279635" y="100065"/>
                      </a:cubicBezTo>
                      <a:lnTo>
                        <a:pt x="4400" y="856266"/>
                      </a:lnTo>
                      <a:cubicBezTo>
                        <a:pt x="0" y="868358"/>
                        <a:pt x="582" y="881703"/>
                        <a:pt x="6021" y="893365"/>
                      </a:cubicBezTo>
                      <a:lnTo>
                        <a:pt x="36186" y="958055"/>
                      </a:lnTo>
                      <a:lnTo>
                        <a:pt x="315523" y="190583"/>
                      </a:lnTo>
                      <a:cubicBezTo>
                        <a:pt x="324688" y="165402"/>
                        <a:pt x="352530" y="152419"/>
                        <a:pt x="377711" y="161584"/>
                      </a:cubicBezTo>
                      <a:cubicBezTo>
                        <a:pt x="402891" y="170749"/>
                        <a:pt x="415874" y="198591"/>
                        <a:pt x="406709" y="223772"/>
                      </a:cubicBezTo>
                      <a:lnTo>
                        <a:pt x="94183" y="1082430"/>
                      </a:lnTo>
                      <a:lnTo>
                        <a:pt x="99851" y="1094586"/>
                      </a:lnTo>
                      <a:cubicBezTo>
                        <a:pt x="107402" y="1110776"/>
                        <a:pt x="126647" y="1117780"/>
                        <a:pt x="142837" y="1110231"/>
                      </a:cubicBezTo>
                      <a:lnTo>
                        <a:pt x="154965" y="1104574"/>
                      </a:lnTo>
                      <a:lnTo>
                        <a:pt x="475792" y="223107"/>
                      </a:lnTo>
                      <a:cubicBezTo>
                        <a:pt x="484958" y="197927"/>
                        <a:pt x="512800" y="184943"/>
                        <a:pt x="537980" y="194109"/>
                      </a:cubicBezTo>
                      <a:lnTo>
                        <a:pt x="553189" y="199645"/>
                      </a:lnTo>
                      <a:lnTo>
                        <a:pt x="553202" y="199639"/>
                      </a:lnTo>
                      <a:lnTo>
                        <a:pt x="591545" y="213595"/>
                      </a:lnTo>
                      <a:cubicBezTo>
                        <a:pt x="591562" y="210929"/>
                        <a:pt x="591803" y="208229"/>
                        <a:pt x="592281" y="205517"/>
                      </a:cubicBezTo>
                      <a:cubicBezTo>
                        <a:pt x="595639" y="186473"/>
                        <a:pt x="609811" y="172019"/>
                        <a:pt x="627476" y="167218"/>
                      </a:cubicBezTo>
                      <a:cubicBezTo>
                        <a:pt x="606129" y="156049"/>
                        <a:pt x="589350" y="137135"/>
                        <a:pt x="581032" y="113770"/>
                      </a:cubicBezTo>
                      <a:close/>
                      <a:moveTo>
                        <a:pt x="36186" y="958055"/>
                      </a:moveTo>
                      <a:lnTo>
                        <a:pt x="36182" y="958067"/>
                      </a:lnTo>
                      <a:moveTo>
                        <a:pt x="94183" y="1082430"/>
                      </a:moveTo>
                      <a:lnTo>
                        <a:pt x="94179" y="1082442"/>
                      </a:lnTo>
                      <a:moveTo>
                        <a:pt x="591545" y="213604"/>
                      </a:moveTo>
                      <a:lnTo>
                        <a:pt x="537980" y="194109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59" name="Rounded Rectangle 40">
                  <a:extLst>
                    <a:ext uri="{FF2B5EF4-FFF2-40B4-BE49-F238E27FC236}">
                      <a16:creationId xmlns:a16="http://schemas.microsoft.com/office/drawing/2014/main" id="{FAE4A673-80A7-49BD-6B19-62355FB6254C}"/>
                    </a:ext>
                  </a:extLst>
                </p:cNvPr>
                <p:cNvSpPr/>
                <p:nvPr/>
              </p:nvSpPr>
              <p:spPr>
                <a:xfrm>
                  <a:off x="422860" y="3980937"/>
                  <a:ext cx="379692" cy="9300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9692" h="930022">
                      <a:moveTo>
                        <a:pt x="341528" y="9165"/>
                      </a:moveTo>
                      <a:cubicBezTo>
                        <a:pt x="316348" y="0"/>
                        <a:pt x="288506" y="12982"/>
                        <a:pt x="279341" y="38163"/>
                      </a:cubicBezTo>
                      <a:lnTo>
                        <a:pt x="4" y="805635"/>
                      </a:lnTo>
                      <a:lnTo>
                        <a:pt x="0" y="805648"/>
                      </a:lnTo>
                      <a:lnTo>
                        <a:pt x="57997" y="930022"/>
                      </a:lnTo>
                      <a:lnTo>
                        <a:pt x="58001" y="930011"/>
                      </a:lnTo>
                      <a:lnTo>
                        <a:pt x="370527" y="71353"/>
                      </a:lnTo>
                      <a:cubicBezTo>
                        <a:pt x="379692" y="46172"/>
                        <a:pt x="366709" y="18329"/>
                        <a:pt x="341528" y="9165"/>
                      </a:cubicBezTo>
                      <a:close/>
                      <a:moveTo>
                        <a:pt x="58001" y="930011"/>
                      </a:moveTo>
                      <a:lnTo>
                        <a:pt x="4" y="805635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0" name="Rounded Rectangle 41">
                  <a:extLst>
                    <a:ext uri="{FF2B5EF4-FFF2-40B4-BE49-F238E27FC236}">
                      <a16:creationId xmlns:a16="http://schemas.microsoft.com/office/drawing/2014/main" id="{B0335675-00EF-50F2-B5AA-00575C77C66E}"/>
                    </a:ext>
                  </a:extLst>
                </p:cNvPr>
                <p:cNvSpPr/>
                <p:nvPr/>
              </p:nvSpPr>
              <p:spPr>
                <a:xfrm>
                  <a:off x="541647" y="4013473"/>
                  <a:ext cx="443805" cy="9196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43805" h="919630">
                      <a:moveTo>
                        <a:pt x="383015" y="9165"/>
                      </a:moveTo>
                      <a:cubicBezTo>
                        <a:pt x="357834" y="0"/>
                        <a:pt x="329992" y="12982"/>
                        <a:pt x="320827" y="38163"/>
                      </a:cubicBezTo>
                      <a:lnTo>
                        <a:pt x="0" y="919630"/>
                      </a:lnTo>
                      <a:lnTo>
                        <a:pt x="159762" y="845132"/>
                      </a:lnTo>
                      <a:cubicBezTo>
                        <a:pt x="163649" y="843319"/>
                        <a:pt x="166657" y="840036"/>
                        <a:pt x="168124" y="836005"/>
                      </a:cubicBezTo>
                      <a:lnTo>
                        <a:pt x="185668" y="787805"/>
                      </a:lnTo>
                      <a:cubicBezTo>
                        <a:pt x="187135" y="783774"/>
                        <a:pt x="186941" y="779326"/>
                        <a:pt x="185128" y="775438"/>
                      </a:cubicBezTo>
                      <a:lnTo>
                        <a:pt x="149295" y="698593"/>
                      </a:lnTo>
                      <a:lnTo>
                        <a:pt x="205411" y="672425"/>
                      </a:lnTo>
                      <a:cubicBezTo>
                        <a:pt x="209298" y="670613"/>
                        <a:pt x="212307" y="667330"/>
                        <a:pt x="213773" y="663299"/>
                      </a:cubicBezTo>
                      <a:lnTo>
                        <a:pt x="225785" y="630296"/>
                      </a:lnTo>
                      <a:cubicBezTo>
                        <a:pt x="227253" y="626266"/>
                        <a:pt x="227058" y="621817"/>
                        <a:pt x="225246" y="617929"/>
                      </a:cubicBezTo>
                      <a:lnTo>
                        <a:pt x="199078" y="561814"/>
                      </a:lnTo>
                      <a:lnTo>
                        <a:pt x="246608" y="539650"/>
                      </a:lnTo>
                      <a:cubicBezTo>
                        <a:pt x="254703" y="535875"/>
                        <a:pt x="258206" y="526252"/>
                        <a:pt x="254431" y="518157"/>
                      </a:cubicBezTo>
                      <a:lnTo>
                        <a:pt x="232267" y="470627"/>
                      </a:lnTo>
                      <a:lnTo>
                        <a:pt x="310891" y="433965"/>
                      </a:lnTo>
                      <a:cubicBezTo>
                        <a:pt x="318986" y="430189"/>
                        <a:pt x="322489" y="420567"/>
                        <a:pt x="318714" y="412472"/>
                      </a:cubicBezTo>
                      <a:lnTo>
                        <a:pt x="282051" y="333848"/>
                      </a:lnTo>
                      <a:lnTo>
                        <a:pt x="329581" y="311684"/>
                      </a:lnTo>
                      <a:cubicBezTo>
                        <a:pt x="337676" y="307910"/>
                        <a:pt x="341178" y="298287"/>
                        <a:pt x="337404" y="290192"/>
                      </a:cubicBezTo>
                      <a:lnTo>
                        <a:pt x="315240" y="242662"/>
                      </a:lnTo>
                      <a:lnTo>
                        <a:pt x="371356" y="216495"/>
                      </a:lnTo>
                      <a:cubicBezTo>
                        <a:pt x="375244" y="214682"/>
                        <a:pt x="378252" y="211398"/>
                        <a:pt x="379719" y="207368"/>
                      </a:cubicBezTo>
                      <a:lnTo>
                        <a:pt x="391730" y="174365"/>
                      </a:lnTo>
                      <a:cubicBezTo>
                        <a:pt x="393198" y="170334"/>
                        <a:pt x="393003" y="165886"/>
                        <a:pt x="391191" y="161999"/>
                      </a:cubicBezTo>
                      <a:lnTo>
                        <a:pt x="365023" y="105882"/>
                      </a:lnTo>
                      <a:lnTo>
                        <a:pt x="421140" y="79715"/>
                      </a:lnTo>
                      <a:cubicBezTo>
                        <a:pt x="425028" y="77902"/>
                        <a:pt x="428035" y="74620"/>
                        <a:pt x="429503" y="70588"/>
                      </a:cubicBezTo>
                      <a:lnTo>
                        <a:pt x="443805" y="31290"/>
                      </a:lnTo>
                      <a:lnTo>
                        <a:pt x="383015" y="9165"/>
                      </a:lnTo>
                      <a:close/>
                      <a:moveTo>
                        <a:pt x="398237" y="14695"/>
                      </a:moveTo>
                      <a:lnTo>
                        <a:pt x="398224" y="14702"/>
                      </a:lnTo>
                      <a:lnTo>
                        <a:pt x="383015" y="9165"/>
                      </a:lnTo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761" name="Rounded Rectangle 42">
                  <a:extLst>
                    <a:ext uri="{FF2B5EF4-FFF2-40B4-BE49-F238E27FC236}">
                      <a16:creationId xmlns:a16="http://schemas.microsoft.com/office/drawing/2014/main" id="{8B19263C-202B-2FFD-04A5-35DEDB72A679}"/>
                    </a:ext>
                  </a:extLst>
                </p:cNvPr>
                <p:cNvSpPr/>
                <p:nvPr/>
              </p:nvSpPr>
              <p:spPr>
                <a:xfrm>
                  <a:off x="618670" y="3219700"/>
                  <a:ext cx="475830" cy="6081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5830" h="608103">
                      <a:moveTo>
                        <a:pt x="242489" y="282114"/>
                      </a:moveTo>
                      <a:cubicBezTo>
                        <a:pt x="220706" y="308451"/>
                        <a:pt x="214382" y="344301"/>
                        <a:pt x="225844" y="376500"/>
                      </a:cubicBezTo>
                      <a:lnTo>
                        <a:pt x="308291" y="608103"/>
                      </a:lnTo>
                      <a:lnTo>
                        <a:pt x="174711" y="559484"/>
                      </a:lnTo>
                      <a:cubicBezTo>
                        <a:pt x="150527" y="550682"/>
                        <a:pt x="130854" y="532641"/>
                        <a:pt x="119977" y="509317"/>
                      </a:cubicBezTo>
                      <a:lnTo>
                        <a:pt x="15099" y="284404"/>
                      </a:lnTo>
                      <a:cubicBezTo>
                        <a:pt x="0" y="252024"/>
                        <a:pt x="14009" y="213533"/>
                        <a:pt x="46390" y="198433"/>
                      </a:cubicBezTo>
                      <a:lnTo>
                        <a:pt x="461930" y="4664"/>
                      </a:lnTo>
                      <a:cubicBezTo>
                        <a:pt x="466470" y="2547"/>
                        <a:pt x="471130" y="1001"/>
                        <a:pt x="475830" y="0"/>
                      </a:cubicBezTo>
                      <a:lnTo>
                        <a:pt x="242489" y="282114"/>
                      </a:lnTo>
                      <a:close/>
                    </a:path>
                  </a:pathLst>
                </a:custGeom>
                <a:noFill/>
                <a:ln w="12129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7729" name="Rounded Rectangle 44">
                <a:extLst>
                  <a:ext uri="{FF2B5EF4-FFF2-40B4-BE49-F238E27FC236}">
                    <a16:creationId xmlns:a16="http://schemas.microsoft.com/office/drawing/2014/main" id="{9A442765-5C53-1018-C0D9-C76AE48B48C2}"/>
                  </a:ext>
                </a:extLst>
              </p:cNvPr>
              <p:cNvSpPr/>
              <p:nvPr/>
            </p:nvSpPr>
            <p:spPr>
              <a:xfrm>
                <a:off x="2009910" y="3558683"/>
                <a:ext cx="716943" cy="832484"/>
              </a:xfrm>
              <a:custGeom>
                <a:avLst/>
                <a:gdLst/>
                <a:ahLst/>
                <a:cxnLst/>
                <a:rect l="0" t="0" r="0" b="0"/>
                <a:pathLst>
                  <a:path w="716943" h="832484">
                    <a:moveTo>
                      <a:pt x="412105" y="726324"/>
                    </a:moveTo>
                    <a:lnTo>
                      <a:pt x="278532" y="677707"/>
                    </a:lnTo>
                    <a:cubicBezTo>
                      <a:pt x="254345" y="668909"/>
                      <a:pt x="234679" y="650868"/>
                      <a:pt x="223802" y="627539"/>
                    </a:cubicBezTo>
                    <a:lnTo>
                      <a:pt x="118920" y="402628"/>
                    </a:lnTo>
                    <a:cubicBezTo>
                      <a:pt x="103822" y="370249"/>
                      <a:pt x="117828" y="331758"/>
                      <a:pt x="150215" y="316660"/>
                    </a:cubicBezTo>
                    <a:lnTo>
                      <a:pt x="565749" y="122891"/>
                    </a:lnTo>
                    <a:cubicBezTo>
                      <a:pt x="570294" y="120772"/>
                      <a:pt x="574960" y="119227"/>
                      <a:pt x="579658" y="118225"/>
                    </a:cubicBezTo>
                    <a:lnTo>
                      <a:pt x="580434" y="117287"/>
                    </a:lnTo>
                    <a:cubicBezTo>
                      <a:pt x="602689" y="90383"/>
                      <a:pt x="637679" y="77509"/>
                      <a:pt x="672063" y="83566"/>
                    </a:cubicBezTo>
                    <a:lnTo>
                      <a:pt x="716943" y="91482"/>
                    </a:lnTo>
                    <a:lnTo>
                      <a:pt x="706730" y="69584"/>
                    </a:lnTo>
                    <a:cubicBezTo>
                      <a:pt x="684080" y="21016"/>
                      <a:pt x="626350" y="0"/>
                      <a:pt x="577774" y="22650"/>
                    </a:cubicBezTo>
                    <a:lnTo>
                      <a:pt x="69584" y="259626"/>
                    </a:lnTo>
                    <a:cubicBezTo>
                      <a:pt x="21016" y="282268"/>
                      <a:pt x="0" y="340006"/>
                      <a:pt x="22650" y="388582"/>
                    </a:cubicBezTo>
                    <a:lnTo>
                      <a:pt x="184623" y="735938"/>
                    </a:lnTo>
                    <a:lnTo>
                      <a:pt x="449902" y="832484"/>
                    </a:lnTo>
                    <a:lnTo>
                      <a:pt x="412105" y="726324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0" name="Rounded Rectangle 45">
                <a:extLst>
                  <a:ext uri="{FF2B5EF4-FFF2-40B4-BE49-F238E27FC236}">
                    <a16:creationId xmlns:a16="http://schemas.microsoft.com/office/drawing/2014/main" id="{2E808830-A994-8235-BE1E-84D0EE1B7007}"/>
                  </a:ext>
                </a:extLst>
              </p:cNvPr>
              <p:cNvSpPr/>
              <p:nvPr/>
            </p:nvSpPr>
            <p:spPr>
              <a:xfrm>
                <a:off x="2009913" y="3558686"/>
                <a:ext cx="716938" cy="832483"/>
              </a:xfrm>
              <a:custGeom>
                <a:avLst/>
                <a:gdLst/>
                <a:ahLst/>
                <a:cxnLst/>
                <a:rect l="0" t="0" r="0" b="0"/>
                <a:pathLst>
                  <a:path w="716938" h="832483">
                    <a:moveTo>
                      <a:pt x="412106" y="726324"/>
                    </a:moveTo>
                    <a:lnTo>
                      <a:pt x="278527" y="677705"/>
                    </a:lnTo>
                    <a:cubicBezTo>
                      <a:pt x="254344" y="668903"/>
                      <a:pt x="234673" y="650863"/>
                      <a:pt x="223797" y="627539"/>
                    </a:cubicBezTo>
                    <a:lnTo>
                      <a:pt x="118918" y="402627"/>
                    </a:lnTo>
                    <a:cubicBezTo>
                      <a:pt x="103819" y="370245"/>
                      <a:pt x="117828" y="331755"/>
                      <a:pt x="150209" y="316656"/>
                    </a:cubicBezTo>
                    <a:lnTo>
                      <a:pt x="565749" y="122886"/>
                    </a:lnTo>
                    <a:cubicBezTo>
                      <a:pt x="570293" y="120767"/>
                      <a:pt x="574957" y="119222"/>
                      <a:pt x="579660" y="118220"/>
                    </a:cubicBezTo>
                    <a:lnTo>
                      <a:pt x="580434" y="117284"/>
                    </a:lnTo>
                    <a:cubicBezTo>
                      <a:pt x="602686" y="90380"/>
                      <a:pt x="637680" y="77505"/>
                      <a:pt x="672063" y="83567"/>
                    </a:cubicBezTo>
                    <a:lnTo>
                      <a:pt x="716938" y="91480"/>
                    </a:lnTo>
                    <a:lnTo>
                      <a:pt x="706728" y="69586"/>
                    </a:lnTo>
                    <a:cubicBezTo>
                      <a:pt x="684079" y="21014"/>
                      <a:pt x="626343" y="0"/>
                      <a:pt x="577772" y="22649"/>
                    </a:cubicBezTo>
                    <a:lnTo>
                      <a:pt x="69586" y="259620"/>
                    </a:lnTo>
                    <a:cubicBezTo>
                      <a:pt x="21014" y="282270"/>
                      <a:pt x="0" y="340005"/>
                      <a:pt x="22649" y="388577"/>
                    </a:cubicBezTo>
                    <a:lnTo>
                      <a:pt x="184625" y="735934"/>
                    </a:lnTo>
                    <a:lnTo>
                      <a:pt x="449897" y="832483"/>
                    </a:lnTo>
                    <a:lnTo>
                      <a:pt x="412106" y="726324"/>
                    </a:lnTo>
                    <a:close/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1" name="Rounded Rectangle 46">
                <a:extLst>
                  <a:ext uri="{FF2B5EF4-FFF2-40B4-BE49-F238E27FC236}">
                    <a16:creationId xmlns:a16="http://schemas.microsoft.com/office/drawing/2014/main" id="{8E72F7CC-DA50-82FC-C9DE-202C3DFCBC0B}"/>
                  </a:ext>
                </a:extLst>
              </p:cNvPr>
              <p:cNvSpPr/>
              <p:nvPr/>
            </p:nvSpPr>
            <p:spPr>
              <a:xfrm>
                <a:off x="2328124" y="3636185"/>
                <a:ext cx="710256" cy="873790"/>
              </a:xfrm>
              <a:custGeom>
                <a:avLst/>
                <a:gdLst/>
                <a:ahLst/>
                <a:cxnLst/>
                <a:rect l="0" t="0" r="0" b="0"/>
                <a:pathLst>
                  <a:path w="710256" h="873790">
                    <a:moveTo>
                      <a:pt x="710256" y="68921"/>
                    </a:moveTo>
                    <a:cubicBezTo>
                      <a:pt x="709665" y="68808"/>
                      <a:pt x="709075" y="68695"/>
                      <a:pt x="708477" y="68589"/>
                    </a:cubicBezTo>
                    <a:lnTo>
                      <a:pt x="353858" y="6064"/>
                    </a:lnTo>
                    <a:cubicBezTo>
                      <a:pt x="319474" y="0"/>
                      <a:pt x="284484" y="12873"/>
                      <a:pt x="262230" y="39777"/>
                    </a:cubicBezTo>
                    <a:lnTo>
                      <a:pt x="28100" y="322838"/>
                    </a:lnTo>
                    <a:cubicBezTo>
                      <a:pt x="6323" y="349176"/>
                      <a:pt x="0" y="385032"/>
                      <a:pt x="11458" y="417232"/>
                    </a:cubicBezTo>
                    <a:lnTo>
                      <a:pt x="134656" y="763295"/>
                    </a:lnTo>
                    <a:cubicBezTo>
                      <a:pt x="142977" y="786665"/>
                      <a:pt x="159757" y="805588"/>
                      <a:pt x="181114" y="816747"/>
                    </a:cubicBezTo>
                    <a:lnTo>
                      <a:pt x="519996" y="873790"/>
                    </a:lnTo>
                    <a:cubicBezTo>
                      <a:pt x="435225" y="820596"/>
                      <a:pt x="370023" y="739084"/>
                      <a:pt x="337653" y="642523"/>
                    </a:cubicBezTo>
                    <a:lnTo>
                      <a:pt x="283602" y="632997"/>
                    </a:lnTo>
                    <a:cubicBezTo>
                      <a:pt x="257216" y="628339"/>
                      <a:pt x="232051" y="645960"/>
                      <a:pt x="227393" y="672346"/>
                    </a:cubicBezTo>
                    <a:cubicBezTo>
                      <a:pt x="224659" y="687848"/>
                      <a:pt x="203165" y="689692"/>
                      <a:pt x="197828" y="674893"/>
                    </a:cubicBezTo>
                    <a:lnTo>
                      <a:pt x="99981" y="403412"/>
                    </a:lnTo>
                    <a:cubicBezTo>
                      <a:pt x="94143" y="387207"/>
                      <a:pt x="97329" y="369117"/>
                      <a:pt x="108359" y="355888"/>
                    </a:cubicBezTo>
                    <a:lnTo>
                      <a:pt x="317266" y="105335"/>
                    </a:lnTo>
                    <a:cubicBezTo>
                      <a:pt x="328402" y="91976"/>
                      <a:pt x="345836" y="85604"/>
                      <a:pt x="362963" y="88620"/>
                    </a:cubicBezTo>
                    <a:lnTo>
                      <a:pt x="542525" y="120279"/>
                    </a:lnTo>
                    <a:cubicBezTo>
                      <a:pt x="593179" y="92574"/>
                      <a:pt x="649930" y="74614"/>
                      <a:pt x="710256" y="68921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2" name="Rounded Rectangle 47">
                <a:extLst>
                  <a:ext uri="{FF2B5EF4-FFF2-40B4-BE49-F238E27FC236}">
                    <a16:creationId xmlns:a16="http://schemas.microsoft.com/office/drawing/2014/main" id="{B74BD5D5-4346-633A-E607-E2DC5CA99953}"/>
                  </a:ext>
                </a:extLst>
              </p:cNvPr>
              <p:cNvSpPr/>
              <p:nvPr/>
            </p:nvSpPr>
            <p:spPr>
              <a:xfrm>
                <a:off x="2328122" y="3636184"/>
                <a:ext cx="710258" cy="873791"/>
              </a:xfrm>
              <a:custGeom>
                <a:avLst/>
                <a:gdLst/>
                <a:ahLst/>
                <a:cxnLst/>
                <a:rect l="0" t="0" r="0" b="0"/>
                <a:pathLst>
                  <a:path w="710258" h="873791">
                    <a:moveTo>
                      <a:pt x="710258" y="68922"/>
                    </a:moveTo>
                    <a:cubicBezTo>
                      <a:pt x="709668" y="68806"/>
                      <a:pt x="709077" y="68696"/>
                      <a:pt x="708483" y="68592"/>
                    </a:cubicBezTo>
                    <a:lnTo>
                      <a:pt x="353859" y="6062"/>
                    </a:lnTo>
                    <a:cubicBezTo>
                      <a:pt x="319476" y="0"/>
                      <a:pt x="284485" y="12875"/>
                      <a:pt x="262234" y="39778"/>
                    </a:cubicBezTo>
                    <a:lnTo>
                      <a:pt x="28106" y="322840"/>
                    </a:lnTo>
                    <a:cubicBezTo>
                      <a:pt x="6322" y="349178"/>
                      <a:pt x="0" y="385032"/>
                      <a:pt x="11462" y="417232"/>
                    </a:cubicBezTo>
                    <a:lnTo>
                      <a:pt x="134656" y="763300"/>
                    </a:lnTo>
                    <a:cubicBezTo>
                      <a:pt x="142977" y="786670"/>
                      <a:pt x="159760" y="805585"/>
                      <a:pt x="181114" y="816752"/>
                    </a:cubicBezTo>
                    <a:lnTo>
                      <a:pt x="519995" y="873791"/>
                    </a:lnTo>
                    <a:cubicBezTo>
                      <a:pt x="435226" y="820596"/>
                      <a:pt x="370028" y="739089"/>
                      <a:pt x="337658" y="642525"/>
                    </a:cubicBezTo>
                    <a:lnTo>
                      <a:pt x="283604" y="632995"/>
                    </a:lnTo>
                    <a:cubicBezTo>
                      <a:pt x="257215" y="628341"/>
                      <a:pt x="232050" y="645962"/>
                      <a:pt x="227397" y="672351"/>
                    </a:cubicBezTo>
                    <a:cubicBezTo>
                      <a:pt x="224664" y="687846"/>
                      <a:pt x="203166" y="689693"/>
                      <a:pt x="197832" y="674891"/>
                    </a:cubicBezTo>
                    <a:lnTo>
                      <a:pt x="99986" y="403412"/>
                    </a:lnTo>
                    <a:cubicBezTo>
                      <a:pt x="94145" y="387208"/>
                      <a:pt x="97335" y="369121"/>
                      <a:pt x="108365" y="355891"/>
                    </a:cubicBezTo>
                    <a:lnTo>
                      <a:pt x="317272" y="105332"/>
                    </a:lnTo>
                    <a:cubicBezTo>
                      <a:pt x="328407" y="91977"/>
                      <a:pt x="345839" y="85601"/>
                      <a:pt x="362963" y="88621"/>
                    </a:cubicBezTo>
                    <a:lnTo>
                      <a:pt x="542528" y="120283"/>
                    </a:lnTo>
                    <a:cubicBezTo>
                      <a:pt x="593185" y="92573"/>
                      <a:pt x="649936" y="74612"/>
                      <a:pt x="710258" y="68922"/>
                    </a:cubicBezTo>
                    <a:close/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3" name="Rounded Rectangle 48">
                <a:extLst>
                  <a:ext uri="{FF2B5EF4-FFF2-40B4-BE49-F238E27FC236}">
                    <a16:creationId xmlns:a16="http://schemas.microsoft.com/office/drawing/2014/main" id="{A8C43127-89F7-669D-B1B4-C6FDBC271B74}"/>
                  </a:ext>
                </a:extLst>
              </p:cNvPr>
              <p:cNvSpPr/>
              <p:nvPr/>
            </p:nvSpPr>
            <p:spPr>
              <a:xfrm>
                <a:off x="2643240" y="3703149"/>
                <a:ext cx="597699" cy="825190"/>
              </a:xfrm>
              <a:custGeom>
                <a:avLst/>
                <a:gdLst/>
                <a:ahLst/>
                <a:cxnLst/>
                <a:rect l="0" t="0" r="0" b="0"/>
                <a:pathLst>
                  <a:path w="597699" h="825190">
                    <a:moveTo>
                      <a:pt x="597699" y="30647"/>
                    </a:moveTo>
                    <a:cubicBezTo>
                      <a:pt x="547870" y="10868"/>
                      <a:pt x="493545" y="0"/>
                      <a:pt x="436672" y="0"/>
                    </a:cubicBezTo>
                    <a:cubicBezTo>
                      <a:pt x="195508" y="0"/>
                      <a:pt x="0" y="195508"/>
                      <a:pt x="0" y="436672"/>
                    </a:cubicBezTo>
                    <a:cubicBezTo>
                      <a:pt x="0" y="605947"/>
                      <a:pt x="96310" y="752718"/>
                      <a:pt x="237129" y="825190"/>
                    </a:cubicBezTo>
                    <a:lnTo>
                      <a:pt x="428941" y="825190"/>
                    </a:lnTo>
                    <a:cubicBezTo>
                      <a:pt x="350834" y="796038"/>
                      <a:pt x="289732" y="727553"/>
                      <a:pt x="274222" y="639579"/>
                    </a:cubicBezTo>
                    <a:cubicBezTo>
                      <a:pt x="273898" y="637760"/>
                      <a:pt x="273599" y="635940"/>
                      <a:pt x="273316" y="634121"/>
                    </a:cubicBezTo>
                    <a:cubicBezTo>
                      <a:pt x="255332" y="641221"/>
                      <a:pt x="242595" y="658761"/>
                      <a:pt x="242595" y="679276"/>
                    </a:cubicBezTo>
                    <a:cubicBezTo>
                      <a:pt x="242595" y="702679"/>
                      <a:pt x="216880" y="716191"/>
                      <a:pt x="199486" y="700544"/>
                    </a:cubicBezTo>
                    <a:cubicBezTo>
                      <a:pt x="127281" y="635593"/>
                      <a:pt x="81876" y="541433"/>
                      <a:pt x="81876" y="436680"/>
                    </a:cubicBezTo>
                    <a:cubicBezTo>
                      <a:pt x="81876" y="240727"/>
                      <a:pt x="240727" y="81884"/>
                      <a:pt x="436672" y="81884"/>
                    </a:cubicBezTo>
                    <a:cubicBezTo>
                      <a:pt x="460802" y="81884"/>
                      <a:pt x="484367" y="84285"/>
                      <a:pt x="507138" y="88879"/>
                    </a:cubicBezTo>
                    <a:cubicBezTo>
                      <a:pt x="533015" y="64384"/>
                      <a:pt x="563566" y="44451"/>
                      <a:pt x="597699" y="30647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4" name="Rounded Rectangle 49">
                <a:extLst>
                  <a:ext uri="{FF2B5EF4-FFF2-40B4-BE49-F238E27FC236}">
                    <a16:creationId xmlns:a16="http://schemas.microsoft.com/office/drawing/2014/main" id="{25BBF230-C575-8FCF-D637-4445D31A8664}"/>
                  </a:ext>
                </a:extLst>
              </p:cNvPr>
              <p:cNvSpPr/>
              <p:nvPr/>
            </p:nvSpPr>
            <p:spPr>
              <a:xfrm>
                <a:off x="2643240" y="3703149"/>
                <a:ext cx="597700" cy="825190"/>
              </a:xfrm>
              <a:custGeom>
                <a:avLst/>
                <a:gdLst/>
                <a:ahLst/>
                <a:cxnLst/>
                <a:rect l="0" t="0" r="0" b="0"/>
                <a:pathLst>
                  <a:path w="597700" h="825190">
                    <a:moveTo>
                      <a:pt x="597700" y="30649"/>
                    </a:moveTo>
                    <a:cubicBezTo>
                      <a:pt x="547873" y="10871"/>
                      <a:pt x="493542" y="0"/>
                      <a:pt x="436672" y="0"/>
                    </a:cubicBezTo>
                    <a:cubicBezTo>
                      <a:pt x="195504" y="0"/>
                      <a:pt x="0" y="195504"/>
                      <a:pt x="0" y="436672"/>
                    </a:cubicBezTo>
                    <a:cubicBezTo>
                      <a:pt x="0" y="605944"/>
                      <a:pt x="96313" y="752720"/>
                      <a:pt x="237129" y="825190"/>
                    </a:cubicBezTo>
                    <a:lnTo>
                      <a:pt x="428945" y="825015"/>
                    </a:lnTo>
                    <a:cubicBezTo>
                      <a:pt x="350834" y="796035"/>
                      <a:pt x="289732" y="727552"/>
                      <a:pt x="274220" y="639579"/>
                    </a:cubicBezTo>
                    <a:cubicBezTo>
                      <a:pt x="273899" y="637758"/>
                      <a:pt x="273599" y="635939"/>
                      <a:pt x="273320" y="634121"/>
                    </a:cubicBezTo>
                    <a:cubicBezTo>
                      <a:pt x="255328" y="641219"/>
                      <a:pt x="242598" y="658759"/>
                      <a:pt x="242598" y="679273"/>
                    </a:cubicBezTo>
                    <a:cubicBezTo>
                      <a:pt x="242598" y="702675"/>
                      <a:pt x="216884" y="716191"/>
                      <a:pt x="199485" y="700540"/>
                    </a:cubicBezTo>
                    <a:cubicBezTo>
                      <a:pt x="127282" y="635594"/>
                      <a:pt x="81878" y="541437"/>
                      <a:pt x="81878" y="436677"/>
                    </a:cubicBezTo>
                    <a:cubicBezTo>
                      <a:pt x="81878" y="240728"/>
                      <a:pt x="240726" y="81880"/>
                      <a:pt x="436675" y="81880"/>
                    </a:cubicBezTo>
                    <a:cubicBezTo>
                      <a:pt x="460800" y="81880"/>
                      <a:pt x="484363" y="84288"/>
                      <a:pt x="507137" y="88877"/>
                    </a:cubicBezTo>
                    <a:cubicBezTo>
                      <a:pt x="533013" y="64380"/>
                      <a:pt x="563565" y="44450"/>
                      <a:pt x="597700" y="30649"/>
                    </a:cubicBezTo>
                    <a:close/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5" name="Rounded Rectangle 50">
                <a:extLst>
                  <a:ext uri="{FF2B5EF4-FFF2-40B4-BE49-F238E27FC236}">
                    <a16:creationId xmlns:a16="http://schemas.microsoft.com/office/drawing/2014/main" id="{1F9CD150-6DFE-E3D6-7423-4DE6C56B2D23}"/>
                  </a:ext>
                </a:extLst>
              </p:cNvPr>
              <p:cNvSpPr/>
              <p:nvPr/>
            </p:nvSpPr>
            <p:spPr>
              <a:xfrm>
                <a:off x="2897084" y="3710807"/>
                <a:ext cx="699250" cy="851940"/>
              </a:xfrm>
              <a:custGeom>
                <a:avLst/>
                <a:gdLst/>
                <a:ahLst/>
                <a:cxnLst/>
                <a:rect l="0" t="0" r="0" b="0"/>
                <a:pathLst>
                  <a:path w="699250" h="851940">
                    <a:moveTo>
                      <a:pt x="402709" y="6105"/>
                    </a:moveTo>
                    <a:cubicBezTo>
                      <a:pt x="437327" y="0"/>
                      <a:pt x="471598" y="283"/>
                      <a:pt x="504308" y="6113"/>
                    </a:cubicBezTo>
                    <a:lnTo>
                      <a:pt x="439470" y="82935"/>
                    </a:lnTo>
                    <a:cubicBezTo>
                      <a:pt x="431933" y="83469"/>
                      <a:pt x="424356" y="84407"/>
                      <a:pt x="416747" y="85749"/>
                    </a:cubicBezTo>
                    <a:cubicBezTo>
                      <a:pt x="297996" y="106685"/>
                      <a:pt x="218708" y="219929"/>
                      <a:pt x="239644" y="338680"/>
                    </a:cubicBezTo>
                    <a:lnTo>
                      <a:pt x="250884" y="402385"/>
                    </a:lnTo>
                    <a:cubicBezTo>
                      <a:pt x="253205" y="415574"/>
                      <a:pt x="244399" y="428157"/>
                      <a:pt x="231201" y="430486"/>
                    </a:cubicBezTo>
                    <a:cubicBezTo>
                      <a:pt x="143236" y="445996"/>
                      <a:pt x="84496" y="529886"/>
                      <a:pt x="100006" y="617843"/>
                    </a:cubicBezTo>
                    <a:cubicBezTo>
                      <a:pt x="115516" y="705808"/>
                      <a:pt x="199405" y="764549"/>
                      <a:pt x="287362" y="749039"/>
                    </a:cubicBezTo>
                    <a:lnTo>
                      <a:pt x="483396" y="714469"/>
                    </a:lnTo>
                    <a:cubicBezTo>
                      <a:pt x="489469" y="716870"/>
                      <a:pt x="495833" y="718674"/>
                      <a:pt x="502416" y="719814"/>
                    </a:cubicBezTo>
                    <a:lnTo>
                      <a:pt x="699250" y="753931"/>
                    </a:lnTo>
                    <a:cubicBezTo>
                      <a:pt x="694802" y="755645"/>
                      <a:pt x="690743" y="757926"/>
                      <a:pt x="687120" y="760659"/>
                    </a:cubicBezTo>
                    <a:lnTo>
                      <a:pt x="301417" y="828675"/>
                    </a:lnTo>
                    <a:cubicBezTo>
                      <a:pt x="169469" y="851940"/>
                      <a:pt x="43643" y="763829"/>
                      <a:pt x="20378" y="631889"/>
                    </a:cubicBezTo>
                    <a:cubicBezTo>
                      <a:pt x="0" y="516300"/>
                      <a:pt x="65072" y="405426"/>
                      <a:pt x="170221" y="364063"/>
                    </a:cubicBezTo>
                    <a:lnTo>
                      <a:pt x="166566" y="343354"/>
                    </a:lnTo>
                    <a:cubicBezTo>
                      <a:pt x="138643" y="185019"/>
                      <a:pt x="244374" y="34020"/>
                      <a:pt x="402709" y="6105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6" name="Rounded Rectangle 51">
                <a:extLst>
                  <a:ext uri="{FF2B5EF4-FFF2-40B4-BE49-F238E27FC236}">
                    <a16:creationId xmlns:a16="http://schemas.microsoft.com/office/drawing/2014/main" id="{47826795-B01B-8606-EF2C-A719847BD59C}"/>
                  </a:ext>
                </a:extLst>
              </p:cNvPr>
              <p:cNvSpPr/>
              <p:nvPr/>
            </p:nvSpPr>
            <p:spPr>
              <a:xfrm>
                <a:off x="2897081" y="3710807"/>
                <a:ext cx="699257" cy="851937"/>
              </a:xfrm>
              <a:custGeom>
                <a:avLst/>
                <a:gdLst/>
                <a:ahLst/>
                <a:cxnLst/>
                <a:rect l="0" t="0" r="0" b="0"/>
                <a:pathLst>
                  <a:path w="699257" h="851937">
                    <a:moveTo>
                      <a:pt x="504313" y="6112"/>
                    </a:moveTo>
                    <a:cubicBezTo>
                      <a:pt x="471604" y="285"/>
                      <a:pt x="437334" y="0"/>
                      <a:pt x="402714" y="6104"/>
                    </a:cubicBezTo>
                    <a:cubicBezTo>
                      <a:pt x="244378" y="34024"/>
                      <a:pt x="138654" y="185013"/>
                      <a:pt x="166573" y="343348"/>
                    </a:cubicBezTo>
                    <a:lnTo>
                      <a:pt x="170224" y="364055"/>
                    </a:lnTo>
                    <a:cubicBezTo>
                      <a:pt x="65077" y="405419"/>
                      <a:pt x="0" y="516304"/>
                      <a:pt x="20380" y="631887"/>
                    </a:cubicBezTo>
                    <a:cubicBezTo>
                      <a:pt x="43646" y="763834"/>
                      <a:pt x="169470" y="851937"/>
                      <a:pt x="301417" y="828671"/>
                    </a:cubicBezTo>
                    <a:lnTo>
                      <a:pt x="342032" y="821509"/>
                    </a:lnTo>
                    <a:lnTo>
                      <a:pt x="687128" y="760660"/>
                    </a:lnTo>
                    <a:cubicBezTo>
                      <a:pt x="690749" y="757923"/>
                      <a:pt x="694811" y="755642"/>
                      <a:pt x="699257" y="753933"/>
                    </a:cubicBezTo>
                    <a:lnTo>
                      <a:pt x="502423" y="719809"/>
                    </a:lnTo>
                    <a:cubicBezTo>
                      <a:pt x="495841" y="718668"/>
                      <a:pt x="489474" y="716867"/>
                      <a:pt x="483396" y="714470"/>
                    </a:cubicBezTo>
                    <a:lnTo>
                      <a:pt x="287375" y="749035"/>
                    </a:lnTo>
                    <a:cubicBezTo>
                      <a:pt x="199410" y="764545"/>
                      <a:pt x="115527" y="705810"/>
                      <a:pt x="100017" y="617845"/>
                    </a:cubicBezTo>
                    <a:cubicBezTo>
                      <a:pt x="84506" y="529881"/>
                      <a:pt x="143242" y="445998"/>
                      <a:pt x="231206" y="430488"/>
                    </a:cubicBezTo>
                    <a:cubicBezTo>
                      <a:pt x="244400" y="428160"/>
                      <a:pt x="253211" y="415578"/>
                      <a:pt x="250884" y="402384"/>
                    </a:cubicBezTo>
                    <a:lnTo>
                      <a:pt x="239650" y="338674"/>
                    </a:lnTo>
                    <a:cubicBezTo>
                      <a:pt x="218712" y="219922"/>
                      <a:pt x="298004" y="106680"/>
                      <a:pt x="416756" y="85741"/>
                    </a:cubicBezTo>
                    <a:cubicBezTo>
                      <a:pt x="424359" y="84400"/>
                      <a:pt x="431938" y="83471"/>
                      <a:pt x="439473" y="82936"/>
                    </a:cubicBezTo>
                    <a:close/>
                    <a:moveTo>
                      <a:pt x="342674" y="821937"/>
                    </a:moveTo>
                    <a:lnTo>
                      <a:pt x="342032" y="821509"/>
                    </a:lnTo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7" name="Rounded Rectangle 52">
                <a:extLst>
                  <a:ext uri="{FF2B5EF4-FFF2-40B4-BE49-F238E27FC236}">
                    <a16:creationId xmlns:a16="http://schemas.microsoft.com/office/drawing/2014/main" id="{30A80B5E-65A2-340B-FE27-E9B7CC9B1DC5}"/>
                  </a:ext>
                </a:extLst>
              </p:cNvPr>
              <p:cNvSpPr/>
              <p:nvPr/>
            </p:nvSpPr>
            <p:spPr>
              <a:xfrm>
                <a:off x="3189640" y="3616761"/>
                <a:ext cx="922212" cy="847961"/>
              </a:xfrm>
              <a:custGeom>
                <a:avLst/>
                <a:gdLst/>
                <a:ahLst/>
                <a:cxnLst/>
                <a:rect l="0" t="0" r="0" b="0"/>
                <a:pathLst>
                  <a:path w="922212" h="847961">
                    <a:moveTo>
                      <a:pt x="609781" y="50201"/>
                    </a:moveTo>
                    <a:lnTo>
                      <a:pt x="354149" y="5886"/>
                    </a:lnTo>
                    <a:cubicBezTo>
                      <a:pt x="320186" y="0"/>
                      <a:pt x="285648" y="12566"/>
                      <a:pt x="263418" y="38904"/>
                    </a:cubicBezTo>
                    <a:lnTo>
                      <a:pt x="28925" y="316741"/>
                    </a:lnTo>
                    <a:cubicBezTo>
                      <a:pt x="6501" y="343313"/>
                      <a:pt x="0" y="379848"/>
                      <a:pt x="11895" y="412518"/>
                    </a:cubicBezTo>
                    <a:lnTo>
                      <a:pt x="135239" y="751408"/>
                    </a:lnTo>
                    <a:cubicBezTo>
                      <a:pt x="147134" y="784078"/>
                      <a:pt x="175590" y="807892"/>
                      <a:pt x="209853" y="813828"/>
                    </a:cubicBezTo>
                    <a:lnTo>
                      <a:pt x="406712" y="847961"/>
                    </a:lnTo>
                    <a:lnTo>
                      <a:pt x="764435" y="717752"/>
                    </a:lnTo>
                    <a:lnTo>
                      <a:pt x="893294" y="565078"/>
                    </a:lnTo>
                    <a:cubicBezTo>
                      <a:pt x="915718" y="538506"/>
                      <a:pt x="922212" y="501971"/>
                      <a:pt x="910325" y="469301"/>
                    </a:cubicBezTo>
                    <a:lnTo>
                      <a:pt x="786981" y="130411"/>
                    </a:lnTo>
                    <a:cubicBezTo>
                      <a:pt x="775611" y="99189"/>
                      <a:pt x="749111" y="76053"/>
                      <a:pt x="716879" y="68881"/>
                    </a:cubicBezTo>
                    <a:cubicBezTo>
                      <a:pt x="694665" y="92348"/>
                      <a:pt x="671481" y="114893"/>
                      <a:pt x="647399" y="136444"/>
                    </a:cubicBezTo>
                    <a:lnTo>
                      <a:pt x="683756" y="142735"/>
                    </a:lnTo>
                    <a:cubicBezTo>
                      <a:pt x="700891" y="145703"/>
                      <a:pt x="715124" y="157614"/>
                      <a:pt x="721075" y="173949"/>
                    </a:cubicBezTo>
                    <a:lnTo>
                      <a:pt x="831837" y="478261"/>
                    </a:lnTo>
                    <a:cubicBezTo>
                      <a:pt x="837780" y="494604"/>
                      <a:pt x="834529" y="512872"/>
                      <a:pt x="823305" y="526158"/>
                    </a:cubicBezTo>
                    <a:lnTo>
                      <a:pt x="740491" y="624239"/>
                    </a:lnTo>
                    <a:cubicBezTo>
                      <a:pt x="739917" y="624910"/>
                      <a:pt x="738842" y="624716"/>
                      <a:pt x="738542" y="623892"/>
                    </a:cubicBezTo>
                    <a:cubicBezTo>
                      <a:pt x="729372" y="598710"/>
                      <a:pt x="701530" y="585723"/>
                      <a:pt x="676357" y="594893"/>
                    </a:cubicBezTo>
                    <a:lnTo>
                      <a:pt x="402790" y="694463"/>
                    </a:lnTo>
                    <a:cubicBezTo>
                      <a:pt x="377616" y="703625"/>
                      <a:pt x="364629" y="731467"/>
                      <a:pt x="373799" y="756648"/>
                    </a:cubicBezTo>
                    <a:cubicBezTo>
                      <a:pt x="374099" y="757473"/>
                      <a:pt x="373395" y="758306"/>
                      <a:pt x="372530" y="758160"/>
                    </a:cubicBezTo>
                    <a:lnTo>
                      <a:pt x="246048" y="736270"/>
                    </a:lnTo>
                    <a:cubicBezTo>
                      <a:pt x="228913" y="733302"/>
                      <a:pt x="214673" y="721391"/>
                      <a:pt x="208729" y="705056"/>
                    </a:cubicBezTo>
                    <a:lnTo>
                      <a:pt x="97968" y="400744"/>
                    </a:lnTo>
                    <a:cubicBezTo>
                      <a:pt x="92016" y="384401"/>
                      <a:pt x="95275" y="366133"/>
                      <a:pt x="106491" y="352847"/>
                    </a:cubicBezTo>
                    <a:lnTo>
                      <a:pt x="316967" y="103604"/>
                    </a:lnTo>
                    <a:cubicBezTo>
                      <a:pt x="328078" y="90447"/>
                      <a:pt x="345335" y="84164"/>
                      <a:pt x="362308" y="87100"/>
                    </a:cubicBezTo>
                    <a:lnTo>
                      <a:pt x="532586" y="116575"/>
                    </a:lnTo>
                    <a:cubicBezTo>
                      <a:pt x="559361" y="95663"/>
                      <a:pt x="585117" y="73506"/>
                      <a:pt x="609781" y="50201"/>
                    </a:cubicBez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8" name="Rounded Rectangle 53">
                <a:extLst>
                  <a:ext uri="{FF2B5EF4-FFF2-40B4-BE49-F238E27FC236}">
                    <a16:creationId xmlns:a16="http://schemas.microsoft.com/office/drawing/2014/main" id="{EE4032E6-5808-A50C-6111-1FFE56A04723}"/>
                  </a:ext>
                </a:extLst>
              </p:cNvPr>
              <p:cNvSpPr/>
              <p:nvPr/>
            </p:nvSpPr>
            <p:spPr>
              <a:xfrm>
                <a:off x="3189642" y="3616757"/>
                <a:ext cx="922212" cy="847965"/>
              </a:xfrm>
              <a:custGeom>
                <a:avLst/>
                <a:gdLst/>
                <a:ahLst/>
                <a:cxnLst/>
                <a:rect l="0" t="0" r="0" b="0"/>
                <a:pathLst>
                  <a:path w="922212" h="847965">
                    <a:moveTo>
                      <a:pt x="609774" y="50206"/>
                    </a:moveTo>
                    <a:lnTo>
                      <a:pt x="354146" y="5887"/>
                    </a:lnTo>
                    <a:cubicBezTo>
                      <a:pt x="320182" y="0"/>
                      <a:pt x="285645" y="12570"/>
                      <a:pt x="263413" y="38911"/>
                    </a:cubicBezTo>
                    <a:lnTo>
                      <a:pt x="28921" y="316744"/>
                    </a:lnTo>
                    <a:cubicBezTo>
                      <a:pt x="6496" y="343314"/>
                      <a:pt x="0" y="379851"/>
                      <a:pt x="11892" y="412522"/>
                    </a:cubicBezTo>
                    <a:lnTo>
                      <a:pt x="135237" y="751413"/>
                    </a:lnTo>
                    <a:cubicBezTo>
                      <a:pt x="147129" y="784084"/>
                      <a:pt x="175590" y="807896"/>
                      <a:pt x="209847" y="813835"/>
                    </a:cubicBezTo>
                    <a:lnTo>
                      <a:pt x="406710" y="847965"/>
                    </a:lnTo>
                    <a:lnTo>
                      <a:pt x="764433" y="717757"/>
                    </a:lnTo>
                    <a:lnTo>
                      <a:pt x="893290" y="565083"/>
                    </a:lnTo>
                    <a:cubicBezTo>
                      <a:pt x="915715" y="538513"/>
                      <a:pt x="922212" y="501977"/>
                      <a:pt x="910320" y="469305"/>
                    </a:cubicBezTo>
                    <a:lnTo>
                      <a:pt x="786974" y="130414"/>
                    </a:lnTo>
                    <a:cubicBezTo>
                      <a:pt x="775609" y="99190"/>
                      <a:pt x="749109" y="76057"/>
                      <a:pt x="716879" y="68885"/>
                    </a:cubicBezTo>
                    <a:cubicBezTo>
                      <a:pt x="694662" y="92352"/>
                      <a:pt x="671479" y="114894"/>
                      <a:pt x="647394" y="136449"/>
                    </a:cubicBezTo>
                    <a:lnTo>
                      <a:pt x="683754" y="142742"/>
                    </a:lnTo>
                    <a:cubicBezTo>
                      <a:pt x="700887" y="145708"/>
                      <a:pt x="715124" y="157616"/>
                      <a:pt x="721071" y="173956"/>
                    </a:cubicBezTo>
                    <a:lnTo>
                      <a:pt x="831831" y="478264"/>
                    </a:lnTo>
                    <a:cubicBezTo>
                      <a:pt x="837778" y="494605"/>
                      <a:pt x="834526" y="512878"/>
                      <a:pt x="823307" y="526163"/>
                    </a:cubicBezTo>
                    <a:lnTo>
                      <a:pt x="740485" y="624241"/>
                    </a:lnTo>
                    <a:cubicBezTo>
                      <a:pt x="739918" y="624911"/>
                      <a:pt x="738838" y="624719"/>
                      <a:pt x="738538" y="623894"/>
                    </a:cubicBezTo>
                    <a:cubicBezTo>
                      <a:pt x="729373" y="598714"/>
                      <a:pt x="701530" y="585730"/>
                      <a:pt x="676350" y="594896"/>
                    </a:cubicBezTo>
                    <a:lnTo>
                      <a:pt x="402791" y="694463"/>
                    </a:lnTo>
                    <a:cubicBezTo>
                      <a:pt x="377611" y="703628"/>
                      <a:pt x="364628" y="731470"/>
                      <a:pt x="373793" y="756651"/>
                    </a:cubicBezTo>
                    <a:cubicBezTo>
                      <a:pt x="374093" y="757474"/>
                      <a:pt x="373390" y="758313"/>
                      <a:pt x="372527" y="758163"/>
                    </a:cubicBezTo>
                    <a:lnTo>
                      <a:pt x="246043" y="736271"/>
                    </a:lnTo>
                    <a:cubicBezTo>
                      <a:pt x="228909" y="733305"/>
                      <a:pt x="214672" y="721396"/>
                      <a:pt x="208725" y="705057"/>
                    </a:cubicBezTo>
                    <a:lnTo>
                      <a:pt x="97965" y="400748"/>
                    </a:lnTo>
                    <a:cubicBezTo>
                      <a:pt x="92018" y="384408"/>
                      <a:pt x="95270" y="366135"/>
                      <a:pt x="106489" y="352850"/>
                    </a:cubicBezTo>
                    <a:lnTo>
                      <a:pt x="316965" y="103607"/>
                    </a:lnTo>
                    <a:cubicBezTo>
                      <a:pt x="328078" y="90447"/>
                      <a:pt x="345336" y="84166"/>
                      <a:pt x="362310" y="87104"/>
                    </a:cubicBezTo>
                    <a:lnTo>
                      <a:pt x="532582" y="116576"/>
                    </a:lnTo>
                    <a:cubicBezTo>
                      <a:pt x="559357" y="95664"/>
                      <a:pt x="585117" y="73512"/>
                      <a:pt x="609774" y="50206"/>
                    </a:cubicBezTo>
                    <a:close/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39" name="Rounded Rectangle 54">
                <a:extLst>
                  <a:ext uri="{FF2B5EF4-FFF2-40B4-BE49-F238E27FC236}">
                    <a16:creationId xmlns:a16="http://schemas.microsoft.com/office/drawing/2014/main" id="{2A9EBC1E-2982-3494-2009-0170B35257F8}"/>
                  </a:ext>
                </a:extLst>
              </p:cNvPr>
              <p:cNvSpPr/>
              <p:nvPr/>
            </p:nvSpPr>
            <p:spPr>
              <a:xfrm>
                <a:off x="1896312" y="1720753"/>
                <a:ext cx="2328920" cy="2241149"/>
              </a:xfrm>
              <a:custGeom>
                <a:avLst/>
                <a:gdLst/>
                <a:ahLst/>
                <a:cxnLst/>
                <a:rect l="0" t="0" r="0" b="0"/>
                <a:pathLst>
                  <a:path w="2328920" h="2241149">
                    <a:moveTo>
                      <a:pt x="366182" y="2012236"/>
                    </a:moveTo>
                    <a:cubicBezTo>
                      <a:pt x="140746" y="1799883"/>
                      <a:pt x="0" y="1498603"/>
                      <a:pt x="0" y="1164460"/>
                    </a:cubicBezTo>
                    <a:cubicBezTo>
                      <a:pt x="0" y="521346"/>
                      <a:pt x="521346" y="0"/>
                      <a:pt x="1164460" y="0"/>
                    </a:cubicBezTo>
                    <a:cubicBezTo>
                      <a:pt x="1807574" y="0"/>
                      <a:pt x="2328920" y="521346"/>
                      <a:pt x="2328920" y="1164460"/>
                    </a:cubicBezTo>
                    <a:cubicBezTo>
                      <a:pt x="2328920" y="1650226"/>
                      <a:pt x="2031473" y="2066520"/>
                      <a:pt x="1608782" y="2241149"/>
                    </a:cubicBezTo>
                    <a:cubicBezTo>
                      <a:pt x="1597874" y="2235100"/>
                      <a:pt x="1589019" y="2225235"/>
                      <a:pt x="1584418" y="2212596"/>
                    </a:cubicBezTo>
                    <a:cubicBezTo>
                      <a:pt x="1577811" y="2194441"/>
                      <a:pt x="1581474" y="2174136"/>
                      <a:pt x="1594016" y="2159435"/>
                    </a:cubicBezTo>
                    <a:lnTo>
                      <a:pt x="1605920" y="2145485"/>
                    </a:lnTo>
                    <a:cubicBezTo>
                      <a:pt x="1979744" y="1976995"/>
                      <a:pt x="2239968" y="1601116"/>
                      <a:pt x="2239968" y="1164460"/>
                    </a:cubicBezTo>
                    <a:cubicBezTo>
                      <a:pt x="2239968" y="570472"/>
                      <a:pt x="1758448" y="88951"/>
                      <a:pt x="1164460" y="88951"/>
                    </a:cubicBezTo>
                    <a:cubicBezTo>
                      <a:pt x="570472" y="88951"/>
                      <a:pt x="88951" y="570472"/>
                      <a:pt x="88951" y="1164460"/>
                    </a:cubicBezTo>
                    <a:cubicBezTo>
                      <a:pt x="88951" y="1485908"/>
                      <a:pt x="229972" y="1774427"/>
                      <a:pt x="453524" y="1971504"/>
                    </a:cubicBezTo>
                    <a:lnTo>
                      <a:pt x="366182" y="2012236"/>
                    </a:lnTo>
                  </a:path>
                </a:pathLst>
              </a:custGeom>
              <a:solidFill>
                <a:srgbClr val="04785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40" name="Rounded Rectangle 55">
                <a:extLst>
                  <a:ext uri="{FF2B5EF4-FFF2-40B4-BE49-F238E27FC236}">
                    <a16:creationId xmlns:a16="http://schemas.microsoft.com/office/drawing/2014/main" id="{EAAC8F8B-610B-A0F4-85C3-D92769F9A719}"/>
                  </a:ext>
                </a:extLst>
              </p:cNvPr>
              <p:cNvSpPr/>
              <p:nvPr/>
            </p:nvSpPr>
            <p:spPr>
              <a:xfrm>
                <a:off x="1896312" y="1720752"/>
                <a:ext cx="2328920" cy="2241148"/>
              </a:xfrm>
              <a:custGeom>
                <a:avLst/>
                <a:gdLst/>
                <a:ahLst/>
                <a:cxnLst/>
                <a:rect l="0" t="0" r="0" b="0"/>
                <a:pathLst>
                  <a:path w="2328920" h="2241148">
                    <a:moveTo>
                      <a:pt x="366180" y="2012237"/>
                    </a:moveTo>
                    <a:cubicBezTo>
                      <a:pt x="140742" y="1799882"/>
                      <a:pt x="0" y="1498607"/>
                      <a:pt x="0" y="1164460"/>
                    </a:cubicBezTo>
                    <a:cubicBezTo>
                      <a:pt x="0" y="521346"/>
                      <a:pt x="521346" y="0"/>
                      <a:pt x="1164460" y="0"/>
                    </a:cubicBezTo>
                    <a:cubicBezTo>
                      <a:pt x="1807574" y="0"/>
                      <a:pt x="2328920" y="521346"/>
                      <a:pt x="2328920" y="1164460"/>
                    </a:cubicBezTo>
                    <a:cubicBezTo>
                      <a:pt x="2328920" y="1650227"/>
                      <a:pt x="2031475" y="2066521"/>
                      <a:pt x="1608782" y="2241148"/>
                    </a:cubicBezTo>
                    <a:cubicBezTo>
                      <a:pt x="1597877" y="2235097"/>
                      <a:pt x="1589021" y="2225237"/>
                      <a:pt x="1584422" y="2212599"/>
                    </a:cubicBezTo>
                    <a:cubicBezTo>
                      <a:pt x="1577813" y="2194443"/>
                      <a:pt x="1581478" y="2174137"/>
                      <a:pt x="1594016" y="2159437"/>
                    </a:cubicBezTo>
                    <a:lnTo>
                      <a:pt x="1605919" y="2145482"/>
                    </a:lnTo>
                    <a:cubicBezTo>
                      <a:pt x="1979746" y="1976998"/>
                      <a:pt x="2239968" y="1601118"/>
                      <a:pt x="2239968" y="1164460"/>
                    </a:cubicBezTo>
                    <a:cubicBezTo>
                      <a:pt x="2239968" y="570473"/>
                      <a:pt x="1758447" y="88951"/>
                      <a:pt x="1164460" y="88951"/>
                    </a:cubicBezTo>
                    <a:cubicBezTo>
                      <a:pt x="570473" y="88951"/>
                      <a:pt x="88951" y="570473"/>
                      <a:pt x="88951" y="1164460"/>
                    </a:cubicBezTo>
                    <a:cubicBezTo>
                      <a:pt x="88951" y="1485911"/>
                      <a:pt x="229975" y="1774424"/>
                      <a:pt x="453529" y="1971506"/>
                    </a:cubicBezTo>
                    <a:lnTo>
                      <a:pt x="366180" y="2012237"/>
                    </a:lnTo>
                    <a:close/>
                  </a:path>
                </a:pathLst>
              </a:custGeom>
              <a:noFill/>
              <a:ln w="12129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41" name="Rounded Rectangle 56">
                <a:extLst>
                  <a:ext uri="{FF2B5EF4-FFF2-40B4-BE49-F238E27FC236}">
                    <a16:creationId xmlns:a16="http://schemas.microsoft.com/office/drawing/2014/main" id="{A06C3DE7-7085-831B-74E5-27A17BB9FBD4}"/>
                  </a:ext>
                </a:extLst>
              </p:cNvPr>
              <p:cNvSpPr/>
              <p:nvPr/>
            </p:nvSpPr>
            <p:spPr>
              <a:xfrm>
                <a:off x="2676484" y="2187248"/>
                <a:ext cx="776306" cy="776945"/>
              </a:xfrm>
              <a:custGeom>
                <a:avLst/>
                <a:gdLst/>
                <a:ahLst/>
                <a:cxnLst/>
                <a:rect l="0" t="0" r="0" b="0"/>
                <a:pathLst>
                  <a:path w="776306" h="776945">
                    <a:moveTo>
                      <a:pt x="464166" y="668917"/>
                    </a:moveTo>
                    <a:cubicBezTo>
                      <a:pt x="461320" y="665537"/>
                      <a:pt x="457244" y="663443"/>
                      <a:pt x="452845" y="663095"/>
                    </a:cubicBezTo>
                    <a:lnTo>
                      <a:pt x="323461" y="663095"/>
                    </a:lnTo>
                    <a:cubicBezTo>
                      <a:pt x="318738" y="663257"/>
                      <a:pt x="314291" y="665367"/>
                      <a:pt x="311169" y="668917"/>
                    </a:cubicBezTo>
                    <a:lnTo>
                      <a:pt x="243242" y="750753"/>
                    </a:lnTo>
                    <a:cubicBezTo>
                      <a:pt x="240024" y="755896"/>
                      <a:pt x="240024" y="762430"/>
                      <a:pt x="243242" y="767573"/>
                    </a:cubicBezTo>
                    <a:cubicBezTo>
                      <a:pt x="246065" y="773460"/>
                      <a:pt x="252275" y="776945"/>
                      <a:pt x="258768" y="776306"/>
                    </a:cubicBezTo>
                    <a:lnTo>
                      <a:pt x="517537" y="776306"/>
                    </a:lnTo>
                    <a:cubicBezTo>
                      <a:pt x="523505" y="776120"/>
                      <a:pt x="528907" y="772716"/>
                      <a:pt x="531657" y="767419"/>
                    </a:cubicBezTo>
                    <a:cubicBezTo>
                      <a:pt x="534406" y="762115"/>
                      <a:pt x="534083" y="755742"/>
                      <a:pt x="530799" y="750753"/>
                    </a:cubicBezTo>
                    <a:lnTo>
                      <a:pt x="464166" y="668917"/>
                    </a:lnTo>
                    <a:moveTo>
                      <a:pt x="727787" y="0"/>
                    </a:moveTo>
                    <a:lnTo>
                      <a:pt x="48519" y="0"/>
                    </a:lnTo>
                    <a:cubicBezTo>
                      <a:pt x="21720" y="0"/>
                      <a:pt x="0" y="21720"/>
                      <a:pt x="0" y="48519"/>
                    </a:cubicBezTo>
                    <a:lnTo>
                      <a:pt x="0" y="566057"/>
                    </a:lnTo>
                    <a:cubicBezTo>
                      <a:pt x="0" y="592855"/>
                      <a:pt x="21720" y="614576"/>
                      <a:pt x="48519" y="614576"/>
                    </a:cubicBezTo>
                    <a:lnTo>
                      <a:pt x="727787" y="614576"/>
                    </a:lnTo>
                    <a:cubicBezTo>
                      <a:pt x="754586" y="614576"/>
                      <a:pt x="776306" y="592855"/>
                      <a:pt x="776306" y="566057"/>
                    </a:cubicBezTo>
                    <a:lnTo>
                      <a:pt x="776306" y="48519"/>
                    </a:lnTo>
                    <a:cubicBezTo>
                      <a:pt x="776306" y="21720"/>
                      <a:pt x="754586" y="0"/>
                      <a:pt x="727787" y="0"/>
                    </a:cubicBezTo>
                    <a:moveTo>
                      <a:pt x="711614" y="469018"/>
                    </a:moveTo>
                    <a:cubicBezTo>
                      <a:pt x="711614" y="477954"/>
                      <a:pt x="704377" y="485191"/>
                      <a:pt x="695441" y="485191"/>
                    </a:cubicBezTo>
                    <a:lnTo>
                      <a:pt x="80865" y="485191"/>
                    </a:lnTo>
                    <a:cubicBezTo>
                      <a:pt x="71929" y="485191"/>
                      <a:pt x="64692" y="477954"/>
                      <a:pt x="64692" y="469018"/>
                    </a:cubicBezTo>
                    <a:lnTo>
                      <a:pt x="64692" y="80865"/>
                    </a:lnTo>
                    <a:cubicBezTo>
                      <a:pt x="64692" y="71929"/>
                      <a:pt x="71929" y="64692"/>
                      <a:pt x="80865" y="64692"/>
                    </a:cubicBezTo>
                    <a:lnTo>
                      <a:pt x="695441" y="64692"/>
                    </a:lnTo>
                    <a:cubicBezTo>
                      <a:pt x="704377" y="64692"/>
                      <a:pt x="711614" y="71929"/>
                      <a:pt x="711614" y="80865"/>
                    </a:cubicBezTo>
                    <a:lnTo>
                      <a:pt x="711614" y="469018"/>
                    </a:lnTo>
                    <a:moveTo>
                      <a:pt x="323461" y="337693"/>
                    </a:moveTo>
                    <a:cubicBezTo>
                      <a:pt x="324706" y="336553"/>
                      <a:pt x="325798" y="335243"/>
                      <a:pt x="326695" y="333811"/>
                    </a:cubicBezTo>
                    <a:lnTo>
                      <a:pt x="413706" y="213160"/>
                    </a:lnTo>
                    <a:cubicBezTo>
                      <a:pt x="418785" y="206214"/>
                      <a:pt x="420887" y="197537"/>
                      <a:pt x="419553" y="189038"/>
                    </a:cubicBezTo>
                    <a:cubicBezTo>
                      <a:pt x="418219" y="180539"/>
                      <a:pt x="413553" y="172930"/>
                      <a:pt x="406590" y="167876"/>
                    </a:cubicBezTo>
                    <a:cubicBezTo>
                      <a:pt x="399612" y="162830"/>
                      <a:pt x="390902" y="160776"/>
                      <a:pt x="382403" y="162175"/>
                    </a:cubicBezTo>
                    <a:cubicBezTo>
                      <a:pt x="373896" y="163574"/>
                      <a:pt x="366303" y="168304"/>
                      <a:pt x="361306" y="175315"/>
                    </a:cubicBezTo>
                    <a:lnTo>
                      <a:pt x="296613" y="265885"/>
                    </a:lnTo>
                    <a:cubicBezTo>
                      <a:pt x="294090" y="269160"/>
                      <a:pt x="289570" y="270122"/>
                      <a:pt x="285939" y="268149"/>
                    </a:cubicBezTo>
                    <a:lnTo>
                      <a:pt x="237097" y="238714"/>
                    </a:lnTo>
                    <a:cubicBezTo>
                      <a:pt x="222589" y="230029"/>
                      <a:pt x="203845" y="233975"/>
                      <a:pt x="194076" y="247771"/>
                    </a:cubicBezTo>
                    <a:lnTo>
                      <a:pt x="119033" y="353219"/>
                    </a:lnTo>
                    <a:cubicBezTo>
                      <a:pt x="108674" y="367864"/>
                      <a:pt x="112152" y="388145"/>
                      <a:pt x="126796" y="398504"/>
                    </a:cubicBezTo>
                    <a:cubicBezTo>
                      <a:pt x="141441" y="408863"/>
                      <a:pt x="161722" y="405385"/>
                      <a:pt x="172081" y="390741"/>
                    </a:cubicBezTo>
                    <a:lnTo>
                      <a:pt x="226422" y="315698"/>
                    </a:lnTo>
                    <a:cubicBezTo>
                      <a:pt x="228759" y="312148"/>
                      <a:pt x="233522" y="311137"/>
                      <a:pt x="237097" y="313433"/>
                    </a:cubicBezTo>
                    <a:lnTo>
                      <a:pt x="285939" y="342545"/>
                    </a:lnTo>
                    <a:cubicBezTo>
                      <a:pt x="298190" y="349176"/>
                      <a:pt x="313304" y="347219"/>
                      <a:pt x="323461" y="337693"/>
                    </a:cubicBezTo>
                    <a:moveTo>
                      <a:pt x="485191" y="129384"/>
                    </a:moveTo>
                    <a:cubicBezTo>
                      <a:pt x="469018" y="129384"/>
                      <a:pt x="469018" y="145557"/>
                      <a:pt x="469018" y="145557"/>
                    </a:cubicBezTo>
                    <a:lnTo>
                      <a:pt x="469018" y="371980"/>
                    </a:lnTo>
                    <a:cubicBezTo>
                      <a:pt x="469018" y="388153"/>
                      <a:pt x="485191" y="388153"/>
                      <a:pt x="485191" y="388153"/>
                    </a:cubicBezTo>
                    <a:lnTo>
                      <a:pt x="517537" y="388153"/>
                    </a:lnTo>
                    <a:cubicBezTo>
                      <a:pt x="533711" y="388153"/>
                      <a:pt x="533711" y="371980"/>
                      <a:pt x="533711" y="371980"/>
                    </a:cubicBezTo>
                    <a:lnTo>
                      <a:pt x="533711" y="145557"/>
                    </a:lnTo>
                    <a:cubicBezTo>
                      <a:pt x="533711" y="129384"/>
                      <a:pt x="517537" y="129384"/>
                      <a:pt x="517537" y="129384"/>
                    </a:cubicBezTo>
                    <a:lnTo>
                      <a:pt x="485191" y="129384"/>
                    </a:lnTo>
                    <a:moveTo>
                      <a:pt x="598403" y="194076"/>
                    </a:moveTo>
                    <a:cubicBezTo>
                      <a:pt x="582230" y="194076"/>
                      <a:pt x="582230" y="210249"/>
                      <a:pt x="582230" y="210249"/>
                    </a:cubicBezTo>
                    <a:lnTo>
                      <a:pt x="582230" y="371980"/>
                    </a:lnTo>
                    <a:cubicBezTo>
                      <a:pt x="582230" y="388153"/>
                      <a:pt x="598403" y="388153"/>
                      <a:pt x="598403" y="388153"/>
                    </a:cubicBezTo>
                    <a:lnTo>
                      <a:pt x="630749" y="388153"/>
                    </a:lnTo>
                    <a:cubicBezTo>
                      <a:pt x="646922" y="388153"/>
                      <a:pt x="646922" y="371980"/>
                      <a:pt x="646922" y="371980"/>
                    </a:cubicBezTo>
                    <a:lnTo>
                      <a:pt x="646922" y="210249"/>
                    </a:lnTo>
                    <a:cubicBezTo>
                      <a:pt x="646922" y="194076"/>
                      <a:pt x="630749" y="194076"/>
                      <a:pt x="630749" y="194076"/>
                    </a:cubicBezTo>
                    <a:lnTo>
                      <a:pt x="598403" y="194076"/>
                    </a:lnTo>
                  </a:path>
                </a:pathLst>
              </a:custGeom>
              <a:solidFill>
                <a:srgbClr val="142D5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7726" name="TextBox 17725">
              <a:extLst>
                <a:ext uri="{FF2B5EF4-FFF2-40B4-BE49-F238E27FC236}">
                  <a16:creationId xmlns:a16="http://schemas.microsoft.com/office/drawing/2014/main" id="{344C352E-502B-6C4B-0382-132ACA72DF35}"/>
                </a:ext>
              </a:extLst>
            </p:cNvPr>
            <p:cNvSpPr txBox="1"/>
            <p:nvPr/>
          </p:nvSpPr>
          <p:spPr>
            <a:xfrm flipH="1">
              <a:off x="7078886" y="1964181"/>
              <a:ext cx="1153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/>
                <a:t>QUANTIFIABLE YEAR 1 PROJECTIONS &amp; OUTCOMES</a:t>
              </a:r>
              <a:endParaRPr lang="en-US" sz="800" dirty="0"/>
            </a:p>
          </p:txBody>
        </p:sp>
      </p:grpSp>
      <p:grpSp>
        <p:nvGrpSpPr>
          <p:cNvPr id="17807" name="Group 17806">
            <a:extLst>
              <a:ext uri="{FF2B5EF4-FFF2-40B4-BE49-F238E27FC236}">
                <a16:creationId xmlns:a16="http://schemas.microsoft.com/office/drawing/2014/main" id="{BEAE35C0-20E2-D693-1F31-083C6CD3A330}"/>
              </a:ext>
            </a:extLst>
          </p:cNvPr>
          <p:cNvGrpSpPr/>
          <p:nvPr/>
        </p:nvGrpSpPr>
        <p:grpSpPr>
          <a:xfrm>
            <a:off x="8813486" y="1132811"/>
            <a:ext cx="2526399" cy="2948640"/>
            <a:chOff x="9105890" y="1401225"/>
            <a:chExt cx="2781491" cy="4128019"/>
          </a:xfrm>
        </p:grpSpPr>
        <p:sp>
          <p:nvSpPr>
            <p:cNvPr id="17782" name="Rounded Rectangle 57">
              <a:extLst>
                <a:ext uri="{FF2B5EF4-FFF2-40B4-BE49-F238E27FC236}">
                  <a16:creationId xmlns:a16="http://schemas.microsoft.com/office/drawing/2014/main" id="{292F7115-72DD-38EC-5686-AF38DAA2FCAE}"/>
                </a:ext>
              </a:extLst>
            </p:cNvPr>
            <p:cNvSpPr/>
            <p:nvPr/>
          </p:nvSpPr>
          <p:spPr>
            <a:xfrm>
              <a:off x="9105923" y="4904561"/>
              <a:ext cx="291964" cy="277408"/>
            </a:xfrm>
            <a:custGeom>
              <a:avLst/>
              <a:gdLst/>
              <a:ahLst/>
              <a:cxnLst/>
              <a:rect l="0" t="0" r="0" b="0"/>
              <a:pathLst>
                <a:path w="291964" h="277408">
                  <a:moveTo>
                    <a:pt x="84908" y="146770"/>
                  </a:moveTo>
                  <a:cubicBezTo>
                    <a:pt x="84876" y="103734"/>
                    <a:pt x="112685" y="65614"/>
                    <a:pt x="153684" y="52522"/>
                  </a:cubicBezTo>
                  <a:lnTo>
                    <a:pt x="164601" y="31173"/>
                  </a:lnTo>
                  <a:cubicBezTo>
                    <a:pt x="167205" y="26022"/>
                    <a:pt x="167496" y="20006"/>
                    <a:pt x="165385" y="14628"/>
                  </a:cubicBezTo>
                  <a:cubicBezTo>
                    <a:pt x="163275" y="9259"/>
                    <a:pt x="158973" y="5037"/>
                    <a:pt x="153563" y="3032"/>
                  </a:cubicBezTo>
                  <a:cubicBezTo>
                    <a:pt x="145905" y="0"/>
                    <a:pt x="137179" y="1811"/>
                    <a:pt x="131365" y="7641"/>
                  </a:cubicBezTo>
                  <a:lnTo>
                    <a:pt x="70716" y="69867"/>
                  </a:lnTo>
                  <a:cubicBezTo>
                    <a:pt x="55611" y="85151"/>
                    <a:pt x="47298" y="105876"/>
                    <a:pt x="47670" y="127362"/>
                  </a:cubicBezTo>
                  <a:lnTo>
                    <a:pt x="0" y="150166"/>
                  </a:lnTo>
                  <a:lnTo>
                    <a:pt x="0" y="277408"/>
                  </a:lnTo>
                  <a:lnTo>
                    <a:pt x="89881" y="236531"/>
                  </a:lnTo>
                  <a:cubicBezTo>
                    <a:pt x="104979" y="246331"/>
                    <a:pt x="123327" y="249768"/>
                    <a:pt x="140948" y="246113"/>
                  </a:cubicBezTo>
                  <a:lnTo>
                    <a:pt x="159142" y="242232"/>
                  </a:lnTo>
                  <a:cubicBezTo>
                    <a:pt x="115499" y="231096"/>
                    <a:pt x="84949" y="191812"/>
                    <a:pt x="84908" y="146770"/>
                  </a:cubicBezTo>
                  <a:moveTo>
                    <a:pt x="191044" y="147134"/>
                  </a:moveTo>
                  <a:cubicBezTo>
                    <a:pt x="192249" y="149269"/>
                    <a:pt x="192540" y="151792"/>
                    <a:pt x="191852" y="154145"/>
                  </a:cubicBezTo>
                  <a:cubicBezTo>
                    <a:pt x="191173" y="156498"/>
                    <a:pt x="189564" y="158471"/>
                    <a:pt x="187405" y="159628"/>
                  </a:cubicBezTo>
                  <a:cubicBezTo>
                    <a:pt x="183079" y="161981"/>
                    <a:pt x="177669" y="160412"/>
                    <a:pt x="175275" y="156110"/>
                  </a:cubicBezTo>
                  <a:lnTo>
                    <a:pt x="160841" y="130759"/>
                  </a:lnTo>
                  <a:cubicBezTo>
                    <a:pt x="158358" y="126368"/>
                    <a:pt x="159911" y="120804"/>
                    <a:pt x="164302" y="118322"/>
                  </a:cubicBezTo>
                  <a:cubicBezTo>
                    <a:pt x="168685" y="115847"/>
                    <a:pt x="174248" y="117392"/>
                    <a:pt x="176731" y="121783"/>
                  </a:cubicBezTo>
                  <a:lnTo>
                    <a:pt x="191044" y="147134"/>
                  </a:lnTo>
                  <a:moveTo>
                    <a:pt x="291115" y="140705"/>
                  </a:moveTo>
                  <a:cubicBezTo>
                    <a:pt x="291107" y="133945"/>
                    <a:pt x="287678" y="127653"/>
                    <a:pt x="282017" y="123966"/>
                  </a:cubicBezTo>
                  <a:cubicBezTo>
                    <a:pt x="287694" y="120351"/>
                    <a:pt x="291131" y="114076"/>
                    <a:pt x="291115" y="107348"/>
                  </a:cubicBezTo>
                  <a:cubicBezTo>
                    <a:pt x="291050" y="96391"/>
                    <a:pt x="282179" y="87520"/>
                    <a:pt x="271222" y="87455"/>
                  </a:cubicBezTo>
                  <a:lnTo>
                    <a:pt x="253755" y="87455"/>
                  </a:lnTo>
                  <a:cubicBezTo>
                    <a:pt x="242765" y="87455"/>
                    <a:pt x="233862" y="96359"/>
                    <a:pt x="233862" y="107348"/>
                  </a:cubicBezTo>
                  <a:cubicBezTo>
                    <a:pt x="233765" y="114011"/>
                    <a:pt x="237056" y="120262"/>
                    <a:pt x="242595" y="123966"/>
                  </a:cubicBezTo>
                  <a:cubicBezTo>
                    <a:pt x="237008" y="127645"/>
                    <a:pt x="233636" y="133888"/>
                    <a:pt x="233636" y="140584"/>
                  </a:cubicBezTo>
                  <a:cubicBezTo>
                    <a:pt x="233636" y="147279"/>
                    <a:pt x="237008" y="153522"/>
                    <a:pt x="242595" y="157202"/>
                  </a:cubicBezTo>
                  <a:cubicBezTo>
                    <a:pt x="238059" y="160234"/>
                    <a:pt x="234986" y="165005"/>
                    <a:pt x="234113" y="170391"/>
                  </a:cubicBezTo>
                  <a:cubicBezTo>
                    <a:pt x="233239" y="175776"/>
                    <a:pt x="234646" y="181275"/>
                    <a:pt x="237986" y="185585"/>
                  </a:cubicBezTo>
                  <a:cubicBezTo>
                    <a:pt x="228266" y="188254"/>
                    <a:pt x="222104" y="197812"/>
                    <a:pt x="223689" y="207767"/>
                  </a:cubicBezTo>
                  <a:cubicBezTo>
                    <a:pt x="225282" y="217721"/>
                    <a:pt x="234105" y="224886"/>
                    <a:pt x="244172" y="224401"/>
                  </a:cubicBezTo>
                  <a:lnTo>
                    <a:pt x="260790" y="224401"/>
                  </a:lnTo>
                  <a:cubicBezTo>
                    <a:pt x="268302" y="224433"/>
                    <a:pt x="275184" y="220212"/>
                    <a:pt x="278548" y="213500"/>
                  </a:cubicBezTo>
                  <a:cubicBezTo>
                    <a:pt x="281920" y="206788"/>
                    <a:pt x="281192" y="198742"/>
                    <a:pt x="276680" y="192742"/>
                  </a:cubicBezTo>
                  <a:cubicBezTo>
                    <a:pt x="284071" y="190623"/>
                    <a:pt x="289570" y="184413"/>
                    <a:pt x="290767" y="176811"/>
                  </a:cubicBezTo>
                  <a:cubicBezTo>
                    <a:pt x="291964" y="169210"/>
                    <a:pt x="288648" y="161609"/>
                    <a:pt x="282260" y="157323"/>
                  </a:cubicBezTo>
                  <a:cubicBezTo>
                    <a:pt x="287767" y="153579"/>
                    <a:pt x="291074" y="147360"/>
                    <a:pt x="291115" y="140705"/>
                  </a:cubicBezTo>
                  <a:moveTo>
                    <a:pt x="212271" y="204993"/>
                  </a:moveTo>
                  <a:cubicBezTo>
                    <a:pt x="210589" y="204702"/>
                    <a:pt x="208858" y="204912"/>
                    <a:pt x="207298" y="205600"/>
                  </a:cubicBezTo>
                  <a:cubicBezTo>
                    <a:pt x="199365" y="208996"/>
                    <a:pt x="190817" y="210726"/>
                    <a:pt x="182189" y="210694"/>
                  </a:cubicBezTo>
                  <a:cubicBezTo>
                    <a:pt x="153991" y="210654"/>
                    <a:pt x="129149" y="192135"/>
                    <a:pt x="121055" y="165118"/>
                  </a:cubicBezTo>
                  <a:cubicBezTo>
                    <a:pt x="112960" y="138109"/>
                    <a:pt x="123521" y="108982"/>
                    <a:pt x="147053" y="93431"/>
                  </a:cubicBezTo>
                  <a:cubicBezTo>
                    <a:pt x="170577" y="77889"/>
                    <a:pt x="201516" y="79603"/>
                    <a:pt x="223188" y="97644"/>
                  </a:cubicBezTo>
                  <a:cubicBezTo>
                    <a:pt x="225129" y="91749"/>
                    <a:pt x="228703" y="86533"/>
                    <a:pt x="233498" y="82603"/>
                  </a:cubicBezTo>
                  <a:cubicBezTo>
                    <a:pt x="228298" y="78495"/>
                    <a:pt x="222638" y="74994"/>
                    <a:pt x="216638" y="72172"/>
                  </a:cubicBezTo>
                  <a:lnTo>
                    <a:pt x="223794" y="53249"/>
                  </a:lnTo>
                  <a:lnTo>
                    <a:pt x="228646" y="55069"/>
                  </a:lnTo>
                  <a:cubicBezTo>
                    <a:pt x="229730" y="55239"/>
                    <a:pt x="230838" y="55239"/>
                    <a:pt x="231921" y="55069"/>
                  </a:cubicBezTo>
                  <a:cubicBezTo>
                    <a:pt x="236417" y="55182"/>
                    <a:pt x="240323" y="51996"/>
                    <a:pt x="241107" y="47573"/>
                  </a:cubicBezTo>
                  <a:cubicBezTo>
                    <a:pt x="241900" y="43141"/>
                    <a:pt x="239337" y="38807"/>
                    <a:pt x="235075" y="37359"/>
                  </a:cubicBezTo>
                  <a:lnTo>
                    <a:pt x="209966" y="28019"/>
                  </a:lnTo>
                  <a:cubicBezTo>
                    <a:pt x="205244" y="26240"/>
                    <a:pt x="199979" y="28634"/>
                    <a:pt x="198200" y="33356"/>
                  </a:cubicBezTo>
                  <a:cubicBezTo>
                    <a:pt x="196421" y="38079"/>
                    <a:pt x="198815" y="43343"/>
                    <a:pt x="203537" y="45122"/>
                  </a:cubicBezTo>
                  <a:lnTo>
                    <a:pt x="206691" y="46214"/>
                  </a:lnTo>
                  <a:lnTo>
                    <a:pt x="199413" y="66713"/>
                  </a:lnTo>
                  <a:cubicBezTo>
                    <a:pt x="168563" y="59670"/>
                    <a:pt x="136419" y="70983"/>
                    <a:pt x="116769" y="95784"/>
                  </a:cubicBezTo>
                  <a:cubicBezTo>
                    <a:pt x="97127" y="120586"/>
                    <a:pt x="93480" y="154468"/>
                    <a:pt x="107389" y="182884"/>
                  </a:cubicBezTo>
                  <a:cubicBezTo>
                    <a:pt x="121306" y="211301"/>
                    <a:pt x="150304" y="229196"/>
                    <a:pt x="181946" y="228889"/>
                  </a:cubicBezTo>
                  <a:cubicBezTo>
                    <a:pt x="193033" y="228929"/>
                    <a:pt x="204015" y="226705"/>
                    <a:pt x="214212" y="222339"/>
                  </a:cubicBezTo>
                  <a:cubicBezTo>
                    <a:pt x="215045" y="221967"/>
                    <a:pt x="215821" y="221481"/>
                    <a:pt x="216516" y="220883"/>
                  </a:cubicBezTo>
                  <a:cubicBezTo>
                    <a:pt x="213702" y="216064"/>
                    <a:pt x="212230" y="210573"/>
                    <a:pt x="212271" y="204993"/>
                  </a:cubicBez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83" name="Rounded Rectangle 58">
              <a:extLst>
                <a:ext uri="{FF2B5EF4-FFF2-40B4-BE49-F238E27FC236}">
                  <a16:creationId xmlns:a16="http://schemas.microsoft.com/office/drawing/2014/main" id="{7FE819A9-CD68-1D06-D324-BF17470FDFC6}"/>
                </a:ext>
              </a:extLst>
            </p:cNvPr>
            <p:cNvSpPr/>
            <p:nvPr/>
          </p:nvSpPr>
          <p:spPr>
            <a:xfrm>
              <a:off x="9105890" y="4025151"/>
              <a:ext cx="291147" cy="291115"/>
            </a:xfrm>
            <a:custGeom>
              <a:avLst/>
              <a:gdLst/>
              <a:ahLst/>
              <a:cxnLst/>
              <a:rect l="0" t="0" r="0" b="0"/>
              <a:pathLst>
                <a:path w="291147" h="291115">
                  <a:moveTo>
                    <a:pt x="4035" y="41483"/>
                  </a:moveTo>
                  <a:cubicBezTo>
                    <a:pt x="3210" y="41006"/>
                    <a:pt x="2191" y="41006"/>
                    <a:pt x="1366" y="41483"/>
                  </a:cubicBezTo>
                  <a:cubicBezTo>
                    <a:pt x="541" y="42017"/>
                    <a:pt x="40" y="42931"/>
                    <a:pt x="32" y="43909"/>
                  </a:cubicBezTo>
                  <a:lnTo>
                    <a:pt x="32" y="66713"/>
                  </a:lnTo>
                  <a:cubicBezTo>
                    <a:pt x="0" y="67829"/>
                    <a:pt x="614" y="68872"/>
                    <a:pt x="1609" y="69382"/>
                  </a:cubicBezTo>
                  <a:cubicBezTo>
                    <a:pt x="12162" y="74962"/>
                    <a:pt x="39211" y="82846"/>
                    <a:pt x="84940" y="82846"/>
                  </a:cubicBezTo>
                  <a:cubicBezTo>
                    <a:pt x="130670" y="82846"/>
                    <a:pt x="157719" y="74962"/>
                    <a:pt x="168030" y="69139"/>
                  </a:cubicBezTo>
                  <a:cubicBezTo>
                    <a:pt x="169097" y="68670"/>
                    <a:pt x="169809" y="67635"/>
                    <a:pt x="169849" y="66471"/>
                  </a:cubicBezTo>
                  <a:lnTo>
                    <a:pt x="169849" y="44273"/>
                  </a:lnTo>
                  <a:cubicBezTo>
                    <a:pt x="169841" y="43295"/>
                    <a:pt x="169340" y="42381"/>
                    <a:pt x="168515" y="41847"/>
                  </a:cubicBezTo>
                  <a:cubicBezTo>
                    <a:pt x="167649" y="41346"/>
                    <a:pt x="166590" y="41346"/>
                    <a:pt x="165725" y="41847"/>
                  </a:cubicBezTo>
                  <a:cubicBezTo>
                    <a:pt x="139500" y="49521"/>
                    <a:pt x="112257" y="53120"/>
                    <a:pt x="84940" y="52522"/>
                  </a:cubicBezTo>
                  <a:cubicBezTo>
                    <a:pt x="57568" y="52999"/>
                    <a:pt x="30284" y="49271"/>
                    <a:pt x="4035" y="41483"/>
                  </a:cubicBezTo>
                  <a:moveTo>
                    <a:pt x="151048" y="109168"/>
                  </a:moveTo>
                  <a:cubicBezTo>
                    <a:pt x="151040" y="103628"/>
                    <a:pt x="152511" y="98186"/>
                    <a:pt x="155293" y="93399"/>
                  </a:cubicBezTo>
                  <a:cubicBezTo>
                    <a:pt x="132230" y="98760"/>
                    <a:pt x="108610" y="101324"/>
                    <a:pt x="84940" y="101041"/>
                  </a:cubicBezTo>
                  <a:cubicBezTo>
                    <a:pt x="57568" y="101518"/>
                    <a:pt x="30284" y="97790"/>
                    <a:pt x="4035" y="90003"/>
                  </a:cubicBezTo>
                  <a:cubicBezTo>
                    <a:pt x="3210" y="89525"/>
                    <a:pt x="2191" y="89525"/>
                    <a:pt x="1366" y="90003"/>
                  </a:cubicBezTo>
                  <a:cubicBezTo>
                    <a:pt x="541" y="90536"/>
                    <a:pt x="40" y="91450"/>
                    <a:pt x="32" y="92429"/>
                  </a:cubicBezTo>
                  <a:lnTo>
                    <a:pt x="32" y="115233"/>
                  </a:lnTo>
                  <a:cubicBezTo>
                    <a:pt x="0" y="116349"/>
                    <a:pt x="614" y="117392"/>
                    <a:pt x="1609" y="117901"/>
                  </a:cubicBezTo>
                  <a:cubicBezTo>
                    <a:pt x="12040" y="123481"/>
                    <a:pt x="39211" y="131365"/>
                    <a:pt x="84577" y="131365"/>
                  </a:cubicBezTo>
                  <a:cubicBezTo>
                    <a:pt x="106960" y="131818"/>
                    <a:pt x="129311" y="129327"/>
                    <a:pt x="151048" y="123966"/>
                  </a:cubicBezTo>
                  <a:lnTo>
                    <a:pt x="151048" y="109168"/>
                  </a:lnTo>
                  <a:moveTo>
                    <a:pt x="133460" y="175032"/>
                  </a:moveTo>
                  <a:cubicBezTo>
                    <a:pt x="133443" y="164860"/>
                    <a:pt x="135991" y="154848"/>
                    <a:pt x="140859" y="145921"/>
                  </a:cubicBezTo>
                  <a:cubicBezTo>
                    <a:pt x="122389" y="149091"/>
                    <a:pt x="103677" y="150676"/>
                    <a:pt x="84940" y="150652"/>
                  </a:cubicBezTo>
                  <a:cubicBezTo>
                    <a:pt x="57689" y="151088"/>
                    <a:pt x="30526" y="147368"/>
                    <a:pt x="4399" y="139613"/>
                  </a:cubicBezTo>
                  <a:cubicBezTo>
                    <a:pt x="3574" y="139136"/>
                    <a:pt x="2555" y="139136"/>
                    <a:pt x="1730" y="139613"/>
                  </a:cubicBezTo>
                  <a:cubicBezTo>
                    <a:pt x="889" y="140131"/>
                    <a:pt x="380" y="141053"/>
                    <a:pt x="396" y="142039"/>
                  </a:cubicBezTo>
                  <a:lnTo>
                    <a:pt x="396" y="164480"/>
                  </a:lnTo>
                  <a:cubicBezTo>
                    <a:pt x="396" y="165587"/>
                    <a:pt x="994" y="166614"/>
                    <a:pt x="1973" y="167148"/>
                  </a:cubicBezTo>
                  <a:cubicBezTo>
                    <a:pt x="12404" y="172728"/>
                    <a:pt x="39575" y="180612"/>
                    <a:pt x="84940" y="180612"/>
                  </a:cubicBezTo>
                  <a:cubicBezTo>
                    <a:pt x="101178" y="180733"/>
                    <a:pt x="117408" y="179553"/>
                    <a:pt x="133460" y="177095"/>
                  </a:cubicBezTo>
                  <a:lnTo>
                    <a:pt x="133460" y="175032"/>
                  </a:lnTo>
                  <a:moveTo>
                    <a:pt x="133460" y="195653"/>
                  </a:moveTo>
                  <a:cubicBezTo>
                    <a:pt x="117392" y="198006"/>
                    <a:pt x="101178" y="199187"/>
                    <a:pt x="84940" y="199171"/>
                  </a:cubicBezTo>
                  <a:cubicBezTo>
                    <a:pt x="57689" y="199607"/>
                    <a:pt x="30526" y="195888"/>
                    <a:pt x="4399" y="188133"/>
                  </a:cubicBezTo>
                  <a:cubicBezTo>
                    <a:pt x="3574" y="187656"/>
                    <a:pt x="2555" y="187656"/>
                    <a:pt x="1730" y="188133"/>
                  </a:cubicBezTo>
                  <a:cubicBezTo>
                    <a:pt x="889" y="188650"/>
                    <a:pt x="380" y="189572"/>
                    <a:pt x="396" y="190559"/>
                  </a:cubicBezTo>
                  <a:lnTo>
                    <a:pt x="396" y="212999"/>
                  </a:lnTo>
                  <a:cubicBezTo>
                    <a:pt x="396" y="214107"/>
                    <a:pt x="994" y="215134"/>
                    <a:pt x="1973" y="215667"/>
                  </a:cubicBezTo>
                  <a:cubicBezTo>
                    <a:pt x="12404" y="221247"/>
                    <a:pt x="39575" y="229131"/>
                    <a:pt x="84940" y="229131"/>
                  </a:cubicBezTo>
                  <a:cubicBezTo>
                    <a:pt x="101178" y="229253"/>
                    <a:pt x="117408" y="228072"/>
                    <a:pt x="133460" y="225614"/>
                  </a:cubicBezTo>
                  <a:lnTo>
                    <a:pt x="133460" y="195653"/>
                  </a:lnTo>
                  <a:moveTo>
                    <a:pt x="32" y="16375"/>
                  </a:moveTo>
                  <a:lnTo>
                    <a:pt x="32" y="18194"/>
                  </a:lnTo>
                  <a:cubicBezTo>
                    <a:pt x="0" y="19310"/>
                    <a:pt x="614" y="20353"/>
                    <a:pt x="1609" y="20863"/>
                  </a:cubicBezTo>
                  <a:cubicBezTo>
                    <a:pt x="12162" y="26442"/>
                    <a:pt x="39211" y="34327"/>
                    <a:pt x="84940" y="34327"/>
                  </a:cubicBezTo>
                  <a:cubicBezTo>
                    <a:pt x="130670" y="34327"/>
                    <a:pt x="157719" y="26442"/>
                    <a:pt x="168030" y="20620"/>
                  </a:cubicBezTo>
                  <a:cubicBezTo>
                    <a:pt x="169097" y="20151"/>
                    <a:pt x="169809" y="19116"/>
                    <a:pt x="169849" y="17952"/>
                  </a:cubicBezTo>
                  <a:lnTo>
                    <a:pt x="169849" y="16375"/>
                  </a:lnTo>
                  <a:cubicBezTo>
                    <a:pt x="169849" y="7399"/>
                    <a:pt x="131398" y="0"/>
                    <a:pt x="84940" y="0"/>
                  </a:cubicBezTo>
                  <a:cubicBezTo>
                    <a:pt x="38483" y="0"/>
                    <a:pt x="32" y="7399"/>
                    <a:pt x="32" y="16375"/>
                  </a:cubicBezTo>
                  <a:moveTo>
                    <a:pt x="281443" y="146891"/>
                  </a:moveTo>
                  <a:lnTo>
                    <a:pt x="272952" y="135611"/>
                  </a:lnTo>
                  <a:lnTo>
                    <a:pt x="272952" y="109774"/>
                  </a:lnTo>
                  <a:cubicBezTo>
                    <a:pt x="273025" y="99593"/>
                    <a:pt x="264930" y="91240"/>
                    <a:pt x="254758" y="90973"/>
                  </a:cubicBezTo>
                  <a:lnTo>
                    <a:pt x="183192" y="90973"/>
                  </a:lnTo>
                  <a:cubicBezTo>
                    <a:pt x="178089" y="90771"/>
                    <a:pt x="173132" y="92671"/>
                    <a:pt x="169469" y="96221"/>
                  </a:cubicBezTo>
                  <a:cubicBezTo>
                    <a:pt x="165798" y="99771"/>
                    <a:pt x="163744" y="104672"/>
                    <a:pt x="163784" y="109774"/>
                  </a:cubicBezTo>
                  <a:lnTo>
                    <a:pt x="163784" y="135611"/>
                  </a:lnTo>
                  <a:lnTo>
                    <a:pt x="155293" y="146891"/>
                  </a:lnTo>
                  <a:cubicBezTo>
                    <a:pt x="148994" y="155293"/>
                    <a:pt x="145589" y="165507"/>
                    <a:pt x="145589" y="176003"/>
                  </a:cubicBezTo>
                  <a:lnTo>
                    <a:pt x="145589" y="254725"/>
                  </a:lnTo>
                  <a:cubicBezTo>
                    <a:pt x="145589" y="274820"/>
                    <a:pt x="161884" y="291115"/>
                    <a:pt x="181979" y="291115"/>
                  </a:cubicBezTo>
                  <a:lnTo>
                    <a:pt x="254758" y="291115"/>
                  </a:lnTo>
                  <a:cubicBezTo>
                    <a:pt x="274853" y="291115"/>
                    <a:pt x="291147" y="274820"/>
                    <a:pt x="291147" y="254725"/>
                  </a:cubicBezTo>
                  <a:lnTo>
                    <a:pt x="291147" y="176003"/>
                  </a:lnTo>
                  <a:cubicBezTo>
                    <a:pt x="291147" y="165507"/>
                    <a:pt x="287743" y="155293"/>
                    <a:pt x="281443" y="146891"/>
                  </a:cubicBezTo>
                  <a:moveTo>
                    <a:pt x="266887" y="254725"/>
                  </a:moveTo>
                  <a:cubicBezTo>
                    <a:pt x="266887" y="261421"/>
                    <a:pt x="261453" y="266855"/>
                    <a:pt x="254758" y="266855"/>
                  </a:cubicBezTo>
                  <a:lnTo>
                    <a:pt x="181979" y="266855"/>
                  </a:lnTo>
                  <a:cubicBezTo>
                    <a:pt x="175283" y="266855"/>
                    <a:pt x="169849" y="261421"/>
                    <a:pt x="169849" y="254725"/>
                  </a:cubicBezTo>
                  <a:lnTo>
                    <a:pt x="169849" y="176003"/>
                  </a:lnTo>
                  <a:cubicBezTo>
                    <a:pt x="169849" y="170755"/>
                    <a:pt x="171555" y="165644"/>
                    <a:pt x="174701" y="161447"/>
                  </a:cubicBezTo>
                  <a:lnTo>
                    <a:pt x="181979" y="151743"/>
                  </a:lnTo>
                  <a:lnTo>
                    <a:pt x="254758" y="151743"/>
                  </a:lnTo>
                  <a:lnTo>
                    <a:pt x="262035" y="161447"/>
                  </a:lnTo>
                  <a:cubicBezTo>
                    <a:pt x="265181" y="165644"/>
                    <a:pt x="266887" y="170755"/>
                    <a:pt x="266887" y="176003"/>
                  </a:cubicBezTo>
                  <a:lnTo>
                    <a:pt x="266887" y="254725"/>
                  </a:lnTo>
                  <a:moveTo>
                    <a:pt x="253908" y="189103"/>
                  </a:moveTo>
                  <a:cubicBezTo>
                    <a:pt x="250771" y="182674"/>
                    <a:pt x="244706" y="178170"/>
                    <a:pt x="237646" y="177006"/>
                  </a:cubicBezTo>
                  <a:cubicBezTo>
                    <a:pt x="230579" y="175849"/>
                    <a:pt x="223398" y="178186"/>
                    <a:pt x="218368" y="183281"/>
                  </a:cubicBezTo>
                  <a:cubicBezTo>
                    <a:pt x="209756" y="174644"/>
                    <a:pt x="195774" y="174612"/>
                    <a:pt x="187138" y="183224"/>
                  </a:cubicBezTo>
                  <a:cubicBezTo>
                    <a:pt x="178493" y="191828"/>
                    <a:pt x="178469" y="205810"/>
                    <a:pt x="187073" y="214454"/>
                  </a:cubicBezTo>
                  <a:lnTo>
                    <a:pt x="214001" y="242595"/>
                  </a:lnTo>
                  <a:cubicBezTo>
                    <a:pt x="215125" y="243816"/>
                    <a:pt x="216710" y="244504"/>
                    <a:pt x="218368" y="244504"/>
                  </a:cubicBezTo>
                  <a:cubicBezTo>
                    <a:pt x="220026" y="244504"/>
                    <a:pt x="221611" y="243816"/>
                    <a:pt x="222735" y="242595"/>
                  </a:cubicBezTo>
                  <a:lnTo>
                    <a:pt x="249784" y="214454"/>
                  </a:lnTo>
                  <a:cubicBezTo>
                    <a:pt x="256407" y="207734"/>
                    <a:pt x="258057" y="197570"/>
                    <a:pt x="253908" y="189103"/>
                  </a:cubicBez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84" name="Rounded Rectangle 59">
              <a:extLst>
                <a:ext uri="{FF2B5EF4-FFF2-40B4-BE49-F238E27FC236}">
                  <a16:creationId xmlns:a16="http://schemas.microsoft.com/office/drawing/2014/main" id="{8302D6FA-5465-A599-9ED5-32A033749CD7}"/>
                </a:ext>
              </a:extLst>
            </p:cNvPr>
            <p:cNvSpPr/>
            <p:nvPr/>
          </p:nvSpPr>
          <p:spPr>
            <a:xfrm>
              <a:off x="9107702" y="1401225"/>
              <a:ext cx="287581" cy="295077"/>
            </a:xfrm>
            <a:custGeom>
              <a:avLst/>
              <a:gdLst/>
              <a:ahLst/>
              <a:cxnLst/>
              <a:rect l="0" t="0" r="0" b="0"/>
              <a:pathLst>
                <a:path w="287581" h="295077">
                  <a:moveTo>
                    <a:pt x="143778" y="113057"/>
                  </a:moveTo>
                  <a:cubicBezTo>
                    <a:pt x="106960" y="113122"/>
                    <a:pt x="77129" y="142953"/>
                    <a:pt x="77064" y="179771"/>
                  </a:cubicBezTo>
                  <a:lnTo>
                    <a:pt x="77064" y="216161"/>
                  </a:lnTo>
                  <a:cubicBezTo>
                    <a:pt x="77064" y="219508"/>
                    <a:pt x="79781" y="222225"/>
                    <a:pt x="83129" y="222225"/>
                  </a:cubicBezTo>
                  <a:lnTo>
                    <a:pt x="105084" y="222225"/>
                  </a:lnTo>
                  <a:cubicBezTo>
                    <a:pt x="106669" y="222217"/>
                    <a:pt x="107987" y="223438"/>
                    <a:pt x="108116" y="225015"/>
                  </a:cubicBezTo>
                  <a:lnTo>
                    <a:pt x="113575" y="289546"/>
                  </a:lnTo>
                  <a:cubicBezTo>
                    <a:pt x="113826" y="292635"/>
                    <a:pt x="116413" y="295012"/>
                    <a:pt x="119518" y="295004"/>
                  </a:cubicBezTo>
                  <a:lnTo>
                    <a:pt x="168038" y="295004"/>
                  </a:lnTo>
                  <a:cubicBezTo>
                    <a:pt x="171183" y="295077"/>
                    <a:pt x="173844" y="292683"/>
                    <a:pt x="174103" y="289546"/>
                  </a:cubicBezTo>
                  <a:lnTo>
                    <a:pt x="180167" y="224894"/>
                  </a:lnTo>
                  <a:cubicBezTo>
                    <a:pt x="180232" y="223333"/>
                    <a:pt x="181518" y="222104"/>
                    <a:pt x="183079" y="222104"/>
                  </a:cubicBezTo>
                  <a:lnTo>
                    <a:pt x="204427" y="222104"/>
                  </a:lnTo>
                  <a:cubicBezTo>
                    <a:pt x="207775" y="222104"/>
                    <a:pt x="210492" y="219387"/>
                    <a:pt x="210492" y="216039"/>
                  </a:cubicBezTo>
                  <a:lnTo>
                    <a:pt x="210492" y="179650"/>
                  </a:lnTo>
                  <a:cubicBezTo>
                    <a:pt x="210427" y="142856"/>
                    <a:pt x="180572" y="113057"/>
                    <a:pt x="143778" y="113057"/>
                  </a:cubicBezTo>
                  <a:moveTo>
                    <a:pt x="152875" y="185230"/>
                  </a:moveTo>
                  <a:cubicBezTo>
                    <a:pt x="152875" y="190251"/>
                    <a:pt x="148800" y="194327"/>
                    <a:pt x="143778" y="194327"/>
                  </a:cubicBezTo>
                  <a:cubicBezTo>
                    <a:pt x="138756" y="194327"/>
                    <a:pt x="134681" y="190251"/>
                    <a:pt x="134681" y="185230"/>
                  </a:cubicBezTo>
                  <a:lnTo>
                    <a:pt x="134681" y="137317"/>
                  </a:lnTo>
                  <a:cubicBezTo>
                    <a:pt x="134681" y="132295"/>
                    <a:pt x="138756" y="128220"/>
                    <a:pt x="143778" y="128220"/>
                  </a:cubicBezTo>
                  <a:cubicBezTo>
                    <a:pt x="148800" y="128220"/>
                    <a:pt x="152875" y="132295"/>
                    <a:pt x="152875" y="137317"/>
                  </a:cubicBezTo>
                  <a:lnTo>
                    <a:pt x="152875" y="185230"/>
                  </a:lnTo>
                  <a:moveTo>
                    <a:pt x="143778" y="102626"/>
                  </a:moveTo>
                  <a:cubicBezTo>
                    <a:pt x="163768" y="102674"/>
                    <a:pt x="181817" y="90666"/>
                    <a:pt x="189483" y="72204"/>
                  </a:cubicBezTo>
                  <a:cubicBezTo>
                    <a:pt x="197157" y="53751"/>
                    <a:pt x="192944" y="32483"/>
                    <a:pt x="178809" y="18348"/>
                  </a:cubicBezTo>
                  <a:cubicBezTo>
                    <a:pt x="164674" y="4213"/>
                    <a:pt x="143406" y="0"/>
                    <a:pt x="124953" y="7674"/>
                  </a:cubicBezTo>
                  <a:cubicBezTo>
                    <a:pt x="106491" y="15340"/>
                    <a:pt x="94483" y="33389"/>
                    <a:pt x="94531" y="53379"/>
                  </a:cubicBezTo>
                  <a:cubicBezTo>
                    <a:pt x="94596" y="80549"/>
                    <a:pt x="116607" y="102561"/>
                    <a:pt x="143778" y="102626"/>
                  </a:cubicBezTo>
                  <a:moveTo>
                    <a:pt x="120489" y="44645"/>
                  </a:moveTo>
                  <a:cubicBezTo>
                    <a:pt x="120764" y="43780"/>
                    <a:pt x="121443" y="43101"/>
                    <a:pt x="122308" y="42826"/>
                  </a:cubicBezTo>
                  <a:cubicBezTo>
                    <a:pt x="123117" y="42470"/>
                    <a:pt x="124047" y="42470"/>
                    <a:pt x="124856" y="42826"/>
                  </a:cubicBezTo>
                  <a:cubicBezTo>
                    <a:pt x="134317" y="48891"/>
                    <a:pt x="145274" y="52206"/>
                    <a:pt x="156514" y="52408"/>
                  </a:cubicBezTo>
                  <a:cubicBezTo>
                    <a:pt x="159482" y="52408"/>
                    <a:pt x="162442" y="52166"/>
                    <a:pt x="165369" y="51681"/>
                  </a:cubicBezTo>
                  <a:cubicBezTo>
                    <a:pt x="166323" y="51438"/>
                    <a:pt x="167342" y="51713"/>
                    <a:pt x="168038" y="52408"/>
                  </a:cubicBezTo>
                  <a:cubicBezTo>
                    <a:pt x="168725" y="52982"/>
                    <a:pt x="169121" y="53823"/>
                    <a:pt x="169129" y="54713"/>
                  </a:cubicBezTo>
                  <a:cubicBezTo>
                    <a:pt x="169129" y="61271"/>
                    <a:pt x="166477" y="67562"/>
                    <a:pt x="161771" y="72131"/>
                  </a:cubicBezTo>
                  <a:cubicBezTo>
                    <a:pt x="157064" y="76700"/>
                    <a:pt x="150700" y="79167"/>
                    <a:pt x="144142" y="78973"/>
                  </a:cubicBezTo>
                  <a:cubicBezTo>
                    <a:pt x="137357" y="79037"/>
                    <a:pt x="130831" y="76353"/>
                    <a:pt x="126052" y="71533"/>
                  </a:cubicBezTo>
                  <a:cubicBezTo>
                    <a:pt x="121281" y="66713"/>
                    <a:pt x="118661" y="60163"/>
                    <a:pt x="118791" y="53379"/>
                  </a:cubicBezTo>
                  <a:cubicBezTo>
                    <a:pt x="118783" y="50387"/>
                    <a:pt x="119357" y="47419"/>
                    <a:pt x="120489" y="44645"/>
                  </a:cubicBezTo>
                  <a:moveTo>
                    <a:pt x="86525" y="135983"/>
                  </a:moveTo>
                  <a:cubicBezTo>
                    <a:pt x="87043" y="134996"/>
                    <a:pt x="87043" y="133815"/>
                    <a:pt x="86525" y="132829"/>
                  </a:cubicBezTo>
                  <a:cubicBezTo>
                    <a:pt x="72819" y="80307"/>
                    <a:pt x="73425" y="79579"/>
                    <a:pt x="65177" y="71816"/>
                  </a:cubicBezTo>
                  <a:cubicBezTo>
                    <a:pt x="64384" y="71104"/>
                    <a:pt x="63325" y="70757"/>
                    <a:pt x="62266" y="70846"/>
                  </a:cubicBezTo>
                  <a:cubicBezTo>
                    <a:pt x="61166" y="70975"/>
                    <a:pt x="60179" y="71598"/>
                    <a:pt x="59597" y="72544"/>
                  </a:cubicBezTo>
                  <a:lnTo>
                    <a:pt x="46740" y="92558"/>
                  </a:lnTo>
                  <a:cubicBezTo>
                    <a:pt x="46109" y="93633"/>
                    <a:pt x="44953" y="94297"/>
                    <a:pt x="43707" y="94297"/>
                  </a:cubicBezTo>
                  <a:cubicBezTo>
                    <a:pt x="42462" y="94297"/>
                    <a:pt x="41305" y="93633"/>
                    <a:pt x="40675" y="92558"/>
                  </a:cubicBezTo>
                  <a:lnTo>
                    <a:pt x="28545" y="72422"/>
                  </a:lnTo>
                  <a:cubicBezTo>
                    <a:pt x="27963" y="71533"/>
                    <a:pt x="27041" y="70918"/>
                    <a:pt x="25998" y="70724"/>
                  </a:cubicBezTo>
                  <a:cubicBezTo>
                    <a:pt x="24736" y="70393"/>
                    <a:pt x="23394" y="70765"/>
                    <a:pt x="22480" y="71695"/>
                  </a:cubicBezTo>
                  <a:cubicBezTo>
                    <a:pt x="13989" y="79458"/>
                    <a:pt x="14596" y="80428"/>
                    <a:pt x="283" y="132344"/>
                  </a:cubicBezTo>
                  <a:cubicBezTo>
                    <a:pt x="0" y="133435"/>
                    <a:pt x="226" y="134592"/>
                    <a:pt x="889" y="135497"/>
                  </a:cubicBezTo>
                  <a:cubicBezTo>
                    <a:pt x="1536" y="136573"/>
                    <a:pt x="2668" y="137252"/>
                    <a:pt x="3921" y="137317"/>
                  </a:cubicBezTo>
                  <a:lnTo>
                    <a:pt x="17143" y="137317"/>
                  </a:lnTo>
                  <a:cubicBezTo>
                    <a:pt x="20111" y="137268"/>
                    <a:pt x="22674" y="139371"/>
                    <a:pt x="23208" y="142290"/>
                  </a:cubicBezTo>
                  <a:lnTo>
                    <a:pt x="29273" y="182925"/>
                  </a:lnTo>
                  <a:cubicBezTo>
                    <a:pt x="29653" y="184575"/>
                    <a:pt x="31092" y="185771"/>
                    <a:pt x="32790" y="185836"/>
                  </a:cubicBezTo>
                  <a:lnTo>
                    <a:pt x="54624" y="185836"/>
                  </a:lnTo>
                  <a:cubicBezTo>
                    <a:pt x="56338" y="185812"/>
                    <a:pt x="57802" y="184599"/>
                    <a:pt x="58142" y="182925"/>
                  </a:cubicBezTo>
                  <a:lnTo>
                    <a:pt x="64328" y="142290"/>
                  </a:lnTo>
                  <a:cubicBezTo>
                    <a:pt x="64805" y="139387"/>
                    <a:pt x="67336" y="137276"/>
                    <a:pt x="70271" y="137317"/>
                  </a:cubicBezTo>
                  <a:lnTo>
                    <a:pt x="83736" y="137317"/>
                  </a:lnTo>
                  <a:cubicBezTo>
                    <a:pt x="84819" y="137325"/>
                    <a:pt x="85854" y="136832"/>
                    <a:pt x="86525" y="135983"/>
                  </a:cubicBezTo>
                  <a:moveTo>
                    <a:pt x="13261" y="34335"/>
                  </a:moveTo>
                  <a:cubicBezTo>
                    <a:pt x="13261" y="51082"/>
                    <a:pt x="26839" y="64659"/>
                    <a:pt x="43586" y="64659"/>
                  </a:cubicBezTo>
                  <a:cubicBezTo>
                    <a:pt x="60333" y="64659"/>
                    <a:pt x="73910" y="51082"/>
                    <a:pt x="73910" y="34335"/>
                  </a:cubicBezTo>
                  <a:cubicBezTo>
                    <a:pt x="73910" y="17588"/>
                    <a:pt x="60333" y="4010"/>
                    <a:pt x="43586" y="4010"/>
                  </a:cubicBezTo>
                  <a:cubicBezTo>
                    <a:pt x="26839" y="4010"/>
                    <a:pt x="13261" y="17588"/>
                    <a:pt x="13261" y="34335"/>
                  </a:cubicBezTo>
                  <a:moveTo>
                    <a:pt x="287152" y="132829"/>
                  </a:moveTo>
                  <a:cubicBezTo>
                    <a:pt x="272839" y="80428"/>
                    <a:pt x="273446" y="79458"/>
                    <a:pt x="264955" y="72180"/>
                  </a:cubicBezTo>
                  <a:cubicBezTo>
                    <a:pt x="264178" y="71444"/>
                    <a:pt x="263111" y="71088"/>
                    <a:pt x="262044" y="71209"/>
                  </a:cubicBezTo>
                  <a:cubicBezTo>
                    <a:pt x="261000" y="71404"/>
                    <a:pt x="260078" y="72018"/>
                    <a:pt x="259496" y="72908"/>
                  </a:cubicBezTo>
                  <a:lnTo>
                    <a:pt x="246760" y="92558"/>
                  </a:lnTo>
                  <a:cubicBezTo>
                    <a:pt x="246162" y="93658"/>
                    <a:pt x="244981" y="94321"/>
                    <a:pt x="243728" y="94256"/>
                  </a:cubicBezTo>
                  <a:cubicBezTo>
                    <a:pt x="242531" y="94224"/>
                    <a:pt x="241431" y="93585"/>
                    <a:pt x="240816" y="92558"/>
                  </a:cubicBezTo>
                  <a:lnTo>
                    <a:pt x="228687" y="72544"/>
                  </a:lnTo>
                  <a:cubicBezTo>
                    <a:pt x="228104" y="71598"/>
                    <a:pt x="227118" y="70975"/>
                    <a:pt x="226018" y="70846"/>
                  </a:cubicBezTo>
                  <a:cubicBezTo>
                    <a:pt x="224959" y="70757"/>
                    <a:pt x="223899" y="71104"/>
                    <a:pt x="223107" y="71816"/>
                  </a:cubicBezTo>
                  <a:cubicBezTo>
                    <a:pt x="214859" y="79579"/>
                    <a:pt x="215465" y="80307"/>
                    <a:pt x="201152" y="132465"/>
                  </a:cubicBezTo>
                  <a:cubicBezTo>
                    <a:pt x="200634" y="133452"/>
                    <a:pt x="200634" y="134632"/>
                    <a:pt x="201152" y="135619"/>
                  </a:cubicBezTo>
                  <a:cubicBezTo>
                    <a:pt x="201839" y="136759"/>
                    <a:pt x="203101" y="137414"/>
                    <a:pt x="204427" y="137317"/>
                  </a:cubicBezTo>
                  <a:lnTo>
                    <a:pt x="217891" y="137317"/>
                  </a:lnTo>
                  <a:cubicBezTo>
                    <a:pt x="220826" y="137276"/>
                    <a:pt x="223358" y="139387"/>
                    <a:pt x="223835" y="142290"/>
                  </a:cubicBezTo>
                  <a:lnTo>
                    <a:pt x="230021" y="182925"/>
                  </a:lnTo>
                  <a:cubicBezTo>
                    <a:pt x="230360" y="184599"/>
                    <a:pt x="231824" y="185812"/>
                    <a:pt x="233539" y="185836"/>
                  </a:cubicBezTo>
                  <a:lnTo>
                    <a:pt x="255372" y="185836"/>
                  </a:lnTo>
                  <a:cubicBezTo>
                    <a:pt x="257070" y="185771"/>
                    <a:pt x="258510" y="184575"/>
                    <a:pt x="258890" y="182925"/>
                  </a:cubicBezTo>
                  <a:lnTo>
                    <a:pt x="264955" y="142290"/>
                  </a:lnTo>
                  <a:cubicBezTo>
                    <a:pt x="265488" y="139371"/>
                    <a:pt x="268052" y="137268"/>
                    <a:pt x="271020" y="137317"/>
                  </a:cubicBezTo>
                  <a:lnTo>
                    <a:pt x="284241" y="137317"/>
                  </a:lnTo>
                  <a:cubicBezTo>
                    <a:pt x="285373" y="137268"/>
                    <a:pt x="286433" y="136735"/>
                    <a:pt x="287152" y="135861"/>
                  </a:cubicBezTo>
                  <a:cubicBezTo>
                    <a:pt x="287581" y="134899"/>
                    <a:pt x="287581" y="133791"/>
                    <a:pt x="287152" y="132829"/>
                  </a:cubicBezTo>
                  <a:moveTo>
                    <a:pt x="213646" y="34335"/>
                  </a:moveTo>
                  <a:cubicBezTo>
                    <a:pt x="213646" y="51082"/>
                    <a:pt x="227223" y="64659"/>
                    <a:pt x="243970" y="64659"/>
                  </a:cubicBezTo>
                  <a:cubicBezTo>
                    <a:pt x="260717" y="64659"/>
                    <a:pt x="274295" y="51082"/>
                    <a:pt x="274295" y="34335"/>
                  </a:cubicBezTo>
                  <a:cubicBezTo>
                    <a:pt x="274295" y="17588"/>
                    <a:pt x="260717" y="4010"/>
                    <a:pt x="243970" y="4010"/>
                  </a:cubicBezTo>
                  <a:cubicBezTo>
                    <a:pt x="227223" y="4010"/>
                    <a:pt x="213646" y="17588"/>
                    <a:pt x="213646" y="34335"/>
                  </a:cubicBez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85" name="Rounded Rectangle 60">
              <a:extLst>
                <a:ext uri="{FF2B5EF4-FFF2-40B4-BE49-F238E27FC236}">
                  <a16:creationId xmlns:a16="http://schemas.microsoft.com/office/drawing/2014/main" id="{88E7F304-C55C-DB2B-6961-91FBA1017918}"/>
                </a:ext>
              </a:extLst>
            </p:cNvPr>
            <p:cNvSpPr/>
            <p:nvPr/>
          </p:nvSpPr>
          <p:spPr>
            <a:xfrm>
              <a:off x="9118052" y="2281493"/>
              <a:ext cx="266879" cy="285074"/>
            </a:xfrm>
            <a:custGeom>
              <a:avLst/>
              <a:gdLst/>
              <a:ahLst/>
              <a:cxnLst/>
              <a:rect l="0" t="0" r="0" b="0"/>
              <a:pathLst>
                <a:path w="266879" h="285074">
                  <a:moveTo>
                    <a:pt x="242595" y="30324"/>
                  </a:moveTo>
                  <a:lnTo>
                    <a:pt x="218336" y="30324"/>
                  </a:lnTo>
                  <a:cubicBezTo>
                    <a:pt x="216662" y="30324"/>
                    <a:pt x="215303" y="28965"/>
                    <a:pt x="215303" y="27292"/>
                  </a:cubicBezTo>
                  <a:lnTo>
                    <a:pt x="215303" y="12129"/>
                  </a:lnTo>
                  <a:cubicBezTo>
                    <a:pt x="215303" y="5434"/>
                    <a:pt x="209869" y="0"/>
                    <a:pt x="203174" y="0"/>
                  </a:cubicBezTo>
                  <a:cubicBezTo>
                    <a:pt x="196478" y="0"/>
                    <a:pt x="191044" y="5434"/>
                    <a:pt x="191044" y="12129"/>
                  </a:cubicBezTo>
                  <a:lnTo>
                    <a:pt x="191044" y="62589"/>
                  </a:lnTo>
                  <a:cubicBezTo>
                    <a:pt x="191044" y="69285"/>
                    <a:pt x="196478" y="74719"/>
                    <a:pt x="203174" y="74719"/>
                  </a:cubicBezTo>
                  <a:cubicBezTo>
                    <a:pt x="209869" y="74719"/>
                    <a:pt x="215303" y="69285"/>
                    <a:pt x="215303" y="62589"/>
                  </a:cubicBezTo>
                  <a:lnTo>
                    <a:pt x="215303" y="57616"/>
                  </a:lnTo>
                  <a:cubicBezTo>
                    <a:pt x="215303" y="55942"/>
                    <a:pt x="216662" y="54584"/>
                    <a:pt x="218336" y="54584"/>
                  </a:cubicBezTo>
                  <a:lnTo>
                    <a:pt x="236531" y="54584"/>
                  </a:lnTo>
                  <a:cubicBezTo>
                    <a:pt x="239878" y="54584"/>
                    <a:pt x="242595" y="57301"/>
                    <a:pt x="242595" y="60648"/>
                  </a:cubicBezTo>
                  <a:lnTo>
                    <a:pt x="242595" y="188011"/>
                  </a:lnTo>
                  <a:cubicBezTo>
                    <a:pt x="242595" y="191359"/>
                    <a:pt x="239878" y="194076"/>
                    <a:pt x="236531" y="194076"/>
                  </a:cubicBezTo>
                  <a:lnTo>
                    <a:pt x="200141" y="194076"/>
                  </a:lnTo>
                  <a:cubicBezTo>
                    <a:pt x="186742" y="194076"/>
                    <a:pt x="175882" y="204936"/>
                    <a:pt x="175882" y="218336"/>
                  </a:cubicBezTo>
                  <a:lnTo>
                    <a:pt x="175882" y="254725"/>
                  </a:lnTo>
                  <a:cubicBezTo>
                    <a:pt x="175882" y="258073"/>
                    <a:pt x="173164" y="260790"/>
                    <a:pt x="169817" y="260790"/>
                  </a:cubicBezTo>
                  <a:lnTo>
                    <a:pt x="30324" y="260790"/>
                  </a:lnTo>
                  <a:cubicBezTo>
                    <a:pt x="26976" y="260790"/>
                    <a:pt x="24259" y="258073"/>
                    <a:pt x="24259" y="254725"/>
                  </a:cubicBezTo>
                  <a:lnTo>
                    <a:pt x="24259" y="60648"/>
                  </a:lnTo>
                  <a:cubicBezTo>
                    <a:pt x="24259" y="57301"/>
                    <a:pt x="26976" y="54584"/>
                    <a:pt x="30324" y="54584"/>
                  </a:cubicBezTo>
                  <a:lnTo>
                    <a:pt x="42454" y="54584"/>
                  </a:lnTo>
                  <a:cubicBezTo>
                    <a:pt x="44128" y="54584"/>
                    <a:pt x="45486" y="53225"/>
                    <a:pt x="45486" y="51551"/>
                  </a:cubicBezTo>
                  <a:lnTo>
                    <a:pt x="45486" y="33356"/>
                  </a:lnTo>
                  <a:cubicBezTo>
                    <a:pt x="45486" y="31683"/>
                    <a:pt x="44128" y="30324"/>
                    <a:pt x="42454" y="30324"/>
                  </a:cubicBezTo>
                  <a:lnTo>
                    <a:pt x="24259" y="30324"/>
                  </a:lnTo>
                  <a:cubicBezTo>
                    <a:pt x="10860" y="30324"/>
                    <a:pt x="0" y="41184"/>
                    <a:pt x="0" y="54584"/>
                  </a:cubicBezTo>
                  <a:lnTo>
                    <a:pt x="0" y="260790"/>
                  </a:lnTo>
                  <a:cubicBezTo>
                    <a:pt x="0" y="274189"/>
                    <a:pt x="10860" y="285050"/>
                    <a:pt x="24259" y="285050"/>
                  </a:cubicBezTo>
                  <a:lnTo>
                    <a:pt x="188011" y="285050"/>
                  </a:lnTo>
                  <a:cubicBezTo>
                    <a:pt x="191416" y="285074"/>
                    <a:pt x="194675" y="283667"/>
                    <a:pt x="196987" y="281168"/>
                  </a:cubicBezTo>
                  <a:lnTo>
                    <a:pt x="263701" y="208389"/>
                  </a:lnTo>
                  <a:cubicBezTo>
                    <a:pt x="265755" y="206133"/>
                    <a:pt x="266879" y="203190"/>
                    <a:pt x="266855" y="200141"/>
                  </a:cubicBezTo>
                  <a:lnTo>
                    <a:pt x="266855" y="54584"/>
                  </a:lnTo>
                  <a:cubicBezTo>
                    <a:pt x="266855" y="41184"/>
                    <a:pt x="255995" y="30324"/>
                    <a:pt x="242595" y="30324"/>
                  </a:cubicBezTo>
                  <a:moveTo>
                    <a:pt x="136460" y="74719"/>
                  </a:moveTo>
                  <a:cubicBezTo>
                    <a:pt x="129764" y="74719"/>
                    <a:pt x="124330" y="69285"/>
                    <a:pt x="124330" y="62589"/>
                  </a:cubicBezTo>
                  <a:lnTo>
                    <a:pt x="124330" y="12129"/>
                  </a:lnTo>
                  <a:cubicBezTo>
                    <a:pt x="124330" y="5434"/>
                    <a:pt x="129764" y="0"/>
                    <a:pt x="136460" y="0"/>
                  </a:cubicBezTo>
                  <a:cubicBezTo>
                    <a:pt x="143155" y="0"/>
                    <a:pt x="148590" y="5434"/>
                    <a:pt x="148590" y="12129"/>
                  </a:cubicBezTo>
                  <a:lnTo>
                    <a:pt x="148590" y="27292"/>
                  </a:lnTo>
                  <a:cubicBezTo>
                    <a:pt x="148590" y="28965"/>
                    <a:pt x="149948" y="30324"/>
                    <a:pt x="151622" y="30324"/>
                  </a:cubicBezTo>
                  <a:lnTo>
                    <a:pt x="175882" y="30324"/>
                  </a:lnTo>
                  <a:cubicBezTo>
                    <a:pt x="177555" y="30324"/>
                    <a:pt x="178914" y="31683"/>
                    <a:pt x="178914" y="33356"/>
                  </a:cubicBezTo>
                  <a:lnTo>
                    <a:pt x="178914" y="51551"/>
                  </a:lnTo>
                  <a:cubicBezTo>
                    <a:pt x="178914" y="53225"/>
                    <a:pt x="177555" y="54584"/>
                    <a:pt x="175882" y="54584"/>
                  </a:cubicBezTo>
                  <a:lnTo>
                    <a:pt x="151622" y="54584"/>
                  </a:lnTo>
                  <a:cubicBezTo>
                    <a:pt x="149948" y="54584"/>
                    <a:pt x="148590" y="55942"/>
                    <a:pt x="148590" y="57616"/>
                  </a:cubicBezTo>
                  <a:lnTo>
                    <a:pt x="148590" y="62589"/>
                  </a:lnTo>
                  <a:cubicBezTo>
                    <a:pt x="148590" y="69285"/>
                    <a:pt x="143155" y="74719"/>
                    <a:pt x="136460" y="74719"/>
                  </a:cubicBezTo>
                  <a:moveTo>
                    <a:pt x="69746" y="74719"/>
                  </a:moveTo>
                  <a:cubicBezTo>
                    <a:pt x="63050" y="74719"/>
                    <a:pt x="57616" y="69285"/>
                    <a:pt x="57616" y="62589"/>
                  </a:cubicBezTo>
                  <a:lnTo>
                    <a:pt x="57616" y="12129"/>
                  </a:lnTo>
                  <a:cubicBezTo>
                    <a:pt x="57616" y="5434"/>
                    <a:pt x="63050" y="0"/>
                    <a:pt x="69746" y="0"/>
                  </a:cubicBezTo>
                  <a:cubicBezTo>
                    <a:pt x="76441" y="0"/>
                    <a:pt x="81876" y="5434"/>
                    <a:pt x="81876" y="12129"/>
                  </a:cubicBezTo>
                  <a:lnTo>
                    <a:pt x="81876" y="27292"/>
                  </a:lnTo>
                  <a:cubicBezTo>
                    <a:pt x="81876" y="28965"/>
                    <a:pt x="83234" y="30324"/>
                    <a:pt x="84908" y="30324"/>
                  </a:cubicBezTo>
                  <a:lnTo>
                    <a:pt x="109168" y="30324"/>
                  </a:lnTo>
                  <a:cubicBezTo>
                    <a:pt x="110842" y="30324"/>
                    <a:pt x="112200" y="31683"/>
                    <a:pt x="112200" y="33356"/>
                  </a:cubicBezTo>
                  <a:lnTo>
                    <a:pt x="112200" y="51551"/>
                  </a:lnTo>
                  <a:cubicBezTo>
                    <a:pt x="112200" y="53225"/>
                    <a:pt x="110842" y="54584"/>
                    <a:pt x="109168" y="54584"/>
                  </a:cubicBezTo>
                  <a:lnTo>
                    <a:pt x="84908" y="54584"/>
                  </a:lnTo>
                  <a:cubicBezTo>
                    <a:pt x="83234" y="54584"/>
                    <a:pt x="81876" y="55942"/>
                    <a:pt x="81876" y="57616"/>
                  </a:cubicBezTo>
                  <a:lnTo>
                    <a:pt x="81876" y="62589"/>
                  </a:lnTo>
                  <a:cubicBezTo>
                    <a:pt x="81876" y="69285"/>
                    <a:pt x="76441" y="74719"/>
                    <a:pt x="69746" y="74719"/>
                  </a:cubicBezTo>
                  <a:moveTo>
                    <a:pt x="70231" y="148104"/>
                  </a:moveTo>
                  <a:lnTo>
                    <a:pt x="52036" y="130395"/>
                  </a:lnTo>
                  <a:cubicBezTo>
                    <a:pt x="47144" y="125640"/>
                    <a:pt x="47039" y="117820"/>
                    <a:pt x="51794" y="112928"/>
                  </a:cubicBezTo>
                  <a:cubicBezTo>
                    <a:pt x="56549" y="108044"/>
                    <a:pt x="64368" y="107930"/>
                    <a:pt x="69261" y="112685"/>
                  </a:cubicBezTo>
                  <a:lnTo>
                    <a:pt x="78843" y="122389"/>
                  </a:lnTo>
                  <a:lnTo>
                    <a:pt x="106620" y="94005"/>
                  </a:lnTo>
                  <a:cubicBezTo>
                    <a:pt x="111513" y="89251"/>
                    <a:pt x="119332" y="89364"/>
                    <a:pt x="124087" y="94248"/>
                  </a:cubicBezTo>
                  <a:cubicBezTo>
                    <a:pt x="128842" y="99140"/>
                    <a:pt x="128737" y="106960"/>
                    <a:pt x="123845" y="111715"/>
                  </a:cubicBezTo>
                  <a:lnTo>
                    <a:pt x="87455" y="148104"/>
                  </a:lnTo>
                  <a:cubicBezTo>
                    <a:pt x="85175" y="150401"/>
                    <a:pt x="82078" y="151695"/>
                    <a:pt x="78843" y="151695"/>
                  </a:cubicBezTo>
                  <a:cubicBezTo>
                    <a:pt x="75609" y="151695"/>
                    <a:pt x="72511" y="150401"/>
                    <a:pt x="70231" y="148104"/>
                  </a:cubicBezTo>
                  <a:moveTo>
                    <a:pt x="70231" y="215303"/>
                  </a:moveTo>
                  <a:lnTo>
                    <a:pt x="52036" y="196138"/>
                  </a:lnTo>
                  <a:cubicBezTo>
                    <a:pt x="47281" y="191383"/>
                    <a:pt x="47281" y="183669"/>
                    <a:pt x="52036" y="178914"/>
                  </a:cubicBezTo>
                  <a:cubicBezTo>
                    <a:pt x="56791" y="174159"/>
                    <a:pt x="64506" y="174159"/>
                    <a:pt x="69261" y="178914"/>
                  </a:cubicBezTo>
                  <a:lnTo>
                    <a:pt x="78843" y="189103"/>
                  </a:lnTo>
                  <a:lnTo>
                    <a:pt x="106620" y="161690"/>
                  </a:lnTo>
                  <a:cubicBezTo>
                    <a:pt x="111375" y="156935"/>
                    <a:pt x="119090" y="156935"/>
                    <a:pt x="123845" y="161690"/>
                  </a:cubicBezTo>
                  <a:cubicBezTo>
                    <a:pt x="128600" y="166445"/>
                    <a:pt x="128600" y="174159"/>
                    <a:pt x="123845" y="178914"/>
                  </a:cubicBezTo>
                  <a:lnTo>
                    <a:pt x="87455" y="215303"/>
                  </a:lnTo>
                  <a:cubicBezTo>
                    <a:pt x="85175" y="217600"/>
                    <a:pt x="82078" y="218894"/>
                    <a:pt x="78843" y="218894"/>
                  </a:cubicBezTo>
                  <a:cubicBezTo>
                    <a:pt x="75609" y="218894"/>
                    <a:pt x="72511" y="217600"/>
                    <a:pt x="70231" y="215303"/>
                  </a:cubicBezTo>
                  <a:moveTo>
                    <a:pt x="145557" y="127362"/>
                  </a:moveTo>
                  <a:cubicBezTo>
                    <a:pt x="145557" y="120667"/>
                    <a:pt x="150991" y="115233"/>
                    <a:pt x="157687" y="115233"/>
                  </a:cubicBezTo>
                  <a:lnTo>
                    <a:pt x="206206" y="115233"/>
                  </a:lnTo>
                  <a:cubicBezTo>
                    <a:pt x="212902" y="115233"/>
                    <a:pt x="218336" y="120667"/>
                    <a:pt x="218336" y="127362"/>
                  </a:cubicBezTo>
                  <a:cubicBezTo>
                    <a:pt x="218336" y="134058"/>
                    <a:pt x="212902" y="139492"/>
                    <a:pt x="206206" y="139492"/>
                  </a:cubicBezTo>
                  <a:lnTo>
                    <a:pt x="157687" y="139492"/>
                  </a:lnTo>
                  <a:cubicBezTo>
                    <a:pt x="150991" y="139492"/>
                    <a:pt x="145557" y="134058"/>
                    <a:pt x="145557" y="127362"/>
                  </a:cubicBez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86" name="Rounded Rectangle 61">
              <a:extLst>
                <a:ext uri="{FF2B5EF4-FFF2-40B4-BE49-F238E27FC236}">
                  <a16:creationId xmlns:a16="http://schemas.microsoft.com/office/drawing/2014/main" id="{C3C5F4FD-7CED-B01E-C9EC-69642E6E9046}"/>
                </a:ext>
              </a:extLst>
            </p:cNvPr>
            <p:cNvSpPr/>
            <p:nvPr/>
          </p:nvSpPr>
          <p:spPr>
            <a:xfrm>
              <a:off x="9105923" y="3150989"/>
              <a:ext cx="290751" cy="293718"/>
            </a:xfrm>
            <a:custGeom>
              <a:avLst/>
              <a:gdLst/>
              <a:ahLst/>
              <a:cxnLst/>
              <a:rect l="0" t="0" r="0" b="0"/>
              <a:pathLst>
                <a:path w="290751" h="293718">
                  <a:moveTo>
                    <a:pt x="257151" y="112410"/>
                  </a:moveTo>
                  <a:lnTo>
                    <a:pt x="254725" y="112410"/>
                  </a:lnTo>
                  <a:lnTo>
                    <a:pt x="232892" y="62436"/>
                  </a:lnTo>
                  <a:cubicBezTo>
                    <a:pt x="245321" y="53880"/>
                    <a:pt x="250617" y="38152"/>
                    <a:pt x="245895" y="23822"/>
                  </a:cubicBezTo>
                  <a:cubicBezTo>
                    <a:pt x="241172" y="9493"/>
                    <a:pt x="227563" y="0"/>
                    <a:pt x="212481" y="509"/>
                  </a:cubicBezTo>
                  <a:cubicBezTo>
                    <a:pt x="197400" y="1026"/>
                    <a:pt x="184469" y="11426"/>
                    <a:pt x="180733" y="26046"/>
                  </a:cubicBezTo>
                  <a:lnTo>
                    <a:pt x="110138" y="26046"/>
                  </a:lnTo>
                  <a:cubicBezTo>
                    <a:pt x="106281" y="11507"/>
                    <a:pt x="93326" y="1237"/>
                    <a:pt x="78293" y="800"/>
                  </a:cubicBezTo>
                  <a:cubicBezTo>
                    <a:pt x="63260" y="363"/>
                    <a:pt x="49732" y="9865"/>
                    <a:pt x="45041" y="24154"/>
                  </a:cubicBezTo>
                  <a:cubicBezTo>
                    <a:pt x="40351" y="38443"/>
                    <a:pt x="45616" y="54123"/>
                    <a:pt x="57980" y="62678"/>
                  </a:cubicBezTo>
                  <a:lnTo>
                    <a:pt x="36389" y="112532"/>
                  </a:lnTo>
                  <a:lnTo>
                    <a:pt x="33963" y="112532"/>
                  </a:lnTo>
                  <a:cubicBezTo>
                    <a:pt x="15202" y="112532"/>
                    <a:pt x="0" y="127734"/>
                    <a:pt x="0" y="146495"/>
                  </a:cubicBezTo>
                  <a:cubicBezTo>
                    <a:pt x="0" y="165256"/>
                    <a:pt x="15202" y="180459"/>
                    <a:pt x="33963" y="180459"/>
                  </a:cubicBezTo>
                  <a:lnTo>
                    <a:pt x="36389" y="180459"/>
                  </a:lnTo>
                  <a:lnTo>
                    <a:pt x="58223" y="230312"/>
                  </a:lnTo>
                  <a:cubicBezTo>
                    <a:pt x="45907" y="238803"/>
                    <a:pt x="40594" y="254353"/>
                    <a:pt x="45147" y="268602"/>
                  </a:cubicBezTo>
                  <a:cubicBezTo>
                    <a:pt x="49691" y="282850"/>
                    <a:pt x="63026" y="292449"/>
                    <a:pt x="77986" y="292231"/>
                  </a:cubicBezTo>
                  <a:cubicBezTo>
                    <a:pt x="92946" y="292020"/>
                    <a:pt x="105998" y="282050"/>
                    <a:pt x="110138" y="267672"/>
                  </a:cubicBezTo>
                  <a:lnTo>
                    <a:pt x="181097" y="267672"/>
                  </a:lnTo>
                  <a:cubicBezTo>
                    <a:pt x="184833" y="282292"/>
                    <a:pt x="197764" y="292691"/>
                    <a:pt x="212845" y="293209"/>
                  </a:cubicBezTo>
                  <a:cubicBezTo>
                    <a:pt x="227926" y="293718"/>
                    <a:pt x="241536" y="284225"/>
                    <a:pt x="246259" y="269896"/>
                  </a:cubicBezTo>
                  <a:cubicBezTo>
                    <a:pt x="250981" y="255566"/>
                    <a:pt x="245684" y="239838"/>
                    <a:pt x="233255" y="231282"/>
                  </a:cubicBezTo>
                  <a:lnTo>
                    <a:pt x="254725" y="180216"/>
                  </a:lnTo>
                  <a:lnTo>
                    <a:pt x="256787" y="180216"/>
                  </a:lnTo>
                  <a:cubicBezTo>
                    <a:pt x="275548" y="180216"/>
                    <a:pt x="290751" y="165013"/>
                    <a:pt x="290751" y="146252"/>
                  </a:cubicBezTo>
                  <a:cubicBezTo>
                    <a:pt x="290751" y="127492"/>
                    <a:pt x="275548" y="112289"/>
                    <a:pt x="256787" y="112289"/>
                  </a:cubicBezTo>
                  <a:moveTo>
                    <a:pt x="237865" y="118475"/>
                  </a:moveTo>
                  <a:cubicBezTo>
                    <a:pt x="231307" y="122963"/>
                    <a:pt x="226544" y="129627"/>
                    <a:pt x="224401" y="137276"/>
                  </a:cubicBezTo>
                  <a:lnTo>
                    <a:pt x="178308" y="137276"/>
                  </a:lnTo>
                  <a:cubicBezTo>
                    <a:pt x="176868" y="132174"/>
                    <a:pt x="174248" y="127476"/>
                    <a:pt x="170666" y="123570"/>
                  </a:cubicBezTo>
                  <a:lnTo>
                    <a:pt x="201839" y="66560"/>
                  </a:lnTo>
                  <a:cubicBezTo>
                    <a:pt x="205705" y="68048"/>
                    <a:pt x="209821" y="68792"/>
                    <a:pt x="213969" y="68743"/>
                  </a:cubicBezTo>
                  <a:lnTo>
                    <a:pt x="216274" y="68743"/>
                  </a:lnTo>
                  <a:lnTo>
                    <a:pt x="237865" y="118475"/>
                  </a:lnTo>
                  <a:moveTo>
                    <a:pt x="181097" y="248871"/>
                  </a:moveTo>
                  <a:lnTo>
                    <a:pt x="110138" y="248871"/>
                  </a:lnTo>
                  <a:cubicBezTo>
                    <a:pt x="108674" y="243962"/>
                    <a:pt x="106200" y="239417"/>
                    <a:pt x="102860" y="235528"/>
                  </a:cubicBezTo>
                  <a:lnTo>
                    <a:pt x="135368" y="178760"/>
                  </a:lnTo>
                  <a:cubicBezTo>
                    <a:pt x="138667" y="179787"/>
                    <a:pt x="142104" y="180313"/>
                    <a:pt x="145557" y="180337"/>
                  </a:cubicBezTo>
                  <a:cubicBezTo>
                    <a:pt x="148848" y="180345"/>
                    <a:pt x="152115" y="179860"/>
                    <a:pt x="155261" y="178882"/>
                  </a:cubicBezTo>
                  <a:lnTo>
                    <a:pt x="187041" y="236983"/>
                  </a:lnTo>
                  <a:cubicBezTo>
                    <a:pt x="184324" y="240533"/>
                    <a:pt x="182310" y="244569"/>
                    <a:pt x="181097" y="248871"/>
                  </a:cubicBezTo>
                  <a:moveTo>
                    <a:pt x="110138" y="43877"/>
                  </a:moveTo>
                  <a:lnTo>
                    <a:pt x="181097" y="43877"/>
                  </a:lnTo>
                  <a:cubicBezTo>
                    <a:pt x="182278" y="48268"/>
                    <a:pt x="184300" y="52384"/>
                    <a:pt x="187041" y="56007"/>
                  </a:cubicBezTo>
                  <a:lnTo>
                    <a:pt x="155261" y="113866"/>
                  </a:lnTo>
                  <a:cubicBezTo>
                    <a:pt x="152115" y="112887"/>
                    <a:pt x="148848" y="112402"/>
                    <a:pt x="145557" y="112410"/>
                  </a:cubicBezTo>
                  <a:cubicBezTo>
                    <a:pt x="142104" y="112435"/>
                    <a:pt x="138667" y="112960"/>
                    <a:pt x="135368" y="113987"/>
                  </a:cubicBezTo>
                  <a:lnTo>
                    <a:pt x="102860" y="57220"/>
                  </a:lnTo>
                  <a:cubicBezTo>
                    <a:pt x="106200" y="53330"/>
                    <a:pt x="108674" y="48786"/>
                    <a:pt x="110138" y="43877"/>
                  </a:cubicBezTo>
                  <a:moveTo>
                    <a:pt x="75204" y="68137"/>
                  </a:moveTo>
                  <a:lnTo>
                    <a:pt x="77388" y="68137"/>
                  </a:lnTo>
                  <a:cubicBezTo>
                    <a:pt x="80841" y="68112"/>
                    <a:pt x="84277" y="67587"/>
                    <a:pt x="87577" y="66560"/>
                  </a:cubicBezTo>
                  <a:lnTo>
                    <a:pt x="120084" y="123934"/>
                  </a:lnTo>
                  <a:cubicBezTo>
                    <a:pt x="116712" y="127799"/>
                    <a:pt x="114230" y="132352"/>
                    <a:pt x="112807" y="137276"/>
                  </a:cubicBezTo>
                  <a:lnTo>
                    <a:pt x="66713" y="137276"/>
                  </a:lnTo>
                  <a:cubicBezTo>
                    <a:pt x="64554" y="129659"/>
                    <a:pt x="59848" y="123020"/>
                    <a:pt x="53371" y="118475"/>
                  </a:cubicBezTo>
                  <a:lnTo>
                    <a:pt x="75204" y="68137"/>
                  </a:lnTo>
                  <a:moveTo>
                    <a:pt x="53371" y="174272"/>
                  </a:moveTo>
                  <a:cubicBezTo>
                    <a:pt x="59864" y="169744"/>
                    <a:pt x="64587" y="163097"/>
                    <a:pt x="66713" y="155471"/>
                  </a:cubicBezTo>
                  <a:lnTo>
                    <a:pt x="112807" y="155471"/>
                  </a:lnTo>
                  <a:cubicBezTo>
                    <a:pt x="114230" y="160396"/>
                    <a:pt x="116712" y="164949"/>
                    <a:pt x="120084" y="168814"/>
                  </a:cubicBezTo>
                  <a:lnTo>
                    <a:pt x="87577" y="225581"/>
                  </a:lnTo>
                  <a:cubicBezTo>
                    <a:pt x="84277" y="224554"/>
                    <a:pt x="80841" y="224029"/>
                    <a:pt x="77388" y="224004"/>
                  </a:cubicBezTo>
                  <a:lnTo>
                    <a:pt x="75204" y="224004"/>
                  </a:lnTo>
                  <a:lnTo>
                    <a:pt x="53371" y="174272"/>
                  </a:lnTo>
                  <a:moveTo>
                    <a:pt x="216031" y="224126"/>
                  </a:moveTo>
                  <a:lnTo>
                    <a:pt x="213727" y="224126"/>
                  </a:lnTo>
                  <a:cubicBezTo>
                    <a:pt x="209578" y="224077"/>
                    <a:pt x="205462" y="224821"/>
                    <a:pt x="201597" y="226309"/>
                  </a:cubicBezTo>
                  <a:lnTo>
                    <a:pt x="170423" y="169299"/>
                  </a:lnTo>
                  <a:cubicBezTo>
                    <a:pt x="174005" y="165393"/>
                    <a:pt x="176626" y="160695"/>
                    <a:pt x="178065" y="155592"/>
                  </a:cubicBezTo>
                  <a:lnTo>
                    <a:pt x="224158" y="155592"/>
                  </a:lnTo>
                  <a:cubicBezTo>
                    <a:pt x="226301" y="163242"/>
                    <a:pt x="231064" y="169906"/>
                    <a:pt x="237622" y="174394"/>
                  </a:cubicBezTo>
                  <a:lnTo>
                    <a:pt x="216031" y="224126"/>
                  </a:lnTo>
                </a:path>
              </a:pathLst>
            </a:custGeom>
            <a:solidFill>
              <a:srgbClr val="142D5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87" name="TextBox 17786">
              <a:extLst>
                <a:ext uri="{FF2B5EF4-FFF2-40B4-BE49-F238E27FC236}">
                  <a16:creationId xmlns:a16="http://schemas.microsoft.com/office/drawing/2014/main" id="{DF2C0718-45A6-1C30-3378-90FEC94D0FF9}"/>
                </a:ext>
              </a:extLst>
            </p:cNvPr>
            <p:cNvSpPr txBox="1"/>
            <p:nvPr/>
          </p:nvSpPr>
          <p:spPr>
            <a:xfrm>
              <a:off x="9508422" y="3200325"/>
              <a:ext cx="1843627" cy="194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047857"/>
                  </a:solidFill>
                  <a:latin typeface="STIX Two Text"/>
                </a:rPr>
                <a:t>Cooperative Societies</a:t>
              </a:r>
            </a:p>
          </p:txBody>
        </p:sp>
        <p:grpSp>
          <p:nvGrpSpPr>
            <p:cNvPr id="17788" name="Group 17787">
              <a:extLst>
                <a:ext uri="{FF2B5EF4-FFF2-40B4-BE49-F238E27FC236}">
                  <a16:creationId xmlns:a16="http://schemas.microsoft.com/office/drawing/2014/main" id="{4BD5A6A6-16E0-A08F-3A42-8C6CC83A537A}"/>
                </a:ext>
              </a:extLst>
            </p:cNvPr>
            <p:cNvGrpSpPr/>
            <p:nvPr/>
          </p:nvGrpSpPr>
          <p:grpSpPr>
            <a:xfrm>
              <a:off x="9508421" y="2618095"/>
              <a:ext cx="1954611" cy="291114"/>
              <a:chOff x="3360179" y="2345094"/>
              <a:chExt cx="1954611" cy="291114"/>
            </a:xfrm>
          </p:grpSpPr>
          <p:sp>
            <p:nvSpPr>
              <p:cNvPr id="17789" name="TextBox 17788">
                <a:extLst>
                  <a:ext uri="{FF2B5EF4-FFF2-40B4-BE49-F238E27FC236}">
                    <a16:creationId xmlns:a16="http://schemas.microsoft.com/office/drawing/2014/main" id="{F5716571-1CDA-CFA5-3E4C-F70CEAF71441}"/>
                  </a:ext>
                </a:extLst>
              </p:cNvPr>
              <p:cNvSpPr txBox="1"/>
              <p:nvPr/>
            </p:nvSpPr>
            <p:spPr>
              <a:xfrm>
                <a:off x="3360179" y="2345094"/>
                <a:ext cx="2247802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12,000+ household and institutional</a:t>
                </a:r>
              </a:p>
            </p:txBody>
          </p:sp>
          <p:sp>
            <p:nvSpPr>
              <p:cNvPr id="17790" name="TextBox 17789">
                <a:extLst>
                  <a:ext uri="{FF2B5EF4-FFF2-40B4-BE49-F238E27FC236}">
                    <a16:creationId xmlns:a16="http://schemas.microsoft.com/office/drawing/2014/main" id="{ADF31873-DAE5-0BA5-5DD9-AEA5A2156282}"/>
                  </a:ext>
                </a:extLst>
              </p:cNvPr>
              <p:cNvSpPr txBox="1"/>
              <p:nvPr/>
            </p:nvSpPr>
            <p:spPr>
              <a:xfrm>
                <a:off x="3360179" y="2490651"/>
                <a:ext cx="2247802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bookings completed</a:t>
                </a:r>
              </a:p>
            </p:txBody>
          </p:sp>
        </p:grpSp>
        <p:sp>
          <p:nvSpPr>
            <p:cNvPr id="17791" name="TextBox 17790">
              <a:extLst>
                <a:ext uri="{FF2B5EF4-FFF2-40B4-BE49-F238E27FC236}">
                  <a16:creationId xmlns:a16="http://schemas.microsoft.com/office/drawing/2014/main" id="{B544BEF2-8486-0811-12B4-5482C6E91FC6}"/>
                </a:ext>
              </a:extLst>
            </p:cNvPr>
            <p:cNvSpPr txBox="1"/>
            <p:nvPr/>
          </p:nvSpPr>
          <p:spPr>
            <a:xfrm>
              <a:off x="9508422" y="2326980"/>
              <a:ext cx="1289841" cy="194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047857"/>
                  </a:solidFill>
                  <a:latin typeface="STIX Two Text"/>
                </a:rPr>
                <a:t>Total Bookings</a:t>
              </a:r>
            </a:p>
          </p:txBody>
        </p:sp>
        <p:grpSp>
          <p:nvGrpSpPr>
            <p:cNvPr id="17792" name="Group 17791">
              <a:extLst>
                <a:ext uri="{FF2B5EF4-FFF2-40B4-BE49-F238E27FC236}">
                  <a16:creationId xmlns:a16="http://schemas.microsoft.com/office/drawing/2014/main" id="{6884A3FD-CDCB-2C70-4168-9989FF95F577}"/>
                </a:ext>
              </a:extLst>
            </p:cNvPr>
            <p:cNvGrpSpPr/>
            <p:nvPr/>
          </p:nvGrpSpPr>
          <p:grpSpPr>
            <a:xfrm>
              <a:off x="9508421" y="1744749"/>
              <a:ext cx="2227637" cy="291114"/>
              <a:chOff x="3360179" y="1471748"/>
              <a:chExt cx="2227637" cy="291114"/>
            </a:xfrm>
          </p:grpSpPr>
          <p:sp>
            <p:nvSpPr>
              <p:cNvPr id="17793" name="TextBox 17792">
                <a:extLst>
                  <a:ext uri="{FF2B5EF4-FFF2-40B4-BE49-F238E27FC236}">
                    <a16:creationId xmlns:a16="http://schemas.microsoft.com/office/drawing/2014/main" id="{204CF139-5676-5ECA-752B-78D755C6EB9C}"/>
                  </a:ext>
                </a:extLst>
              </p:cNvPr>
              <p:cNvSpPr txBox="1"/>
              <p:nvPr/>
            </p:nvSpPr>
            <p:spPr>
              <a:xfrm>
                <a:off x="3360179" y="1471748"/>
                <a:ext cx="2561782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1,500+ verified workers onboarded to the</a:t>
                </a:r>
              </a:p>
            </p:txBody>
          </p:sp>
          <p:sp>
            <p:nvSpPr>
              <p:cNvPr id="17794" name="TextBox 17793">
                <a:extLst>
                  <a:ext uri="{FF2B5EF4-FFF2-40B4-BE49-F238E27FC236}">
                    <a16:creationId xmlns:a16="http://schemas.microsoft.com/office/drawing/2014/main" id="{0A1BA571-A98E-1E7A-E5C7-762CD7501F94}"/>
                  </a:ext>
                </a:extLst>
              </p:cNvPr>
              <p:cNvSpPr txBox="1"/>
              <p:nvPr/>
            </p:nvSpPr>
            <p:spPr>
              <a:xfrm>
                <a:off x="3360179" y="1617305"/>
                <a:ext cx="2561782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platform</a:t>
                </a:r>
              </a:p>
            </p:txBody>
          </p:sp>
        </p:grpSp>
        <p:grpSp>
          <p:nvGrpSpPr>
            <p:cNvPr id="17795" name="Group 17794">
              <a:extLst>
                <a:ext uri="{FF2B5EF4-FFF2-40B4-BE49-F238E27FC236}">
                  <a16:creationId xmlns:a16="http://schemas.microsoft.com/office/drawing/2014/main" id="{FC6BC8D9-A63E-6B41-5F02-AA96828E9A49}"/>
                </a:ext>
              </a:extLst>
            </p:cNvPr>
            <p:cNvGrpSpPr/>
            <p:nvPr/>
          </p:nvGrpSpPr>
          <p:grpSpPr>
            <a:xfrm>
              <a:off x="9508421" y="3491440"/>
              <a:ext cx="2378960" cy="291114"/>
              <a:chOff x="3360179" y="3218439"/>
              <a:chExt cx="2378960" cy="291114"/>
            </a:xfrm>
          </p:grpSpPr>
          <p:sp>
            <p:nvSpPr>
              <p:cNvPr id="17796" name="TextBox 17795">
                <a:extLst>
                  <a:ext uri="{FF2B5EF4-FFF2-40B4-BE49-F238E27FC236}">
                    <a16:creationId xmlns:a16="http://schemas.microsoft.com/office/drawing/2014/main" id="{3A62F934-914C-491A-3A15-EF0F71752A24}"/>
                  </a:ext>
                </a:extLst>
              </p:cNvPr>
              <p:cNvSpPr txBox="1"/>
              <p:nvPr/>
            </p:nvSpPr>
            <p:spPr>
              <a:xfrm>
                <a:off x="3360179" y="3218439"/>
                <a:ext cx="2735804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 dirty="0">
                    <a:solidFill>
                      <a:srgbClr val="142D52"/>
                    </a:solidFill>
                    <a:latin typeface="Roboto"/>
                  </a:rPr>
                  <a:t>48+ </a:t>
                </a:r>
                <a:r>
                  <a:rPr sz="900" b="0" dirty="0" err="1">
                    <a:solidFill>
                      <a:srgbClr val="142D52"/>
                    </a:solidFill>
                    <a:latin typeface="Roboto"/>
                  </a:rPr>
                  <a:t>labour</a:t>
                </a:r>
                <a:r>
                  <a:rPr sz="900" b="0" dirty="0">
                    <a:solidFill>
                      <a:srgbClr val="142D52"/>
                    </a:solidFill>
                    <a:latin typeface="Roboto"/>
                  </a:rPr>
                  <a:t> cooperative societies connected</a:t>
                </a:r>
              </a:p>
            </p:txBody>
          </p:sp>
          <p:sp>
            <p:nvSpPr>
              <p:cNvPr id="17797" name="TextBox 17796">
                <a:extLst>
                  <a:ext uri="{FF2B5EF4-FFF2-40B4-BE49-F238E27FC236}">
                    <a16:creationId xmlns:a16="http://schemas.microsoft.com/office/drawing/2014/main" id="{28C91600-6D1A-C0AD-1397-F311F826415B}"/>
                  </a:ext>
                </a:extLst>
              </p:cNvPr>
              <p:cNvSpPr txBox="1"/>
              <p:nvPr/>
            </p:nvSpPr>
            <p:spPr>
              <a:xfrm>
                <a:off x="3360179" y="3363996"/>
                <a:ext cx="2735804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to the network</a:t>
                </a:r>
              </a:p>
            </p:txBody>
          </p:sp>
        </p:grpSp>
        <p:sp>
          <p:nvSpPr>
            <p:cNvPr id="17798" name="TextBox 17797">
              <a:extLst>
                <a:ext uri="{FF2B5EF4-FFF2-40B4-BE49-F238E27FC236}">
                  <a16:creationId xmlns:a16="http://schemas.microsoft.com/office/drawing/2014/main" id="{BA2FC0C0-BECD-E85D-C52A-2FA061FC3BC3}"/>
                </a:ext>
              </a:extLst>
            </p:cNvPr>
            <p:cNvSpPr txBox="1"/>
            <p:nvPr/>
          </p:nvSpPr>
          <p:spPr>
            <a:xfrm>
              <a:off x="9508422" y="1453634"/>
              <a:ext cx="1471070" cy="194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 dirty="0">
                  <a:solidFill>
                    <a:srgbClr val="047857"/>
                  </a:solidFill>
                  <a:latin typeface="STIX Two Text"/>
                </a:rPr>
                <a:t>Verified Workers</a:t>
              </a:r>
            </a:p>
          </p:txBody>
        </p:sp>
        <p:grpSp>
          <p:nvGrpSpPr>
            <p:cNvPr id="17799" name="Group 17798">
              <a:extLst>
                <a:ext uri="{FF2B5EF4-FFF2-40B4-BE49-F238E27FC236}">
                  <a16:creationId xmlns:a16="http://schemas.microsoft.com/office/drawing/2014/main" id="{E7F302AF-F1B8-B23C-57DB-6BC0F51651AF}"/>
                </a:ext>
              </a:extLst>
            </p:cNvPr>
            <p:cNvGrpSpPr/>
            <p:nvPr/>
          </p:nvGrpSpPr>
          <p:grpSpPr>
            <a:xfrm>
              <a:off x="9508421" y="5238130"/>
              <a:ext cx="2271304" cy="291114"/>
              <a:chOff x="3360179" y="4965129"/>
              <a:chExt cx="2271304" cy="291114"/>
            </a:xfrm>
          </p:grpSpPr>
          <p:sp>
            <p:nvSpPr>
              <p:cNvPr id="17800" name="TextBox 17799">
                <a:extLst>
                  <a:ext uri="{FF2B5EF4-FFF2-40B4-BE49-F238E27FC236}">
                    <a16:creationId xmlns:a16="http://schemas.microsoft.com/office/drawing/2014/main" id="{A1379943-36A1-0616-6FDE-F5D5CB8A3E71}"/>
                  </a:ext>
                </a:extLst>
              </p:cNvPr>
              <p:cNvSpPr txBox="1"/>
              <p:nvPr/>
            </p:nvSpPr>
            <p:spPr>
              <a:xfrm>
                <a:off x="3360179" y="4965129"/>
                <a:ext cx="2611999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 dirty="0">
                    <a:solidFill>
                      <a:srgbClr val="142D52"/>
                    </a:solidFill>
                    <a:latin typeface="Roboto"/>
                  </a:rPr>
                  <a:t>&lt;30 min emergency dispatch service level</a:t>
                </a:r>
              </a:p>
            </p:txBody>
          </p:sp>
          <p:sp>
            <p:nvSpPr>
              <p:cNvPr id="17801" name="TextBox 17800">
                <a:extLst>
                  <a:ext uri="{FF2B5EF4-FFF2-40B4-BE49-F238E27FC236}">
                    <a16:creationId xmlns:a16="http://schemas.microsoft.com/office/drawing/2014/main" id="{09032487-94B2-8E88-E2C4-03AEEC8CA6E5}"/>
                  </a:ext>
                </a:extLst>
              </p:cNvPr>
              <p:cNvSpPr txBox="1"/>
              <p:nvPr/>
            </p:nvSpPr>
            <p:spPr>
              <a:xfrm>
                <a:off x="3360179" y="5110686"/>
                <a:ext cx="2611999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 dirty="0">
                    <a:solidFill>
                      <a:srgbClr val="142D52"/>
                    </a:solidFill>
                    <a:latin typeface="Roboto"/>
                  </a:rPr>
                  <a:t>agreement</a:t>
                </a:r>
              </a:p>
            </p:txBody>
          </p:sp>
        </p:grpSp>
        <p:grpSp>
          <p:nvGrpSpPr>
            <p:cNvPr id="17802" name="Group 17801">
              <a:extLst>
                <a:ext uri="{FF2B5EF4-FFF2-40B4-BE49-F238E27FC236}">
                  <a16:creationId xmlns:a16="http://schemas.microsoft.com/office/drawing/2014/main" id="{4A6E3D2A-248F-86D1-6EA1-9BEBD9EE79C2}"/>
                </a:ext>
              </a:extLst>
            </p:cNvPr>
            <p:cNvGrpSpPr/>
            <p:nvPr/>
          </p:nvGrpSpPr>
          <p:grpSpPr>
            <a:xfrm>
              <a:off x="9508421" y="4364785"/>
              <a:ext cx="2039932" cy="291114"/>
              <a:chOff x="3360179" y="4091784"/>
              <a:chExt cx="2039932" cy="291114"/>
            </a:xfrm>
          </p:grpSpPr>
          <p:sp>
            <p:nvSpPr>
              <p:cNvPr id="17803" name="TextBox 17802">
                <a:extLst>
                  <a:ext uri="{FF2B5EF4-FFF2-40B4-BE49-F238E27FC236}">
                    <a16:creationId xmlns:a16="http://schemas.microsoft.com/office/drawing/2014/main" id="{26E71B6A-2B43-F5E2-EBA2-E69B8ACEC15C}"/>
                  </a:ext>
                </a:extLst>
              </p:cNvPr>
              <p:cNvSpPr txBox="1"/>
              <p:nvPr/>
            </p:nvSpPr>
            <p:spPr>
              <a:xfrm>
                <a:off x="3360179" y="4091784"/>
                <a:ext cx="2345921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₹15+ lakhs accident and welfare fund</a:t>
                </a:r>
              </a:p>
            </p:txBody>
          </p:sp>
          <p:sp>
            <p:nvSpPr>
              <p:cNvPr id="17804" name="TextBox 17803">
                <a:extLst>
                  <a:ext uri="{FF2B5EF4-FFF2-40B4-BE49-F238E27FC236}">
                    <a16:creationId xmlns:a16="http://schemas.microsoft.com/office/drawing/2014/main" id="{191C6169-8B90-E4E8-397D-54B49F1F53CB}"/>
                  </a:ext>
                </a:extLst>
              </p:cNvPr>
              <p:cNvSpPr txBox="1"/>
              <p:nvPr/>
            </p:nvSpPr>
            <p:spPr>
              <a:xfrm>
                <a:off x="3360179" y="4237341"/>
                <a:ext cx="2345921" cy="145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>
                <a:noAutofit/>
              </a:bodyPr>
              <a:lstStyle/>
              <a:p>
                <a:pPr algn="l"/>
                <a:r>
                  <a:rPr sz="900" b="0">
                    <a:solidFill>
                      <a:srgbClr val="142D52"/>
                    </a:solidFill>
                    <a:latin typeface="Roboto"/>
                  </a:rPr>
                  <a:t>corpus generated</a:t>
                </a:r>
              </a:p>
            </p:txBody>
          </p:sp>
        </p:grpSp>
        <p:sp>
          <p:nvSpPr>
            <p:cNvPr id="17805" name="TextBox 17804">
              <a:extLst>
                <a:ext uri="{FF2B5EF4-FFF2-40B4-BE49-F238E27FC236}">
                  <a16:creationId xmlns:a16="http://schemas.microsoft.com/office/drawing/2014/main" id="{0A34CDC4-8695-6044-ABEA-44C351AE433B}"/>
                </a:ext>
              </a:extLst>
            </p:cNvPr>
            <p:cNvSpPr txBox="1"/>
            <p:nvPr/>
          </p:nvSpPr>
          <p:spPr>
            <a:xfrm>
              <a:off x="9508422" y="4947015"/>
              <a:ext cx="1802123" cy="194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047857"/>
                  </a:solidFill>
                  <a:latin typeface="STIX Two Text"/>
                </a:rPr>
                <a:t>Emergency Dispatch</a:t>
              </a:r>
            </a:p>
          </p:txBody>
        </p:sp>
        <p:sp>
          <p:nvSpPr>
            <p:cNvPr id="17806" name="TextBox 17805">
              <a:extLst>
                <a:ext uri="{FF2B5EF4-FFF2-40B4-BE49-F238E27FC236}">
                  <a16:creationId xmlns:a16="http://schemas.microsoft.com/office/drawing/2014/main" id="{E71DE80B-00BC-A783-B3BC-4E056F64F183}"/>
                </a:ext>
              </a:extLst>
            </p:cNvPr>
            <p:cNvSpPr txBox="1"/>
            <p:nvPr/>
          </p:nvSpPr>
          <p:spPr>
            <a:xfrm>
              <a:off x="9508422" y="4073670"/>
              <a:ext cx="1188355" cy="1940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047857"/>
                  </a:solidFill>
                  <a:latin typeface="STIX Two Text"/>
                </a:rPr>
                <a:t>Welfare Fund</a:t>
              </a:r>
            </a:p>
          </p:txBody>
        </p:sp>
      </p:grpSp>
      <p:graphicFrame>
        <p:nvGraphicFramePr>
          <p:cNvPr id="17810" name="Diagram 17809">
            <a:extLst>
              <a:ext uri="{FF2B5EF4-FFF2-40B4-BE49-F238E27FC236}">
                <a16:creationId xmlns:a16="http://schemas.microsoft.com/office/drawing/2014/main" id="{14170EF7-1E3F-AF67-BC40-137BBEE70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061629"/>
              </p:ext>
            </p:extLst>
          </p:nvPr>
        </p:nvGraphicFramePr>
        <p:xfrm>
          <a:off x="6832213" y="4006835"/>
          <a:ext cx="5112861" cy="269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4426"/>
            <a:ext cx="1251857" cy="65232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 err="1"/>
              <a:t>BugSquad</a:t>
            </a:r>
            <a:endParaRPr lang="en-IN" sz="13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BCFE4F-B57F-E3E8-77AC-4D9C4668F6C0}"/>
              </a:ext>
            </a:extLst>
          </p:cNvPr>
          <p:cNvSpPr/>
          <p:nvPr/>
        </p:nvSpPr>
        <p:spPr>
          <a:xfrm>
            <a:off x="204475" y="1019976"/>
            <a:ext cx="2912351" cy="1570172"/>
          </a:xfrm>
          <a:prstGeom prst="round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B34FF-D373-FDD6-A55A-5287D9F811EF}"/>
              </a:ext>
            </a:extLst>
          </p:cNvPr>
          <p:cNvSpPr txBox="1"/>
          <p:nvPr/>
        </p:nvSpPr>
        <p:spPr>
          <a:xfrm>
            <a:off x="160266" y="1604008"/>
            <a:ext cx="2956560" cy="94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lang="en-US" sz="1100" b="1" dirty="0"/>
              <a:t>NITI Aayog (2022) — India’s Booming Gig and Platform Economy</a:t>
            </a:r>
            <a:br>
              <a:rPr lang="en-US" sz="1100" dirty="0"/>
            </a:br>
            <a:r>
              <a:rPr lang="en-US" sz="1000" i="1" dirty="0"/>
              <a:t>7.7M gig workers → 23.5M projected by 2029–30</a:t>
            </a:r>
            <a:br>
              <a:rPr lang="en-US" sz="1000" i="1" dirty="0"/>
            </a:br>
            <a:r>
              <a:rPr lang="en-US" sz="1000" i="1" dirty="0">
                <a:hlinkClick r:id="rId4"/>
              </a:rPr>
              <a:t>LINK</a:t>
            </a:r>
            <a:endParaRPr lang="en-US" sz="1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B92490-4C68-09AC-A37A-2063DA3364DC}"/>
              </a:ext>
            </a:extLst>
          </p:cNvPr>
          <p:cNvSpPr/>
          <p:nvPr/>
        </p:nvSpPr>
        <p:spPr>
          <a:xfrm>
            <a:off x="3249561" y="1061267"/>
            <a:ext cx="2649625" cy="1570172"/>
          </a:xfrm>
          <a:prstGeom prst="round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D90F5C-9BDA-6207-4AC2-2B8030583BE0}"/>
              </a:ext>
            </a:extLst>
          </p:cNvPr>
          <p:cNvSpPr/>
          <p:nvPr/>
        </p:nvSpPr>
        <p:spPr>
          <a:xfrm>
            <a:off x="6027662" y="1061266"/>
            <a:ext cx="2835950" cy="1570173"/>
          </a:xfrm>
          <a:prstGeom prst="round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AFB54E-2C86-EFE2-00CB-7E14D0C150B2}"/>
              </a:ext>
            </a:extLst>
          </p:cNvPr>
          <p:cNvSpPr/>
          <p:nvPr/>
        </p:nvSpPr>
        <p:spPr>
          <a:xfrm>
            <a:off x="8992089" y="1061264"/>
            <a:ext cx="2901438" cy="1570175"/>
          </a:xfrm>
          <a:prstGeom prst="roundRect">
            <a:avLst/>
          </a:prstGeom>
          <a:solidFill>
            <a:srgbClr val="C4F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D40B7-B49F-E46F-2F9A-A2D697396A3D}"/>
              </a:ext>
            </a:extLst>
          </p:cNvPr>
          <p:cNvSpPr txBox="1"/>
          <p:nvPr/>
        </p:nvSpPr>
        <p:spPr>
          <a:xfrm>
            <a:off x="3115311" y="1663371"/>
            <a:ext cx="28937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Ministry of Cooperation — National Cooperative Database</a:t>
            </a:r>
            <a:br>
              <a:rPr lang="en-US" sz="1100" dirty="0"/>
            </a:br>
            <a:r>
              <a:rPr lang="en-US" sz="1000" i="1" dirty="0"/>
              <a:t>8.5 lakh cooperatives mapped through a unified digital database</a:t>
            </a:r>
            <a:br>
              <a:rPr lang="en-US" sz="1000" i="1" dirty="0"/>
            </a:br>
            <a:r>
              <a:rPr lang="en-US" sz="1000" i="1" dirty="0">
                <a:hlinkClick r:id="rId5"/>
              </a:rPr>
              <a:t>LINK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C2B22-AED7-A55E-B1D5-69705D56827A}"/>
              </a:ext>
            </a:extLst>
          </p:cNvPr>
          <p:cNvSpPr txBox="1"/>
          <p:nvPr/>
        </p:nvSpPr>
        <p:spPr>
          <a:xfrm>
            <a:off x="6009027" y="1748009"/>
            <a:ext cx="277761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Ministry of </a:t>
            </a:r>
            <a:r>
              <a:rPr lang="en-US" sz="1100" b="1" dirty="0" err="1"/>
              <a:t>Labour</a:t>
            </a:r>
            <a:r>
              <a:rPr lang="en-US" sz="1100" b="1" dirty="0"/>
              <a:t> &amp; Employment</a:t>
            </a:r>
            <a:br>
              <a:rPr lang="en-US" sz="1000" dirty="0"/>
            </a:br>
            <a:r>
              <a:rPr lang="en-US" sz="1000" i="1" dirty="0"/>
              <a:t>Supports the need for structured social-security and welfare mechanisms for platform workers</a:t>
            </a:r>
            <a:br>
              <a:rPr lang="en-US" sz="1000" i="1" dirty="0"/>
            </a:br>
            <a:r>
              <a:rPr lang="en-US" sz="1000" i="1" dirty="0">
                <a:hlinkClick r:id="rId6"/>
              </a:rPr>
              <a:t>LINK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26D6B-6C09-73AF-59F7-91433DBE81D2}"/>
              </a:ext>
            </a:extLst>
          </p:cNvPr>
          <p:cNvSpPr txBox="1"/>
          <p:nvPr/>
        </p:nvSpPr>
        <p:spPr>
          <a:xfrm>
            <a:off x="8992089" y="1524872"/>
            <a:ext cx="290143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National Cooperative Union of India</a:t>
            </a:r>
            <a:br>
              <a:rPr lang="en-US" sz="1100" dirty="0"/>
            </a:br>
            <a:r>
              <a:rPr lang="en-US" sz="1000" dirty="0"/>
              <a:t>It publishes the </a:t>
            </a:r>
            <a:r>
              <a:rPr lang="en-US" sz="1000" i="1" dirty="0"/>
              <a:t>Indian Cooperative Review</a:t>
            </a:r>
            <a:r>
              <a:rPr lang="en-US" sz="1000" dirty="0"/>
              <a:t>, a peer-reviewed quarterly containing research articles and case studies on India's cooperative movement, and maintains cooperative statistical resources.</a:t>
            </a:r>
            <a:br>
              <a:rPr lang="en-US" sz="1000" i="1" dirty="0"/>
            </a:br>
            <a:r>
              <a:rPr lang="en-US" sz="1000" i="1" dirty="0">
                <a:hlinkClick r:id="rId7"/>
              </a:rPr>
              <a:t>LINK</a:t>
            </a:r>
            <a:endParaRPr lang="en-US" sz="1000" dirty="0"/>
          </a:p>
        </p:txBody>
      </p:sp>
      <p:pic>
        <p:nvPicPr>
          <p:cNvPr id="15" name="Picture 14" descr="NCUI">
            <a:extLst>
              <a:ext uri="{FF2B5EF4-FFF2-40B4-BE49-F238E27FC236}">
                <a16:creationId xmlns:a16="http://schemas.microsoft.com/office/drawing/2014/main" id="{3FD0FF3D-4FAC-31B9-0A5A-35A6EE53A9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014" y="1247748"/>
            <a:ext cx="2064280" cy="3179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DD2A4A-D75D-8FC6-E7A7-10418897E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3509" y="1193063"/>
            <a:ext cx="1466317" cy="4042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854B63-984F-5491-8A96-C7D75193F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1342" y="1193063"/>
            <a:ext cx="1498925" cy="3726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A6876F-A3FA-B93C-6F42-373F39452E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234" y="1110085"/>
            <a:ext cx="1426740" cy="4755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A643F8C-19D6-6821-9214-3CA54AB791D0}"/>
              </a:ext>
            </a:extLst>
          </p:cNvPr>
          <p:cNvSpPr/>
          <p:nvPr/>
        </p:nvSpPr>
        <p:spPr>
          <a:xfrm>
            <a:off x="0" y="2674787"/>
            <a:ext cx="12192000" cy="4181714"/>
          </a:xfrm>
          <a:prstGeom prst="rect">
            <a:avLst/>
          </a:prstGeom>
          <a:solidFill>
            <a:srgbClr val="14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4C6CFA-E73B-FE57-627C-76C86B3C8E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10" y="2706325"/>
            <a:ext cx="2146615" cy="412776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1BC4DF0-58F6-CD99-203D-4A2E8625B65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363" t="6793" r="7894" b="1608"/>
          <a:stretch>
            <a:fillRect/>
          </a:stretch>
        </p:blipFill>
        <p:spPr>
          <a:xfrm>
            <a:off x="8321901" y="4673081"/>
            <a:ext cx="3331728" cy="215805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4E8781E-15D2-701C-00AA-4362EEB1AB2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404" r="7472"/>
          <a:stretch>
            <a:fillRect/>
          </a:stretch>
        </p:blipFill>
        <p:spPr>
          <a:xfrm>
            <a:off x="5093396" y="2695107"/>
            <a:ext cx="3972240" cy="19030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611A58-1214-6878-DCBA-B72026EB1CE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7824" r="7802"/>
          <a:stretch>
            <a:fillRect/>
          </a:stretch>
        </p:blipFill>
        <p:spPr>
          <a:xfrm>
            <a:off x="2204235" y="2690802"/>
            <a:ext cx="2860351" cy="369563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D7D5676-6E43-ED8C-136F-DACFC9D875E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5453" r="5459"/>
          <a:stretch>
            <a:fillRect/>
          </a:stretch>
        </p:blipFill>
        <p:spPr>
          <a:xfrm>
            <a:off x="5173747" y="4616834"/>
            <a:ext cx="3079524" cy="223966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81EFF36-6E6F-A2C1-4CCE-F0ED93AD58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8361" y="2690802"/>
            <a:ext cx="2785166" cy="196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SIH2026-IDEA-Presentation-Format</Template>
  <TotalTime>194</TotalTime>
  <Words>1113</Words>
  <Application>Microsoft Office PowerPoint</Application>
  <PresentationFormat>Widescreen</PresentationFormat>
  <Paragraphs>114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Roboto</vt:lpstr>
      <vt:lpstr>STIX Two Text</vt:lpstr>
      <vt:lpstr>Times New Roman</vt:lpstr>
      <vt:lpstr>TradeGothic</vt:lpstr>
      <vt:lpstr>Office Theme</vt:lpstr>
      <vt:lpstr>SMART INDIA HACKATHON 2026</vt:lpstr>
      <vt:lpstr>SAHYOG</vt:lpstr>
      <vt:lpstr>TECHNICAL APPROACH</vt:lpstr>
      <vt:lpstr>FEASIBILITY AND VIABILITY</vt:lpstr>
      <vt:lpstr>IMPACT AND BENEFITS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Sagnik Dutta</dc:creator>
  <cp:keywords/>
  <dc:description/>
  <cp:lastModifiedBy>Sagnik Dutta</cp:lastModifiedBy>
  <cp:revision>3</cp:revision>
  <dcterms:created xsi:type="dcterms:W3CDTF">2026-09-11T14:00:40Z</dcterms:created>
  <dcterms:modified xsi:type="dcterms:W3CDTF">2026-09-12T11:34:17Z</dcterms:modified>
  <cp:category/>
</cp:coreProperties>
</file>